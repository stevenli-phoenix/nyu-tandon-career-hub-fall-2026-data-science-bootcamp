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Lst>
  <p:notesMasterIdLst>
    <p:notesMasterId r:id="rId7"/>
  </p:notesMasterIdLst>
  <p:sldIdLst>
    <p:sldId id="256" r:id="rId8"/>
    <p:sldId id="257" r:id="rId9"/>
    <p:sldId id="258" r:id="rId10"/>
    <p:sldId id="259" r:id="rId11"/>
    <p:sldId id="260" r:id="rId12"/>
    <p:sldId id="267" r:id="rId26"/>
    <p:sldId id="263" r:id="rId15"/>
    <p:sldId id="261" r:id="rId13"/>
    <p:sldId id="262" r:id="rId14"/>
    <p:sldId id="264" r:id="rId16"/>
    <p:sldId id="266" r:id="rId25"/>
    <p:sldId id="265" r:id="rId17"/>
  </p:sldIdLst>
  <p:sldSz cy="5143500" cx="9144000"/>
  <p:notesSz cx="6858000" cy="9144000"/>
  <p:embeddedFontLst>
    <p:embeddedFont>
      <p:font typeface="Inter"/>
      <p:regular r:id="rId18"/>
      <p:bold r:id="rId19"/>
      <p:italic r:id="rId20"/>
      <p:boldItalic r:id="rId21"/>
    </p:embeddedFont>
    <p:embeddedFont>
      <p:font typeface="Space Grotesk"/>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4" roundtripDataSignature="AMtx7mgGskNizBXekm8Aofbtw+HdJgL4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7.xml"/><Relationship Id="rId16" Type="http://schemas.openxmlformats.org/officeDocument/2006/relationships/slide" Target="slides/slide10.xml"/><Relationship Id="rId17" Type="http://schemas.openxmlformats.org/officeDocument/2006/relationships/slide" Target="slides/slide12.xml"/><Relationship Id="rId18" Type="http://schemas.openxmlformats.org/officeDocument/2006/relationships/font" Target="fonts/Inter-regular.fntdata"/><Relationship Id="rId19" Type="http://schemas.openxmlformats.org/officeDocument/2006/relationships/font" Target="fonts/Inter-bold.fntdata"/><Relationship Id="rId20" Type="http://schemas.openxmlformats.org/officeDocument/2006/relationships/font" Target="fonts/Inter-italic.fntdata"/><Relationship Id="rId21" Type="http://schemas.openxmlformats.org/officeDocument/2006/relationships/font" Target="fonts/Inter-boldItalic.fntdata"/><Relationship Id="rId22" Type="http://schemas.openxmlformats.org/officeDocument/2006/relationships/font" Target="fonts/SpaceGrotesk-regular.fntdata"/><Relationship Id="rId23" Type="http://schemas.openxmlformats.org/officeDocument/2006/relationships/font" Target="fonts/SpaceGrotesk-bold.fntdata"/><Relationship Id="rId24" Type="http://customschemas.google.com/relationships/presentationmetadata" Target="metadata"/><Relationship Id="rId25" Type="http://schemas.openxmlformats.org/officeDocument/2006/relationships/slide" Target="slides/slide11.xml"/><Relationship Id="rId26"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D1B24"/>
                </a:solidFill>
                <a:latin typeface="Inter"/>
              </a:rPr>
              <a:t>Discoveries per year (2026 in orange)</a:t>
            </a:r>
          </a:p>
        </c:rich>
      </c:tx>
      <c:layout/>
      <c:overlay val="0"/>
    </c:title>
    <c:autoTitleDeleted val="0"/>
    <c:plotArea>
      <c:barChart>
        <c:barDir val="col"/>
        <c:grouping val="clustered"/>
        <c:ser>
          <c:idx val="0"/>
          <c:order val="0"/>
          <c:tx>
            <c:strRef>
              <c:f>Sheet1!$B$1</c:f>
              <c:strCache>
                <c:ptCount val="1"/>
                <c:pt idx="0">
                  <c:v>Planets discovered</c:v>
                </c:pt>
              </c:strCache>
            </c:strRef>
          </c:tx>
          <c:spPr>
            <a:solidFill>
              <a:srgbClr val="5A2D8C"/>
            </a:solidFill>
          </c:spPr>
          <c:dPt>
            <c:idx val="34"/>
            <c:spPr>
              <a:solidFill>
                <a:srgbClr val="E8A93A"/>
              </a:solidFill>
            </c:spPr>
          </c:dPt>
          <c:cat>
            <c:strRef>
              <c:f>Sheet1!$A$2:$A$36</c:f>
              <c:strCache>
                <c:ptCount val="35"/>
                <c:pt idx="0">
                  <c:v>1992</c:v>
                </c:pt>
                <c:pt idx="1">
                  <c:v>1993</c:v>
                </c:pt>
                <c:pt idx="2">
                  <c:v>1994</c:v>
                </c:pt>
                <c:pt idx="3">
                  <c:v>1995</c:v>
                </c:pt>
                <c:pt idx="4">
                  <c:v>1996</c:v>
                </c:pt>
                <c:pt idx="5">
                  <c:v>1997</c:v>
                </c:pt>
                <c:pt idx="6">
                  <c:v>1998</c:v>
                </c:pt>
                <c:pt idx="7">
                  <c:v>1999</c:v>
                </c:pt>
                <c:pt idx="8">
                  <c:v>2000</c:v>
                </c:pt>
                <c:pt idx="9">
                  <c:v>2001</c:v>
                </c:pt>
                <c:pt idx="10">
                  <c:v>2002</c:v>
                </c:pt>
                <c:pt idx="11">
                  <c:v>2003</c:v>
                </c:pt>
                <c:pt idx="12">
                  <c:v>2004</c:v>
                </c:pt>
                <c:pt idx="13">
                  <c:v>2005</c:v>
                </c:pt>
                <c:pt idx="14">
                  <c:v>2006</c:v>
                </c:pt>
                <c:pt idx="15">
                  <c:v>2007</c:v>
                </c:pt>
                <c:pt idx="16">
                  <c:v>2008</c:v>
                </c:pt>
                <c:pt idx="17">
                  <c:v>2009</c:v>
                </c:pt>
                <c:pt idx="18">
                  <c:v>2010</c:v>
                </c:pt>
                <c:pt idx="19">
                  <c:v>2011</c:v>
                </c:pt>
                <c:pt idx="20">
                  <c:v>2012</c:v>
                </c:pt>
                <c:pt idx="21">
                  <c:v>2013</c:v>
                </c:pt>
                <c:pt idx="22">
                  <c:v>2014</c:v>
                </c:pt>
                <c:pt idx="23">
                  <c:v>2015</c:v>
                </c:pt>
                <c:pt idx="24">
                  <c:v>2016</c:v>
                </c:pt>
                <c:pt idx="25">
                  <c:v>2017</c:v>
                </c:pt>
                <c:pt idx="26">
                  <c:v>2018</c:v>
                </c:pt>
                <c:pt idx="27">
                  <c:v>2019</c:v>
                </c:pt>
                <c:pt idx="28">
                  <c:v>2020</c:v>
                </c:pt>
                <c:pt idx="29">
                  <c:v>2021</c:v>
                </c:pt>
                <c:pt idx="30">
                  <c:v>2022</c:v>
                </c:pt>
                <c:pt idx="31">
                  <c:v>2023</c:v>
                </c:pt>
                <c:pt idx="32">
                  <c:v>2024</c:v>
                </c:pt>
                <c:pt idx="33">
                  <c:v>2025</c:v>
                </c:pt>
                <c:pt idx="34">
                  <c:v>2026</c:v>
                </c:pt>
              </c:strCache>
            </c:strRef>
          </c:cat>
          <c:val>
            <c:numRef>
              <c:f>Sheet1!$B$2:$B$36</c:f>
              <c:numCache>
                <c:formatCode>General</c:formatCode>
                <c:ptCount val="35"/>
                <c:pt idx="0">
                  <c:v>2</c:v>
                </c:pt>
                <c:pt idx="1">
                  <c:v>0</c:v>
                </c:pt>
                <c:pt idx="2">
                  <c:v>1</c:v>
                </c:pt>
                <c:pt idx="3">
                  <c:v>1</c:v>
                </c:pt>
                <c:pt idx="4">
                  <c:v>6</c:v>
                </c:pt>
                <c:pt idx="5">
                  <c:v>1</c:v>
                </c:pt>
                <c:pt idx="6">
                  <c:v>6</c:v>
                </c:pt>
                <c:pt idx="7">
                  <c:v>13</c:v>
                </c:pt>
                <c:pt idx="8">
                  <c:v>16</c:v>
                </c:pt>
                <c:pt idx="9">
                  <c:v>12</c:v>
                </c:pt>
                <c:pt idx="10">
                  <c:v>29</c:v>
                </c:pt>
                <c:pt idx="11">
                  <c:v>22</c:v>
                </c:pt>
                <c:pt idx="12">
                  <c:v>27</c:v>
                </c:pt>
                <c:pt idx="13">
                  <c:v>36</c:v>
                </c:pt>
                <c:pt idx="14">
                  <c:v>32</c:v>
                </c:pt>
                <c:pt idx="15">
                  <c:v>52</c:v>
                </c:pt>
                <c:pt idx="16">
                  <c:v>63</c:v>
                </c:pt>
                <c:pt idx="17">
                  <c:v>91</c:v>
                </c:pt>
                <c:pt idx="18">
                  <c:v>97</c:v>
                </c:pt>
                <c:pt idx="19">
                  <c:v>135</c:v>
                </c:pt>
                <c:pt idx="20">
                  <c:v>139</c:v>
                </c:pt>
                <c:pt idx="21">
                  <c:v>128</c:v>
                </c:pt>
                <c:pt idx="22">
                  <c:v>869</c:v>
                </c:pt>
                <c:pt idx="23">
                  <c:v>155</c:v>
                </c:pt>
                <c:pt idx="24">
                  <c:v>1496</c:v>
                </c:pt>
                <c:pt idx="25">
                  <c:v>151</c:v>
                </c:pt>
                <c:pt idx="26">
                  <c:v>315</c:v>
                </c:pt>
                <c:pt idx="27">
                  <c:v>196</c:v>
                </c:pt>
                <c:pt idx="28">
                  <c:v>234</c:v>
                </c:pt>
                <c:pt idx="29">
                  <c:v>564</c:v>
                </c:pt>
                <c:pt idx="30">
                  <c:v>369</c:v>
                </c:pt>
                <c:pt idx="31">
                  <c:v>323</c:v>
                </c:pt>
                <c:pt idx="32">
                  <c:v>259</c:v>
                </c:pt>
                <c:pt idx="33">
                  <c:v>245</c:v>
                </c:pt>
                <c:pt idx="34">
                  <c:v>192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DDD8E3"/>
            </a:solidFill>
          </a:ln>
        </c:spPr>
        <c:txPr>
          <a:bodyPr/>
          <a:lstStyle/>
          <a:p>
            <a:pPr>
              <a:defRPr sz="900">
                <a:solidFill>
                  <a:srgbClr val="625D6E"/>
                </a:solidFill>
                <a:latin typeface="Inter"/>
              </a:defRPr>
            </a:pPr>
          </a:p>
        </c:txPr>
        <c:crossAx val="-2113994440"/>
        <c:crosses val="autoZero"/>
        <c:auto val="1"/>
        <c:lblAlgn val="ctr"/>
        <c:lblOffset val="100"/>
        <c:tickLblSkip val="4"/>
        <c:noMultiLvlLbl val="0"/>
      </c:catAx>
      <c:valAx>
        <c:axId val="-2113994440"/>
        <c:scaling/>
        <c:delete val="0"/>
        <c:axPos val="l"/>
        <c:majorGridlines>
          <c:spPr>
            <a:ln>
              <a:solidFill>
                <a:srgbClr val="ECE8F0"/>
              </a:solidFill>
            </a:ln>
          </c:spPr>
        </c:majorGridlines>
        <c:majorTickMark val="out"/>
        <c:minorTickMark val="none"/>
        <c:tickLblPos val="nextTo"/>
        <c:spPr>
          <a:ln>
            <a:solidFill>
              <a:srgbClr val="DDD8E3"/>
            </a:solidFill>
          </a:ln>
        </c:spPr>
        <c:txPr>
          <a:bodyPr/>
          <a:lstStyle/>
          <a:p>
            <a:pPr>
              <a:defRPr sz="900">
                <a:solidFill>
                  <a:srgbClr val="625D6E"/>
                </a:solidFill>
                <a:latin typeface="Inter"/>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Welcome to Week 3. Last week we learned the pandas tools; today we use them to explore a real dataset from start to finish: every planet found outside our Solar System. Today is hands-on: you will predict, write the code and post your answers in the Zoom chat.</a:t>
            </a:r>
          </a:p>
        </p:txBody>
      </p:sp>
      <p:sp>
        <p:nvSpPr>
          <p:cNvPr id="57" name="Google Shape;57;p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Quick reminder: log in to Zoom with your NYU SSO so attendance counts. Slides and the Colab notebook are on GitHub; the take-home is submitted on Brightspace.</a:t>
            </a:r>
          </a:p>
        </p:txBody>
      </p:sp>
      <p:sp>
        <p:nvSpPr>
          <p:cNvPr id="69" name="Google Shape;69;p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r>
              <a:t>EDA is the first thing a data scientist does with any new dataset: what is in it, can we trust it, and what patterns does it hold. Everything after today, from SQL to machine learning, starts with this step.</a:t>
            </a:r>
          </a:p>
        </p:txBody>
      </p:sp>
      <p:sp>
        <p:nvSpPr>
          <p:cNvPr id="92" name="Google Shape;92;p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Our dataset: every confirmed exoplanet in NASA's Exoplanet Archive, as a classroom snapshot from ModernDive. One row per planet, 28 columns. The chart shows discoveries per year: the two tall bars, 2014 and 2016, are years when the Kepler telescope team confirmed planets in large batches. The orange bar is 2026 so far.</a:t>
            </a:r>
          </a:p>
        </p:txBody>
      </p:sp>
      <p:sp>
        <p:nvSpPr>
          <p:cNvPr id="101" name="Google Shape;101;p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r>
              <a:t>Every question today works the same way. Predict: post a guess in the chat before running. Your turn: write the code in the empty cell and post your answer in the chat. Hints and answers are hidden in collapsible tags. Insights stay hidden until you have posted your own.</a:t>
            </a:r>
          </a:p>
        </p:txBody>
      </p:sp>
      <p:sp>
        <p:nvSpPr>
          <p:cNvPr id="113" name="Google Shape;113;p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Data Story 1. Only imaging takes a picture of a planet; everything else is inferred from the star. So gaps are not random: temperature is missing for 5% of transit planets but 98% of microlensing planets, which sit far from their star and are cold. Filling them with the overall median (823 K) would make them far too hot, so we flag the gaps. Then the twist: radial velocity and microlensing radii sit on a perfect line because a formula filled them 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Section 4. Ask for a guess of the median year first. On a normal scale one planet with a 402-million-day year squashes the histogram into one bar; the log scale counts in jumps of 10 and shows one clear peak at a few days. The little grid is that log histogram, built from the real counts. Then the box plot: why is the radial velocity box squashed at the top? Back to Data Story 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Section 2. Same tools as Week 2, new data. Ask the class to predict the shape first. The year column comes in as a decimal because one planet has no year: a single NaN turns the whole column into floats. describe() already hints at the story of the day: the mean orbital period is 72,082 days, the median under 11.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Data Story 2. Before 1995 astronomers expected giant planets to orbit far from their stars, like Jupiter. Then 51 Pegasi b: a giant with a 4-day year, and a Nobel Prize in 2019. The scatter shows shorter orbits mean hotter planets (r = -0.68). 739 hot Jupiters, median 1,460 K; the hottest, KELT-9 b, reaches 4,050 K. The heat map shows which columns repeat each other (period and orbit size, 0.99).</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Take-home: Exercises 1 to 4 at the end of each section of the notebook, due on Brightspace within one week. Please fill out the feedback form. Next week: SQL fundamentals.</a:t>
            </a:r>
          </a:p>
        </p:txBody>
      </p:sp>
      <p:sp>
        <p:nvSpPr>
          <p:cNvPr id="325" name="Google Shape;325;p1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notebook follows the EDA workflow: first what is in the data, then whether we can trust it, then one column at a time, then two columns at a time, and finally what we learned. Two Data Stories run through it.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Wrap-up. Ask: which insight surprised you most? One sentence in the chat. Each insight is short and backed by a number. Limitation: this is not a random sample of the galaxy, so counts tell us what is detectable, not what is common.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8" name="Shape 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 name="Google Shape;41;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9D3E4"/>
            </a:gs>
            <a:gs pos="100000">
              <a:srgbClr val="F7EAD2"/>
            </a:gs>
          </a:gsLst>
          <a:path path="circle">
            <a:fillToRect b="0%" l="0%" r="100%" t="100%"/>
          </a:path>
          <a:tileRect b="-100%" l="-100%" r="0%" t="0%"/>
        </a:gra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9D3E4"/>
            </a:gs>
            <a:gs pos="100000">
              <a:srgbClr val="F7EAD2"/>
            </a:gs>
          </a:gsLst>
          <a:path path="circle">
            <a:fillToRect b="0%" l="0%" r="100%" t="100%"/>
          </a:path>
          <a:tileRect b="-100%" l="-100%" r="0%" t="0%"/>
        </a:gradFill>
      </p:bgPr>
    </p:bg>
    <p:spTree>
      <p:nvGrpSpPr>
        <p:cNvPr id="7" name="Shape 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D9D3E4"/>
            </a:gs>
            <a:gs pos="100000">
              <a:srgbClr val="F7EAD2"/>
            </a:gs>
          </a:gsLst>
          <a:path path="circle">
            <a:fillToRect b="0%" l="0%" r="100%" t="100%"/>
          </a:path>
          <a:tileRect b="-100%" l="-100%" r="0%" t="0%"/>
        </a:gra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9pPr>
          </a:lstStyle>
          <a:p/>
        </p:txBody>
      </p:sp>
      <p:sp>
        <p:nvSpPr>
          <p:cNvPr id="11" name="Google Shape;11;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pc="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9pPr>
          </a:lstStyle>
          <a:p/>
        </p:txBody>
      </p:sp>
      <p:sp>
        <p:nvSpPr>
          <p:cNvPr id="12" name="Google Shape;12;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nyu.zoom.us" TargetMode="External"/><Relationship Id="rId4" Type="http://schemas.openxmlformats.org/officeDocument/2006/relationships/hyperlink" Target="https://brightspace.nyu.edu/d2l/home" TargetMode="External"/><Relationship Id="rId5" Type="http://schemas.openxmlformats.org/officeDocument/2006/relationships/hyperlink" Target="https://github.com/angelin-jacob/NYU-Tandon-Career-Hub-Fall-2026-Data-Science-Bootcamp" TargetMode="External"/><Relationship Id="rId6" Type="http://schemas.openxmlformats.org/officeDocument/2006/relationships/hyperlink" Target="mailto:datasciencebootcamp@nyu.edu" TargetMode="External"/><Relationship Id="rId7" Type="http://schemas.openxmlformats.org/officeDocument/2006/relationships/hyperlink" Target="https://nyu.joinhandshake.com/stu/appointmen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exoplanetarchive.ipac.caltech.edu" TargetMode="External"/><Relationship Id="rId6" Type="http://schemas.openxmlformats.org/officeDocument/2006/relationships/hyperlink" Target="https://github.com/moderndive/exoplanetdata" TargetMode="External"/><Relationship Id="rId7"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58" name="Shape 58"/>
        <p:cNvGrpSpPr/>
        <p:nvPr/>
      </p:nvGrpSpPr>
      <p:grpSpPr>
        <a:xfrm>
          <a:off x="0" y="0"/>
          <a:ext cx="0" cy="0"/>
          <a:chOff x="0" y="0"/>
          <a:chExt cx="0" cy="0"/>
        </a:xfrm>
      </p:grpSpPr>
      <p:sp>
        <p:nvSpPr>
          <p:cNvPr id="59" name="Google Shape;59;p1"/>
          <p:cNvSpPr/>
          <p:nvPr/>
        </p:nvSpPr>
        <p:spPr>
          <a:xfrm>
            <a:off x="609594" y="1680953"/>
            <a:ext cx="2920800" cy="291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A93A"/>
              </a:buClr>
              <a:buSzPts val="1100"/>
              <a:buFont typeface="Inter"/>
              <a:buNone/>
            </a:pPr>
            <a:r>
              <a:rPr b="1" i="0" lang="en" spc="0" sz="1100" u="none" cap="none" strike="noStrike">
                <a:solidFill>
                  <a:srgbClr val="5A2D8C"/>
                </a:solidFill>
                <a:latin typeface="Inter"/>
                <a:ea typeface="Inter"/>
                <a:cs typeface="Inter"/>
                <a:sym typeface="Inter"/>
              </a:rPr>
              <a:t>NYU TANDON CAREER HUB · FALL 2026</a:t>
            </a:r>
            <a:endParaRPr b="0" i="0" spc="0" sz="1100" u="none" cap="none" strike="noStrike">
              <a:solidFill>
                <a:srgbClr val="5A2D8C"/>
              </a:solidFill>
              <a:latin typeface="Calibri"/>
              <a:ea typeface="Calibri"/>
              <a:cs typeface="Calibri"/>
              <a:sym typeface="Calibri"/>
            </a:endParaRPr>
          </a:p>
        </p:txBody>
      </p:sp>
      <p:sp>
        <p:nvSpPr>
          <p:cNvPr id="60" name="Google Shape;60;p1"/>
          <p:cNvSpPr/>
          <p:nvPr/>
        </p:nvSpPr>
        <p:spPr>
          <a:xfrm>
            <a:off x="609591" y="2039364"/>
            <a:ext cx="7358062" cy="65910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6F4EF"/>
              </a:buClr>
              <a:buSzPts val="4800"/>
              <a:buFont typeface="Space Grotesk"/>
              <a:buNone/>
            </a:pPr>
            <a:r>
              <a:rPr b="1" i="0" lang="en" spc="0" sz="4800" u="none" cap="none" strike="noStrike">
                <a:solidFill>
                  <a:srgbClr val="351C75"/>
                </a:solidFill>
                <a:latin typeface="Space Grotesk"/>
                <a:ea typeface="Space Grotesk"/>
                <a:cs typeface="Space Grotesk"/>
                <a:sym typeface="Space Grotesk"/>
              </a:rPr>
              <a:t>Data Science Bootcamp</a:t>
            </a:r>
            <a:endParaRPr b="0" i="0" spc="0" sz="4800" u="none" cap="none" strike="noStrike">
              <a:solidFill>
                <a:srgbClr val="351C75"/>
              </a:solidFill>
              <a:latin typeface="Calibri"/>
              <a:ea typeface="Calibri"/>
              <a:cs typeface="Calibri"/>
              <a:sym typeface="Calibri"/>
            </a:endParaRPr>
          </a:p>
        </p:txBody>
      </p:sp>
      <p:sp>
        <p:nvSpPr>
          <p:cNvPr id="61" name="Google Shape;61;p1"/>
          <p:cNvSpPr/>
          <p:nvPr/>
        </p:nvSpPr>
        <p:spPr>
          <a:xfrm>
            <a:off x="609591" y="2831781"/>
            <a:ext cx="7863840" cy="29145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D3E4"/>
              </a:buClr>
              <a:buSzPts val="1700"/>
              <a:buFont typeface="Inter"/>
              <a:buNone/>
            </a:pPr>
            <a:r>
              <a:rPr b="0" i="0" lang="en" spc="0" sz="1700" u="none" cap="none" strike="noStrike">
                <a:solidFill>
                  <a:srgbClr val="20124D"/>
                </a:solidFill>
                <a:latin typeface="Inter"/>
                <a:ea typeface="Inter"/>
                <a:cs typeface="Inter"/>
                <a:sym typeface="Inter"/>
              </a:rPr>
              <a:t>Week 3 · Exploratory Data Analysis &amp; Data Visualization</a:t>
            </a:r>
            <a:endParaRPr b="0" i="0" spc="0" sz="1700" u="none" cap="none" strike="noStrike">
              <a:solidFill>
                <a:srgbClr val="20124D"/>
              </a:solidFill>
              <a:latin typeface="Calibri"/>
              <a:ea typeface="Calibri"/>
              <a:cs typeface="Calibri"/>
              <a:sym typeface="Calibri"/>
            </a:endParaRPr>
          </a:p>
        </p:txBody>
      </p:sp>
      <p:sp>
        <p:nvSpPr>
          <p:cNvPr id="62" name="Google Shape;62;p1"/>
          <p:cNvSpPr/>
          <p:nvPr/>
        </p:nvSpPr>
        <p:spPr>
          <a:xfrm>
            <a:off x="609604" y="4347275"/>
            <a:ext cx="24246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B2C4"/>
              </a:buClr>
              <a:buSzPts val="1100"/>
              <a:buFont typeface="Inter"/>
              <a:buNone/>
            </a:pPr>
            <a:r>
              <a:rPr b="0" i="0" lang="en" spc="0" sz="1100" u="none" cap="none" strike="noStrike">
                <a:solidFill>
                  <a:srgbClr val="1D1B24"/>
                </a:solidFill>
                <a:latin typeface="Inter"/>
                <a:ea typeface="Inter"/>
                <a:cs typeface="Inter"/>
                <a:sym typeface="Inter"/>
              </a:rPr>
              <a:t>Instructor: </a:t>
            </a:r>
            <a:r>
              <a:rPr b="1" i="0" lang="en" spc="0" sz="1100" u="none" cap="none" strike="noStrike">
                <a:solidFill>
                  <a:srgbClr val="1D1B24"/>
                </a:solidFill>
                <a:latin typeface="Inter"/>
                <a:ea typeface="Inter"/>
                <a:cs typeface="Inter"/>
                <a:sym typeface="Inter"/>
              </a:rPr>
              <a:t>Angelin Ann Jacob</a:t>
            </a:r>
            <a:endParaRPr b="0" i="0" spc="0" sz="1100" u="none" cap="none" strike="noStrike">
              <a:solidFill>
                <a:srgbClr val="1D1B24"/>
              </a:solidFill>
              <a:latin typeface="Calibri"/>
              <a:ea typeface="Calibri"/>
              <a:cs typeface="Calibri"/>
              <a:sym typeface="Calibri"/>
            </a:endParaRPr>
          </a:p>
        </p:txBody>
      </p:sp>
      <p:sp>
        <p:nvSpPr>
          <p:cNvPr id="63" name="Google Shape;63;p1"/>
          <p:cNvSpPr/>
          <p:nvPr/>
        </p:nvSpPr>
        <p:spPr>
          <a:xfrm>
            <a:off x="3407779" y="4347275"/>
            <a:ext cx="18693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B2C4"/>
              </a:buClr>
              <a:buSzPts val="1100"/>
              <a:buFont typeface="Inter"/>
              <a:buNone/>
            </a:pPr>
            <a:r>
              <a:rPr b="0" i="0" lang="en" spc="0" sz="1100" u="none" cap="none" strike="noStrike">
                <a:solidFill>
                  <a:srgbClr val="1D1B24"/>
                </a:solidFill>
                <a:latin typeface="Inter"/>
                <a:ea typeface="Inter"/>
                <a:cs typeface="Inter"/>
                <a:sym typeface="Inter"/>
              </a:rPr>
              <a:t>Section 1 · Tue Oct 13</a:t>
            </a:r>
            <a:endParaRPr b="0" i="0" spc="0" sz="1100" u="none" cap="none" strike="noStrike">
              <a:solidFill>
                <a:srgbClr val="1D1B24"/>
              </a:solidFill>
              <a:latin typeface="Calibri"/>
              <a:ea typeface="Calibri"/>
              <a:cs typeface="Calibri"/>
              <a:sym typeface="Calibri"/>
            </a:endParaRPr>
          </a:p>
        </p:txBody>
      </p:sp>
      <p:sp>
        <p:nvSpPr>
          <p:cNvPr id="64" name="Google Shape;64;p1"/>
          <p:cNvSpPr/>
          <p:nvPr/>
        </p:nvSpPr>
        <p:spPr>
          <a:xfrm>
            <a:off x="5665707" y="4347275"/>
            <a:ext cx="18456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B2C4"/>
              </a:buClr>
              <a:buSzPts val="1100"/>
              <a:buFont typeface="Inter"/>
              <a:buNone/>
            </a:pPr>
            <a:r>
              <a:rPr b="0" i="0" lang="en" spc="0" sz="1100" u="none" cap="none" strike="noStrike">
                <a:solidFill>
                  <a:srgbClr val="1D1B24"/>
                </a:solidFill>
                <a:latin typeface="Inter"/>
                <a:ea typeface="Inter"/>
                <a:cs typeface="Inter"/>
                <a:sym typeface="Inter"/>
              </a:rPr>
              <a:t>Section 2 · Thu Oct 15</a:t>
            </a:r>
            <a:endParaRPr b="0" i="0" spc="0" sz="1100" u="none" cap="none" strike="noStrike">
              <a:solidFill>
                <a:srgbClr val="1D1B24"/>
              </a:solidFill>
              <a:latin typeface="Calibri"/>
              <a:ea typeface="Calibri"/>
              <a:cs typeface="Calibri"/>
              <a:sym typeface="Calibri"/>
            </a:endParaRPr>
          </a:p>
        </p:txBody>
      </p:sp>
      <p:pic>
        <p:nvPicPr>
          <p:cNvPr id="65" name="Google Shape;65;p1" title="NYUTandon_LongLogo_Black.png"/>
          <p:cNvPicPr preferRelativeResize="0"/>
          <p:nvPr/>
        </p:nvPicPr>
        <p:blipFill rotWithShape="1">
          <a:blip r:embed="rId3">
            <a:alphaModFix/>
          </a:blip>
          <a:srcRect b="0" l="0" r="0" t="0"/>
          <a:stretch/>
        </p:blipFill>
        <p:spPr>
          <a:xfrm>
            <a:off x="118474" y="96475"/>
            <a:ext cx="1826033" cy="287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70" name="Shape 70"/>
        <p:cNvGrpSpPr/>
        <p:nvPr/>
      </p:nvGrpSpPr>
      <p:grpSpPr>
        <a:xfrm>
          <a:off x="0" y="0"/>
          <a:ext cx="0" cy="0"/>
          <a:chOff x="0" y="0"/>
          <a:chExt cx="0" cy="0"/>
        </a:xfrm>
      </p:grpSpPr>
      <p:sp>
        <p:nvSpPr>
          <p:cNvPr id="71" name="Google Shape;71;p2"/>
          <p:cNvSpPr/>
          <p:nvPr/>
        </p:nvSpPr>
        <p:spPr>
          <a:xfrm>
            <a:off x="609591" y="609591"/>
            <a:ext cx="8162564" cy="39623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1B24"/>
              </a:buClr>
              <a:buSzPts val="2700"/>
              <a:buFont typeface="Space Grotesk"/>
              <a:buNone/>
            </a:pPr>
            <a:r>
              <a:rPr b="1" i="0" lang="en" spc="0" sz="2700" u="none" cap="none" strike="noStrike">
                <a:solidFill>
                  <a:srgbClr val="1D1B24"/>
                </a:solidFill>
                <a:latin typeface="Space Grotesk"/>
                <a:ea typeface="Space Grotesk"/>
                <a:cs typeface="Space Grotesk"/>
                <a:sym typeface="Space Grotesk"/>
              </a:rPr>
              <a:t>Useful Links</a:t>
            </a:r>
            <a:endParaRPr b="0" i="0" spc="0" sz="2700" u="none" cap="none" strike="noStrike">
              <a:solidFill>
                <a:schemeClr val="dk1"/>
              </a:solidFill>
              <a:latin typeface="Calibri"/>
              <a:ea typeface="Calibri"/>
              <a:cs typeface="Calibri"/>
              <a:sym typeface="Calibri"/>
            </a:endParaRPr>
          </a:p>
        </p:txBody>
      </p:sp>
      <p:sp>
        <p:nvSpPr>
          <p:cNvPr id="72" name="Google Shape;72;p2"/>
          <p:cNvSpPr/>
          <p:nvPr/>
        </p:nvSpPr>
        <p:spPr>
          <a:xfrm>
            <a:off x="611972" y="1217749"/>
            <a:ext cx="2560662" cy="1164887"/>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 name="Google Shape;73;p2"/>
          <p:cNvSpPr/>
          <p:nvPr/>
        </p:nvSpPr>
        <p:spPr>
          <a:xfrm>
            <a:off x="803067" y="1408844"/>
            <a:ext cx="2243826" cy="2247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pc="0" sz="1400" u="sng" cap="none" strike="noStrike">
                <a:solidFill>
                  <a:srgbClr val="351C75"/>
                </a:solidFill>
                <a:latin typeface="Space Grotesk"/>
                <a:ea typeface="Space Grotesk"/>
                <a:cs typeface="Space Grotesk"/>
                <a:sym typeface="Space Grotesk"/>
                <a:hlinkClick r:id="rId3">
                  <a:extLst>
                    <a:ext uri="{A12FA001-AC4F-418D-AE19-62706E023703}">
                      <ahyp:hlinkClr val="tx"/>
                    </a:ext>
                  </a:extLst>
                </a:hlinkClick>
              </a:rPr>
              <a:t>Zoom</a:t>
            </a:r>
            <a:endParaRPr b="0" i="0" spc="0" sz="1400" u="none" cap="none" strike="noStrike">
              <a:solidFill>
                <a:srgbClr val="351C75"/>
              </a:solidFill>
              <a:latin typeface="Calibri"/>
              <a:ea typeface="Calibri"/>
              <a:cs typeface="Calibri"/>
              <a:sym typeface="Calibri"/>
            </a:endParaRPr>
          </a:p>
        </p:txBody>
      </p:sp>
      <p:sp>
        <p:nvSpPr>
          <p:cNvPr id="74" name="Google Shape;74;p2"/>
          <p:cNvSpPr/>
          <p:nvPr/>
        </p:nvSpPr>
        <p:spPr>
          <a:xfrm>
            <a:off x="803067" y="1671665"/>
            <a:ext cx="2243826" cy="5389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pc="0" sz="1000" u="none" cap="none" strike="noStrike">
                <a:solidFill>
                  <a:srgbClr val="1D1B24"/>
                </a:solidFill>
                <a:latin typeface="Inter"/>
                <a:ea typeface="Inter"/>
                <a:cs typeface="Inter"/>
                <a:sym typeface="Inter"/>
              </a:rPr>
              <a:t>All sessions are virtual. Use ONLY </a:t>
            </a:r>
            <a:r>
              <a:rPr b="1" i="0" lang="en" spc="0" sz="1000" u="none" cap="none" strike="noStrike">
                <a:solidFill>
                  <a:srgbClr val="1D1B24"/>
                </a:solidFill>
                <a:latin typeface="Inter"/>
                <a:ea typeface="Inter"/>
                <a:cs typeface="Inter"/>
                <a:sym typeface="Inter"/>
              </a:rPr>
              <a:t>your NYU SSO Login to be considered for attendance </a:t>
            </a:r>
            <a:endParaRPr b="1" i="0" spc="0" sz="1000" u="none" cap="none" strike="noStrike">
              <a:solidFill>
                <a:schemeClr val="dk1"/>
              </a:solidFill>
              <a:latin typeface="Calibri"/>
              <a:ea typeface="Calibri"/>
              <a:cs typeface="Calibri"/>
              <a:sym typeface="Calibri"/>
            </a:endParaRPr>
          </a:p>
        </p:txBody>
      </p:sp>
      <p:sp>
        <p:nvSpPr>
          <p:cNvPr id="75" name="Google Shape;75;p2"/>
          <p:cNvSpPr/>
          <p:nvPr/>
        </p:nvSpPr>
        <p:spPr>
          <a:xfrm>
            <a:off x="3291669" y="1217749"/>
            <a:ext cx="2560662" cy="1164887"/>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 name="Google Shape;76;p2"/>
          <p:cNvSpPr/>
          <p:nvPr/>
        </p:nvSpPr>
        <p:spPr>
          <a:xfrm>
            <a:off x="3482765" y="1408844"/>
            <a:ext cx="2243826" cy="2247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pc="0" sz="1400" u="sng" cap="none" strike="noStrike">
                <a:solidFill>
                  <a:srgbClr val="351C75"/>
                </a:solidFill>
                <a:latin typeface="Space Grotesk"/>
                <a:ea typeface="Space Grotesk"/>
                <a:cs typeface="Space Grotesk"/>
                <a:sym typeface="Space Grotesk"/>
                <a:hlinkClick r:id="rId4">
                  <a:extLst>
                    <a:ext uri="{A12FA001-AC4F-418D-AE19-62706E023703}">
                      <ahyp:hlinkClr val="tx"/>
                    </a:ext>
                  </a:extLst>
                </a:hlinkClick>
              </a:rPr>
              <a:t>Brightspace</a:t>
            </a:r>
            <a:endParaRPr b="0" i="0" spc="0" sz="1400" u="none" cap="none" strike="noStrike">
              <a:solidFill>
                <a:srgbClr val="351C75"/>
              </a:solidFill>
              <a:latin typeface="Calibri"/>
              <a:ea typeface="Calibri"/>
              <a:cs typeface="Calibri"/>
              <a:sym typeface="Calibri"/>
            </a:endParaRPr>
          </a:p>
        </p:txBody>
      </p:sp>
      <p:sp>
        <p:nvSpPr>
          <p:cNvPr id="77" name="Google Shape;77;p2"/>
          <p:cNvSpPr/>
          <p:nvPr/>
        </p:nvSpPr>
        <p:spPr>
          <a:xfrm>
            <a:off x="3482765" y="1671665"/>
            <a:ext cx="2243826" cy="5389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pc="0" sz="1000" u="none" cap="none" strike="noStrike">
                <a:solidFill>
                  <a:srgbClr val="1D1B24"/>
                </a:solidFill>
                <a:latin typeface="Inter"/>
                <a:ea typeface="Inter"/>
                <a:cs typeface="Inter"/>
                <a:sym typeface="Inter"/>
              </a:rPr>
              <a:t>Assignments, submissions and the discussion board, monitored Monday to Thursday.</a:t>
            </a:r>
            <a:endParaRPr b="0" i="0" spc="0" sz="1000" u="none" cap="none" strike="noStrike">
              <a:solidFill>
                <a:schemeClr val="dk1"/>
              </a:solidFill>
              <a:latin typeface="Calibri"/>
              <a:ea typeface="Calibri"/>
              <a:cs typeface="Calibri"/>
              <a:sym typeface="Calibri"/>
            </a:endParaRPr>
          </a:p>
        </p:txBody>
      </p:sp>
      <p:sp>
        <p:nvSpPr>
          <p:cNvPr id="78" name="Google Shape;78;p2"/>
          <p:cNvSpPr/>
          <p:nvPr/>
        </p:nvSpPr>
        <p:spPr>
          <a:xfrm>
            <a:off x="5971366" y="1217749"/>
            <a:ext cx="2560662" cy="1164887"/>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 name="Google Shape;79;p2"/>
          <p:cNvSpPr/>
          <p:nvPr/>
        </p:nvSpPr>
        <p:spPr>
          <a:xfrm>
            <a:off x="6162461" y="1408844"/>
            <a:ext cx="2243826" cy="2247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pc="0" sz="1400" u="sng" cap="none" strike="noStrike">
                <a:solidFill>
                  <a:srgbClr val="351C75"/>
                </a:solidFill>
                <a:latin typeface="Space Grotesk"/>
                <a:ea typeface="Space Grotesk"/>
                <a:cs typeface="Space Grotesk"/>
                <a:sym typeface="Space Grotesk"/>
                <a:hlinkClick r:id="rId5">
                  <a:extLst>
                    <a:ext uri="{A12FA001-AC4F-418D-AE19-62706E023703}">
                      <ahyp:hlinkClr val="tx"/>
                    </a:ext>
                  </a:extLst>
                </a:hlinkClick>
              </a:rPr>
              <a:t>GitHub</a:t>
            </a:r>
            <a:endParaRPr b="0" i="0" spc="0" sz="1400" u="none" cap="none" strike="noStrike">
              <a:solidFill>
                <a:srgbClr val="351C75"/>
              </a:solidFill>
              <a:latin typeface="Calibri"/>
              <a:ea typeface="Calibri"/>
              <a:cs typeface="Calibri"/>
              <a:sym typeface="Calibri"/>
            </a:endParaRPr>
          </a:p>
        </p:txBody>
      </p:sp>
      <p:sp>
        <p:nvSpPr>
          <p:cNvPr id="80" name="Google Shape;80;p2"/>
          <p:cNvSpPr/>
          <p:nvPr/>
        </p:nvSpPr>
        <p:spPr>
          <a:xfrm>
            <a:off x="6162461" y="1671665"/>
            <a:ext cx="2243826" cy="36563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pc="0" sz="1000" u="none" cap="none" strike="noStrike">
                <a:solidFill>
                  <a:srgbClr val="1D1B24"/>
                </a:solidFill>
                <a:latin typeface="Inter"/>
                <a:ea typeface="Inter"/>
                <a:cs typeface="Inter"/>
                <a:sym typeface="Inter"/>
              </a:rPr>
              <a:t>Slides and Colab notebooks for every session.</a:t>
            </a:r>
            <a:endParaRPr b="0" i="0" spc="0" sz="1000" u="none" cap="none" strike="noStrike">
              <a:solidFill>
                <a:schemeClr val="dk1"/>
              </a:solidFill>
              <a:latin typeface="Calibri"/>
              <a:ea typeface="Calibri"/>
              <a:cs typeface="Calibri"/>
              <a:sym typeface="Calibri"/>
            </a:endParaRPr>
          </a:p>
        </p:txBody>
      </p:sp>
      <p:sp>
        <p:nvSpPr>
          <p:cNvPr id="81" name="Google Shape;81;p2"/>
          <p:cNvSpPr/>
          <p:nvPr/>
        </p:nvSpPr>
        <p:spPr>
          <a:xfrm>
            <a:off x="2070697" y="2482496"/>
            <a:ext cx="2560800" cy="1164900"/>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 name="Google Shape;82;p2"/>
          <p:cNvSpPr/>
          <p:nvPr/>
        </p:nvSpPr>
        <p:spPr>
          <a:xfrm>
            <a:off x="2261792" y="2673591"/>
            <a:ext cx="22437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pc="0" sz="1400" u="none" cap="none" strike="noStrike">
                <a:solidFill>
                  <a:srgbClr val="351C75"/>
                </a:solidFill>
                <a:latin typeface="Space Grotesk"/>
                <a:ea typeface="Space Grotesk"/>
                <a:cs typeface="Space Grotesk"/>
                <a:sym typeface="Space Grotesk"/>
              </a:rPr>
              <a:t>Email</a:t>
            </a:r>
            <a:endParaRPr b="0" i="0" spc="0" sz="1400" u="none" cap="none" strike="noStrike">
              <a:solidFill>
                <a:srgbClr val="351C75"/>
              </a:solidFill>
              <a:latin typeface="Calibri"/>
              <a:ea typeface="Calibri"/>
              <a:cs typeface="Calibri"/>
              <a:sym typeface="Calibri"/>
            </a:endParaRPr>
          </a:p>
        </p:txBody>
      </p:sp>
      <p:sp>
        <p:nvSpPr>
          <p:cNvPr id="83" name="Google Shape;83;p2"/>
          <p:cNvSpPr/>
          <p:nvPr/>
        </p:nvSpPr>
        <p:spPr>
          <a:xfrm>
            <a:off x="2261792" y="2936412"/>
            <a:ext cx="2243700" cy="5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pc="0" sz="1000" u="sng" cap="none" strike="noStrike">
                <a:solidFill>
                  <a:schemeClr val="hlink"/>
                </a:solidFill>
                <a:latin typeface="Inter"/>
                <a:ea typeface="Inter"/>
                <a:cs typeface="Inter"/>
                <a:sym typeface="Inter"/>
                <a:hlinkClick r:id="rId6"/>
              </a:rPr>
              <a:t>datasciencebootcamp@nyu.edu</a:t>
            </a:r>
            <a:r>
              <a:rPr b="0" i="0" lang="en" spc="0" sz="1000" u="none" cap="none" strike="noStrike">
                <a:solidFill>
                  <a:srgbClr val="1D1B24"/>
                </a:solidFill>
                <a:latin typeface="Inter"/>
                <a:ea typeface="Inter"/>
                <a:cs typeface="Inter"/>
                <a:sym typeface="Inter"/>
              </a:rPr>
              <a:t> for questions, extensions and attendance approvals.</a:t>
            </a:r>
            <a:endParaRPr b="0" i="0" spc="0" sz="1000" u="none" cap="none" strike="noStrike">
              <a:solidFill>
                <a:schemeClr val="dk1"/>
              </a:solidFill>
              <a:latin typeface="Calibri"/>
              <a:ea typeface="Calibri"/>
              <a:cs typeface="Calibri"/>
              <a:sym typeface="Calibri"/>
            </a:endParaRPr>
          </a:p>
        </p:txBody>
      </p:sp>
      <p:sp>
        <p:nvSpPr>
          <p:cNvPr id="84" name="Google Shape;84;p2"/>
          <p:cNvSpPr/>
          <p:nvPr/>
        </p:nvSpPr>
        <p:spPr>
          <a:xfrm>
            <a:off x="4750394" y="2482496"/>
            <a:ext cx="2560800" cy="1164900"/>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 name="Google Shape;85;p2"/>
          <p:cNvSpPr/>
          <p:nvPr/>
        </p:nvSpPr>
        <p:spPr>
          <a:xfrm>
            <a:off x="4941490" y="2673591"/>
            <a:ext cx="22437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pc="0" sz="1400" u="none" cap="none" strike="noStrike">
                <a:solidFill>
                  <a:srgbClr val="20124D"/>
                </a:solidFill>
                <a:latin typeface="Space Grotesk"/>
                <a:ea typeface="Space Grotesk"/>
                <a:cs typeface="Space Grotesk"/>
                <a:sym typeface="Space Grotesk"/>
              </a:rPr>
              <a:t>1:1 coaching</a:t>
            </a:r>
            <a:endParaRPr b="0" i="0" spc="0" sz="1400" u="none" cap="none" strike="noStrike">
              <a:solidFill>
                <a:srgbClr val="20124D"/>
              </a:solidFill>
              <a:latin typeface="Calibri"/>
              <a:ea typeface="Calibri"/>
              <a:cs typeface="Calibri"/>
              <a:sym typeface="Calibri"/>
            </a:endParaRPr>
          </a:p>
        </p:txBody>
      </p:sp>
      <p:sp>
        <p:nvSpPr>
          <p:cNvPr id="86" name="Google Shape;86;p2"/>
          <p:cNvSpPr/>
          <p:nvPr/>
        </p:nvSpPr>
        <p:spPr>
          <a:xfrm>
            <a:off x="4941490" y="2936412"/>
            <a:ext cx="2243700" cy="5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pc="0" sz="1000" u="none" cap="none" strike="noStrike">
                <a:solidFill>
                  <a:srgbClr val="1D1B24"/>
                </a:solidFill>
                <a:latin typeface="Inter"/>
                <a:ea typeface="Inter"/>
                <a:cs typeface="Inter"/>
                <a:sym typeface="Inter"/>
              </a:rPr>
              <a:t>Optional 30-minute technical interview prep. </a:t>
            </a:r>
            <a:r>
              <a:rPr b="0" i="0" lang="en" spc="0" sz="1000" u="sng" cap="none" strike="noStrike">
                <a:solidFill>
                  <a:schemeClr val="hlink"/>
                </a:solidFill>
                <a:latin typeface="Inter"/>
                <a:ea typeface="Inter"/>
                <a:cs typeface="Inter"/>
                <a:sym typeface="Inter"/>
                <a:hlinkClick r:id="rId7"/>
              </a:rPr>
              <a:t>Book it through Handshake.</a:t>
            </a:r>
            <a:endParaRPr b="0" i="0" spc="0" sz="1000" u="none" cap="none" strike="noStrike">
              <a:solidFill>
                <a:schemeClr val="dk1"/>
              </a:solidFill>
              <a:latin typeface="Calibri"/>
              <a:ea typeface="Calibri"/>
              <a:cs typeface="Calibri"/>
              <a:sym typeface="Calibri"/>
            </a:endParaRPr>
          </a:p>
        </p:txBody>
      </p:sp>
      <p:sp>
        <p:nvSpPr>
          <p:cNvPr id="87" name="Google Shape;87;p2"/>
          <p:cNvSpPr/>
          <p:nvPr/>
        </p:nvSpPr>
        <p:spPr>
          <a:xfrm>
            <a:off x="8399766" y="4678691"/>
            <a:ext cx="172696" cy="17908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900" u="none" cap="none" strike="noStrike">
                <a:solidFill>
                  <a:srgbClr val="625D6E"/>
                </a:solidFill>
                <a:latin typeface="Inter"/>
                <a:ea typeface="Inter"/>
                <a:cs typeface="Inter"/>
                <a:sym typeface="Inter"/>
              </a:rPr>
              <a:t>2</a:t>
            </a:r>
            <a:endParaRPr b="0" i="0" spc="0" sz="900" u="none" cap="none" strike="noStrike">
              <a:solidFill>
                <a:schemeClr val="dk1"/>
              </a:solidFill>
              <a:latin typeface="Calibri"/>
              <a:ea typeface="Calibri"/>
              <a:cs typeface="Calibri"/>
              <a:sym typeface="Calibri"/>
            </a:endParaRPr>
          </a:p>
        </p:txBody>
      </p:sp>
      <p:sp>
        <p:nvSpPr>
          <p:cNvPr id="88" name="Google Shape;88;p2"/>
          <p:cNvSpPr/>
          <p:nvPr/>
        </p:nvSpPr>
        <p:spPr>
          <a:xfrm>
            <a:off x="609591" y="467869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900" u="none" cap="none" strike="noStrike">
                <a:solidFill>
                  <a:srgbClr val="625D6E"/>
                </a:solidFill>
                <a:latin typeface="Inter"/>
                <a:ea typeface="Inter"/>
                <a:cs typeface="Inter"/>
                <a:sym typeface="Inter"/>
              </a:rPr>
              <a:t>Data Science Bootcamp · Fall 2026</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93" name="Shape 93"/>
        <p:cNvGrpSpPr/>
        <p:nvPr/>
      </p:nvGrpSpPr>
      <p:grpSpPr>
        <a:xfrm>
          <a:off x="0" y="0"/>
          <a:ext cx="0" cy="0"/>
          <a:chOff x="0" y="0"/>
          <a:chExt cx="0" cy="0"/>
        </a:xfrm>
      </p:grpSpPr>
      <p:sp>
        <p:nvSpPr>
          <p:cNvPr id="94" name="Google Shape;94;p3"/>
          <p:cNvSpPr/>
          <p:nvPr/>
        </p:nvSpPr>
        <p:spPr>
          <a:xfrm>
            <a:off x="609601" y="2089800"/>
            <a:ext cx="7841700" cy="1024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3600"/>
              <a:buFont typeface="Space Grotesk"/>
              <a:buNone/>
            </a:pPr>
            <a:r>
              <a:rPr b="1" i="0" lang="en" spc="0" sz="3400" u="none" cap="none" strike="noStrike">
                <a:solidFill>
                  <a:srgbClr val="3D3947"/>
                </a:solidFill>
                <a:latin typeface="Space Grotesk"/>
                <a:ea typeface="Space Grotesk"/>
                <a:cs typeface="Space Grotesk"/>
                <a:sym typeface="Space Grotesk"/>
              </a:rPr>
              <a:t>Exploratory Data Analysis</a:t>
            </a:r>
            <a:endParaRPr b="0" i="0" spc="0" sz="3600" u="none" cap="none" strike="noStrike">
              <a:solidFill>
                <a:srgbClr val="3D3947"/>
              </a:solidFill>
              <a:latin typeface="Calibri"/>
              <a:ea typeface="Calibri"/>
              <a:cs typeface="Calibri"/>
              <a:sym typeface="Calibri"/>
            </a:endParaRPr>
          </a:p>
        </p:txBody>
      </p:sp>
      <p:sp>
        <p:nvSpPr>
          <p:cNvPr id="95" name="Google Shape;95;p3"/>
          <p:cNvSpPr/>
          <p:nvPr/>
        </p:nvSpPr>
        <p:spPr>
          <a:xfrm>
            <a:off x="609591" y="467869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900" u="none" cap="none" strike="noStrike">
                <a:solidFill>
                  <a:srgbClr val="625D6E"/>
                </a:solidFill>
                <a:latin typeface="Inter"/>
                <a:ea typeface="Inter"/>
                <a:cs typeface="Inter"/>
                <a:sym typeface="Inter"/>
              </a:rPr>
              <a:t>Data Science Bootcamp · Fall 2026</a:t>
            </a:r>
            <a:endParaRPr b="0" i="0" spc="0" sz="900" u="none" cap="none" strike="noStrike">
              <a:solidFill>
                <a:schemeClr val="dk1"/>
              </a:solidFill>
              <a:latin typeface="Calibri"/>
              <a:ea typeface="Calibri"/>
              <a:cs typeface="Calibri"/>
              <a:sym typeface="Calibri"/>
            </a:endParaRPr>
          </a:p>
        </p:txBody>
      </p:sp>
      <p:pic>
        <p:nvPicPr>
          <p:cNvPr id="96" name="Google Shape;96;p3" title="NYUTandon_LongLogo_Black.png"/>
          <p:cNvPicPr preferRelativeResize="0"/>
          <p:nvPr/>
        </p:nvPicPr>
        <p:blipFill rotWithShape="1">
          <a:blip r:embed="rId3">
            <a:alphaModFix/>
          </a:blip>
          <a:srcRect b="0" l="0" r="0" t="0"/>
          <a:stretch/>
        </p:blipFill>
        <p:spPr>
          <a:xfrm>
            <a:off x="118474" y="96475"/>
            <a:ext cx="1826033" cy="287100"/>
          </a:xfrm>
          <a:prstGeom prst="rect">
            <a:avLst/>
          </a:prstGeom>
          <a:noFill/>
          <a:ln>
            <a:noFill/>
          </a:ln>
        </p:spPr>
      </p:pic>
      <p:sp>
        <p:nvSpPr>
          <p:cNvPr id="97" name="Google Shape;97;p3"/>
          <p:cNvSpPr txBox="1"/>
          <p:nvPr/>
        </p:nvSpPr>
        <p:spPr>
          <a:xfrm>
            <a:off x="534550" y="2730100"/>
            <a:ext cx="71175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10000"/>
              </a:lnSpc>
              <a:spcBef>
                <a:spcPts val="0"/>
              </a:spcBef>
              <a:spcAft>
                <a:spcPts val="0"/>
              </a:spcAft>
              <a:buClr>
                <a:srgbClr val="000000"/>
              </a:buClr>
              <a:buSzPts val="900"/>
              <a:buFont typeface="Arial"/>
              <a:buNone/>
            </a:pPr>
            <a:r>
              <a:rPr b="1" i="0" lang="en" spc="0" sz="900" u="none" cap="none" strike="noStrike">
                <a:solidFill>
                  <a:srgbClr val="3D3947"/>
                </a:solidFill>
                <a:latin typeface="Space Grotesk"/>
                <a:ea typeface="Space Grotesk"/>
                <a:cs typeface="Space Grotesk"/>
                <a:sym typeface="Space Grotesk"/>
              </a:rPr>
              <a:t>Get to know a dataset before you trust it, model it or present it!</a:t>
            </a:r>
            <a:endParaRPr b="1" i="0" spc="0" sz="900" u="none" cap="none" strike="noStrike">
              <a:solidFill>
                <a:srgbClr val="3D3947"/>
              </a:solidFill>
              <a:latin typeface="Space Grotesk"/>
              <a:ea typeface="Space Grotesk"/>
              <a:cs typeface="Space Grotesk"/>
              <a:sym typeface="Space 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102" name="Shape 102"/>
        <p:cNvGrpSpPr/>
        <p:nvPr/>
      </p:nvGrpSpPr>
      <p:grpSpPr>
        <a:xfrm>
          <a:off x="0" y="0"/>
          <a:ext cx="0" cy="0"/>
          <a:chOff x="0" y="0"/>
          <a:chExt cx="0" cy="0"/>
        </a:xfrm>
      </p:grpSpPr>
      <p:sp>
        <p:nvSpPr>
          <p:cNvPr id="103" name="Google Shape;103;p4"/>
          <p:cNvSpPr/>
          <p:nvPr/>
        </p:nvSpPr>
        <p:spPr>
          <a:xfrm>
            <a:off x="8391627" y="4678691"/>
            <a:ext cx="180835" cy="17908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900" u="none" cap="none" strike="noStrike">
                <a:solidFill>
                  <a:srgbClr val="625D6E"/>
                </a:solidFill>
                <a:latin typeface="Inter"/>
                <a:ea typeface="Inter"/>
                <a:cs typeface="Inter"/>
                <a:sym typeface="Inter"/>
              </a:rPr>
              <a:t>4</a:t>
            </a:r>
            <a:endParaRPr b="0" i="0" spc="0" sz="900" u="none" cap="none" strike="noStrike">
              <a:solidFill>
                <a:srgbClr val="625D6E"/>
              </a:solidFill>
              <a:latin typeface="Inter"/>
              <a:ea typeface="Inter"/>
              <a:cs typeface="Inter"/>
              <a:sym typeface="Inter"/>
            </a:endParaRPr>
          </a:p>
        </p:txBody>
      </p:sp>
      <p:sp>
        <p:nvSpPr>
          <p:cNvPr id="104" name="Google Shape;104;p4"/>
          <p:cNvSpPr/>
          <p:nvPr/>
        </p:nvSpPr>
        <p:spPr>
          <a:xfrm>
            <a:off x="118466" y="489124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700" u="none" cap="none" strike="noStrike">
                <a:solidFill>
                  <a:srgbClr val="625D6E"/>
                </a:solidFill>
                <a:latin typeface="Inter"/>
                <a:ea typeface="Inter"/>
                <a:cs typeface="Inter"/>
                <a:sym typeface="Inter"/>
              </a:rPr>
              <a:t>Data Science Bootcamp · Fall 2026</a:t>
            </a:r>
            <a:endParaRPr b="0" i="0" spc="0" sz="700" u="none" cap="none" strike="noStrike">
              <a:solidFill>
                <a:schemeClr val="dk1"/>
              </a:solidFill>
              <a:latin typeface="Calibri"/>
              <a:ea typeface="Calibri"/>
              <a:cs typeface="Calibri"/>
              <a:sym typeface="Calibri"/>
            </a:endParaRPr>
          </a:p>
        </p:txBody>
      </p:sp>
      <p:pic>
        <p:nvPicPr>
          <p:cNvPr id="105" name="Google Shape;105;p4" title="NYUTandon_LongLogo_Black.png"/>
          <p:cNvPicPr preferRelativeResize="0"/>
          <p:nvPr/>
        </p:nvPicPr>
        <p:blipFill rotWithShape="1">
          <a:blip r:embed="rId3">
            <a:alphaModFix/>
          </a:blip>
          <a:srcRect b="0" l="0" r="0" t="0"/>
          <a:stretch/>
        </p:blipFill>
        <p:spPr>
          <a:xfrm>
            <a:off x="118474" y="96475"/>
            <a:ext cx="1826033" cy="287100"/>
          </a:xfrm>
          <a:prstGeom prst="rect">
            <a:avLst/>
          </a:prstGeom>
          <a:noFill/>
          <a:ln>
            <a:noFill/>
          </a:ln>
        </p:spPr>
      </p:pic>
      <p:sp>
        <p:nvSpPr>
          <p:cNvPr id="107" name="Google Shape;107;p4"/>
          <p:cNvSpPr/>
          <p:nvPr/>
        </p:nvSpPr>
        <p:spPr>
          <a:xfrm>
            <a:off x="301752" y="777240"/>
            <a:ext cx="3200400" cy="914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3600"/>
              <a:buFont typeface="Space Grotesk"/>
              <a:buNone/>
            </a:pPr>
            <a:r>
              <a:rPr b="1" i="0" lang="en" spc="0" sz="2800" u="none" cap="none" strike="noStrike">
                <a:solidFill>
                  <a:srgbClr val="3D3947"/>
                </a:solidFill>
                <a:latin typeface="Space Grotesk"/>
                <a:ea typeface="Space Grotesk"/>
                <a:cs typeface="Space Grotesk"/>
                <a:sym typeface="Space Grotesk"/>
              </a:rPr>
              <a:t>NASA Exoplanet</a:t>
            </a:r>
            <a:endParaRPr b="0" i="0" spc="0" sz="3500" u="none" cap="none" strike="noStrike">
              <a:solidFill>
                <a:srgbClr val="3D3947"/>
              </a:solidFill>
              <a:latin typeface="Calibri"/>
              <a:ea typeface="Calibri"/>
              <a:cs typeface="Calibri"/>
              <a:sym typeface="Calibri"/>
            </a:endParaRPr>
          </a:p>
          <a:p>
            <a:pPr indent="0" lvl="0" marL="0" marR="0" rtl="0" algn="l">
              <a:lnSpc>
                <a:spcPct val="110000"/>
              </a:lnSpc>
              <a:spcBef>
                <a:spcPts val="0"/>
              </a:spcBef>
              <a:spcAft>
                <a:spcPts val="0"/>
              </a:spcAft>
              <a:buClr>
                <a:srgbClr val="F6F4EF"/>
              </a:buClr>
              <a:buSzPts val="3600"/>
              <a:buFont typeface="Space Grotesk"/>
              <a:buNone/>
            </a:pPr>
            <a:r>
              <a:rPr b="1" i="0" lang="en" spc="0" sz="2800" u="none" cap="none" strike="noStrike">
                <a:solidFill>
                  <a:srgbClr val="3D3947"/>
                </a:solidFill>
                <a:latin typeface="Space Grotesk"/>
                <a:ea typeface="Space Grotesk"/>
                <a:cs typeface="Space Grotesk"/>
                <a:sym typeface="Space Grotesk"/>
              </a:rPr>
              <a:t>Archive</a:t>
            </a:r>
            <a:endParaRPr b="0" i="0" spc="0" sz="3500" u="none" cap="none" strike="noStrike">
              <a:solidFill>
                <a:srgbClr val="3D3947"/>
              </a:solidFill>
              <a:latin typeface="Calibri"/>
              <a:ea typeface="Calibri"/>
              <a:cs typeface="Calibri"/>
              <a:sym typeface="Calibri"/>
            </a:endParaRPr>
          </a:p>
        </p:txBody>
      </p:sp>
      <p:sp>
        <p:nvSpPr>
          <p:cNvPr id="108" name="Google Shape;108;p4"/>
          <p:cNvSpPr txBox="1"/>
          <p:nvPr/>
        </p:nvSpPr>
        <p:spPr>
          <a:xfrm>
            <a:off x="253350" y="1920240"/>
            <a:ext cx="3080100" cy="2377440"/>
          </a:xfrm>
          <a:prstGeom prst="rect">
            <a:avLst/>
          </a:prstGeom>
          <a:noFill/>
          <a:ln>
            <a:noFill/>
          </a:ln>
        </p:spPr>
        <p:txBody>
          <a:bodyPr anchorCtr="0" anchor="t" bIns="91425" lIns="91425" spcFirstLastPara="1" rIns="91425" wrap="square" tIns="91425">
            <a:spAutoFit/>
          </a:bodyPr>
          <a:lstStyle/>
          <a:p>
            <a:pPr indent="0" lvl="0" marL="0" marR="0" rtl="0" algn="l">
              <a:lnSpc>
                <a:spcPct val="110000"/>
              </a:lnSpc>
              <a:spcBef>
                <a:spcPts val="0"/>
              </a:spcBef>
              <a:spcAft>
                <a:spcPts val="0"/>
              </a:spcAft>
              <a:buClr>
                <a:schemeClr val="dk1"/>
              </a:buClr>
              <a:buSzPts val="1100"/>
              <a:buFont typeface="Arial"/>
              <a:buNone/>
            </a:pPr>
            <a:r>
              <a:rPr b="1" i="0" lang="en" spc="0" sz="900" u="sng" cap="none" strike="noStrike">
                <a:solidFill>
                  <a:schemeClr val="hlink"/>
                </a:solidFill>
                <a:latin typeface="Space Grotesk"/>
                <a:ea typeface="Space Grotesk"/>
                <a:cs typeface="Space Grotesk"/>
                <a:sym typeface="Space Grotesk"/>
                <a:hlinkClick r:id="rId5"/>
              </a:rPr>
              <a:t>https://exoplanetarchive.ipac.caltech.edu</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xml:space="preserve">Dataset name: </a:t>
            </a:r>
            <a:r>
              <a:rPr b="1" i="0" lang="en" spc="0" sz="900" u="none" cap="none" strike="noStrike">
                <a:solidFill>
                  <a:srgbClr val="3D3947"/>
                </a:solidFill>
                <a:latin typeface="Space Grotesk"/>
                <a:ea typeface="Space Grotesk"/>
                <a:cs typeface="Space Grotesk"/>
                <a:sym typeface="Space Grotesk"/>
              </a:rPr>
              <a:t>Confirmed planets, one row per planet (exoplanetdata, ModernDive 2026 snapshot)</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xml:space="preserve">Data Provided By: </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NASA Exoplanet Science Institute (Caltech / IPAC)</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xml:space="preserve">Size: </a:t>
            </a:r>
            <a:r>
              <a:rPr b="1" i="0" lang="en" spc="0" sz="900" u="none" cap="none" strike="noStrike">
                <a:solidFill>
                  <a:srgbClr val="3D3947"/>
                </a:solidFill>
                <a:latin typeface="Space Grotesk"/>
                <a:ea typeface="Space Grotesk"/>
                <a:cs typeface="Space Grotesk"/>
                <a:sym typeface="Space Grotesk"/>
              </a:rPr>
              <a:t>6,278 planets, 28 columns, 192 of them found in 2026</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xml:space="preserve">Visit: </a:t>
            </a:r>
            <a:r>
              <a:rPr b="1" i="0" lang="en" spc="0" sz="900" u="sng" cap="none" strike="noStrike">
                <a:solidFill>
                  <a:schemeClr val="hlink"/>
                </a:solidFill>
                <a:latin typeface="Space Grotesk"/>
                <a:ea typeface="Space Grotesk"/>
                <a:cs typeface="Space Grotesk"/>
                <a:sym typeface="Space Grotesk"/>
                <a:hlinkClick r:id="rId6"/>
              </a:rPr>
              <a:t>github.com/moderndive/exoplanetdata</a:t>
            </a:r>
            <a:endParaRPr b="1" i="0" spc="0" sz="900" u="none" cap="none" strike="noStrike">
              <a:solidFill>
                <a:srgbClr val="3D3947"/>
              </a:solidFill>
              <a:latin typeface="Space Grotesk"/>
              <a:ea typeface="Space Grotesk"/>
              <a:cs typeface="Space Grotesk"/>
              <a:sym typeface="Space Grotesk"/>
            </a:endParaRPr>
          </a:p>
        </p:txBody>
      </p:sp>
      <p:sp>
        <p:nvSpPr>
          <p:cNvPr id="109" name="Google Shape;109;p4"/>
          <p:cNvSpPr/>
          <p:nvPr/>
        </p:nvSpPr>
        <p:spPr>
          <a:xfrm>
            <a:off x="167925" y="576500"/>
            <a:ext cx="3402900" cy="3990300"/>
          </a:xfrm>
          <a:prstGeom prst="roundRect">
            <a:avLst>
              <a:gd fmla="val 10280" name="adj"/>
            </a:avLst>
          </a:prstGeom>
          <a:no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0" name="Week3 shape 900"/>
          <p:cNvSpPr/>
          <p:nvPr/>
        </p:nvSpPr>
        <p:spPr>
          <a:xfrm>
            <a:off x="3779325" y="576600"/>
            <a:ext cx="4793149" cy="3990299"/>
          </a:xfrm>
          <a:prstGeom prst="roundRect">
            <a:avLst>
              <a:gd fmla="val 10280" name="adj"/>
            </a:avLst>
          </a:prstGeom>
          <a:solidFill>
            <a:srgbClr val="FDFCFA"/>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aphicFrame>
        <p:nvGraphicFramePr>
          <p:cNvPr id="901" name="Discoveries per year chart"/>
          <p:cNvGraphicFramePr>
            <a:graphicFrameLocks noGrp="1"/>
          </p:cNvGraphicFramePr>
          <p:nvPr/>
        </p:nvGraphicFramePr>
        <p:xfrm>
          <a:off x="3916485" y="686328"/>
          <a:ext cx="4518829" cy="3770843"/>
        </p:xfrm>
        <a:graphic>
          <a:graphicData uri="http://schemas.openxmlformats.org/drawingml/2006/chart">
            <c:chart r:id="rId7"/>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114" name="Shape 114"/>
        <p:cNvGrpSpPr/>
        <p:nvPr/>
      </p:nvGrpSpPr>
      <p:grpSpPr>
        <a:xfrm>
          <a:off x="0" y="0"/>
          <a:ext cx="0" cy="0"/>
          <a:chOff x="0" y="0"/>
          <a:chExt cx="0" cy="0"/>
        </a:xfrm>
      </p:grpSpPr>
      <p:pic>
        <p:nvPicPr>
          <p:cNvPr descr="image.png" id="115" name="Google Shape;115;p5"/>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116" name="Google Shape;116;p5"/>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073763"/>
                </a:solidFill>
                <a:latin typeface="Inter"/>
                <a:ea typeface="Inter"/>
                <a:cs typeface="Inter"/>
                <a:sym typeface="Inter"/>
              </a:rPr>
              <a:t>HOW TO READ TODAY'S SESSION</a:t>
            </a:r>
            <a:endParaRPr b="0" i="0" spc="0" sz="1400" u="none" cap="none" strike="noStrike">
              <a:solidFill>
                <a:srgbClr val="073763"/>
              </a:solidFill>
              <a:latin typeface="Arial"/>
              <a:ea typeface="Arial"/>
              <a:cs typeface="Arial"/>
              <a:sym typeface="Arial"/>
            </a:endParaRPr>
          </a:p>
        </p:txBody>
      </p:sp>
      <p:sp>
        <p:nvSpPr>
          <p:cNvPr id="117" name="Google Shape;117;p5"/>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 spc="0" sz="2700" u="none" cap="none" strike="noStrike">
                <a:solidFill>
                  <a:srgbClr val="1D1B24"/>
                </a:solidFill>
                <a:latin typeface="Space Grotesk"/>
                <a:ea typeface="Space Grotesk"/>
                <a:cs typeface="Space Grotesk"/>
                <a:sym typeface="Space Grotesk"/>
              </a:rPr>
              <a:t>Predict, code, share</a:t>
            </a:r>
            <a:endParaRPr b="0" i="0" spc="0" sz="1400" u="none" cap="none" strike="noStrike">
              <a:solidFill>
                <a:srgbClr val="000000"/>
              </a:solidFill>
              <a:latin typeface="Arial"/>
              <a:ea typeface="Arial"/>
              <a:cs typeface="Arial"/>
              <a:sym typeface="Arial"/>
            </a:endParaRPr>
          </a:p>
        </p:txBody>
      </p:sp>
      <p:sp>
        <p:nvSpPr>
          <p:cNvPr id="118" name="Google Shape;118;p5"/>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0" i="0" lang="en" spc="0" sz="900" u="none" cap="none" strike="noStrike">
                <a:solidFill>
                  <a:srgbClr val="625D6E"/>
                </a:solidFill>
                <a:latin typeface="Inter"/>
                <a:ea typeface="Inter"/>
                <a:cs typeface="Inter"/>
                <a:sym typeface="Inter"/>
              </a:rPr>
              <a:t>Data Science Bootcamp · Fall 2026</a:t>
            </a:r>
            <a:endParaRPr b="0" i="0" spc="0" sz="1400" u="none" cap="none" strike="noStrike">
              <a:solidFill>
                <a:srgbClr val="000000"/>
              </a:solidFill>
              <a:latin typeface="Arial"/>
              <a:ea typeface="Arial"/>
              <a:cs typeface="Arial"/>
              <a:sym typeface="Arial"/>
            </a:endParaRPr>
          </a:p>
        </p:txBody>
      </p:sp>
      <p:sp>
        <p:nvSpPr>
          <p:cNvPr id="119" name="Google Shape;119;p5"/>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Clr>
                <a:srgbClr val="000000"/>
              </a:buClr>
              <a:buSzPts val="900"/>
              <a:buFont typeface="Arial"/>
              <a:buNone/>
            </a:pPr>
            <a:fld id="{00000000-1234-1234-1234-123412341234}" type="slidenum">
              <a:rPr b="0" i="0" lang="en" spc="0" sz="900" u="none" cap="none" strike="noStrike">
                <a:solidFill>
                  <a:srgbClr val="625D6E"/>
                </a:solidFill>
                <a:latin typeface="Inter"/>
                <a:ea typeface="Inter"/>
                <a:cs typeface="Inter"/>
                <a:sym typeface="Inter"/>
              </a:rPr>
              <a:t>‹#›</a:t>
            </a:fld>
            <a:endParaRPr b="0" i="0" spc="0" sz="1400" u="none" cap="none" strike="noStrike">
              <a:solidFill>
                <a:srgbClr val="000000"/>
              </a:solidFill>
              <a:latin typeface="Arial"/>
              <a:ea typeface="Arial"/>
              <a:cs typeface="Arial"/>
              <a:sym typeface="Arial"/>
            </a:endParaRPr>
          </a:p>
        </p:txBody>
      </p:sp>
      <p:sp>
        <p:nvSpPr>
          <p:cNvPr id="120" name="Google Shape;120;p5"/>
          <p:cNvSpPr/>
          <p:nvPr/>
        </p:nvSpPr>
        <p:spPr>
          <a:xfrm>
            <a:off x="612648" y="1298448"/>
            <a:ext cx="3684900" cy="18288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 name="Google Shape;121;p5"/>
          <p:cNvSpPr txBox="1"/>
          <p:nvPr/>
        </p:nvSpPr>
        <p:spPr>
          <a:xfrm>
            <a:off x="813816" y="1463039"/>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073763"/>
                </a:solidFill>
                <a:latin typeface="Inter"/>
                <a:ea typeface="Inter"/>
                <a:cs typeface="Inter"/>
                <a:sym typeface="Inter"/>
              </a:rPr>
              <a:t>PREDICT</a:t>
            </a:r>
            <a:endParaRPr b="0" i="0" spc="0" sz="1400" u="none" cap="none" strike="noStrike">
              <a:solidFill>
                <a:srgbClr val="073763"/>
              </a:solidFill>
              <a:latin typeface="Arial"/>
              <a:ea typeface="Arial"/>
              <a:cs typeface="Arial"/>
              <a:sym typeface="Arial"/>
            </a:endParaRPr>
          </a:p>
        </p:txBody>
      </p:sp>
      <p:sp>
        <p:nvSpPr>
          <p:cNvPr id="122" name="Google Shape;122;p5"/>
          <p:cNvSpPr txBox="1"/>
          <p:nvPr/>
        </p:nvSpPr>
        <p:spPr>
          <a:xfrm>
            <a:off x="813816" y="1709928"/>
            <a:ext cx="3282600" cy="215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400"/>
              <a:buFont typeface="Arial"/>
              <a:buNone/>
            </a:pPr>
            <a:r>
              <a:rPr b="1" i="0" lang="en" spc="0" sz="1400" u="none" cap="none" strike="noStrike">
                <a:solidFill>
                  <a:srgbClr val="073763"/>
                </a:solidFill>
                <a:latin typeface="Space Grotesk"/>
                <a:ea typeface="Space Grotesk"/>
                <a:cs typeface="Space Grotesk"/>
                <a:sym typeface="Space Grotesk"/>
              </a:rPr>
              <a:t>Guess before you run</a:t>
            </a:r>
            <a:endParaRPr b="0" i="0" spc="0" sz="1400" u="none" cap="none" strike="noStrike">
              <a:solidFill>
                <a:srgbClr val="073763"/>
              </a:solidFill>
              <a:latin typeface="Arial"/>
              <a:ea typeface="Arial"/>
              <a:cs typeface="Arial"/>
              <a:sym typeface="Arial"/>
            </a:endParaRPr>
          </a:p>
        </p:txBody>
      </p:sp>
      <p:sp>
        <p:nvSpPr>
          <p:cNvPr id="123" name="Google Shape;123;p5"/>
          <p:cNvSpPr txBox="1"/>
          <p:nvPr/>
        </p:nvSpPr>
        <p:spPr>
          <a:xfrm>
            <a:off x="813816" y="2048255"/>
            <a:ext cx="3282600" cy="660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Post your guess in the Zoom chat, then run the cell and compare.</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100"/>
              <a:buFont typeface="Arial"/>
              <a:buNone/>
            </a:pPr>
            <a:r>
              <a:rPr b="0" i="1" lang="en" spc="0" sz="1100" u="none" cap="none" strike="noStrike">
                <a:solidFill>
                  <a:srgbClr val="1D1B24"/>
                </a:solidFill>
                <a:latin typeface="Inter"/>
                <a:ea typeface="Inter"/>
                <a:cs typeface="Inter"/>
                <a:sym typeface="Inter"/>
              </a:rPr>
              <a:t>How many planets are there? Which method misses the most data?</a:t>
            </a:r>
            <a:endParaRPr b="0" i="0" spc="0" sz="1400" u="none" cap="none" strike="noStrike">
              <a:solidFill>
                <a:srgbClr val="000000"/>
              </a:solidFill>
              <a:latin typeface="Arial"/>
              <a:ea typeface="Arial"/>
              <a:cs typeface="Arial"/>
              <a:sym typeface="Arial"/>
            </a:endParaRPr>
          </a:p>
        </p:txBody>
      </p:sp>
      <p:sp>
        <p:nvSpPr>
          <p:cNvPr id="124" name="Google Shape;124;p5"/>
          <p:cNvSpPr/>
          <p:nvPr/>
        </p:nvSpPr>
        <p:spPr>
          <a:xfrm>
            <a:off x="4846320" y="1298448"/>
            <a:ext cx="3684900" cy="18288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70AD47"/>
              </a:solidFill>
              <a:latin typeface="Arial"/>
              <a:ea typeface="Arial"/>
              <a:cs typeface="Arial"/>
              <a:sym typeface="Arial"/>
            </a:endParaRPr>
          </a:p>
        </p:txBody>
      </p:sp>
      <p:sp>
        <p:nvSpPr>
          <p:cNvPr id="125" name="Google Shape;125;p5"/>
          <p:cNvSpPr txBox="1"/>
          <p:nvPr/>
        </p:nvSpPr>
        <p:spPr>
          <a:xfrm>
            <a:off x="5047488" y="1463039"/>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FFC000"/>
                </a:solidFill>
                <a:latin typeface="Inter"/>
                <a:ea typeface="Inter"/>
                <a:cs typeface="Inter"/>
                <a:sym typeface="Inter"/>
              </a:rPr>
              <a:t>YOUR TURN</a:t>
            </a:r>
            <a:endParaRPr b="0" i="0" spc="0" sz="1400" u="none" cap="none" strike="noStrike">
              <a:solidFill>
                <a:srgbClr val="FFC000"/>
              </a:solidFill>
              <a:latin typeface="Arial"/>
              <a:ea typeface="Arial"/>
              <a:cs typeface="Arial"/>
              <a:sym typeface="Arial"/>
            </a:endParaRPr>
          </a:p>
        </p:txBody>
      </p:sp>
      <p:sp>
        <p:nvSpPr>
          <p:cNvPr id="126" name="Google Shape;126;p5"/>
          <p:cNvSpPr txBox="1"/>
          <p:nvPr/>
        </p:nvSpPr>
        <p:spPr>
          <a:xfrm>
            <a:off x="5047488" y="1709928"/>
            <a:ext cx="3282600" cy="215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400"/>
              <a:buFont typeface="Arial"/>
              <a:buNone/>
            </a:pPr>
            <a:r>
              <a:rPr b="1" i="0" lang="en" spc="0" sz="1400" u="none" cap="none" strike="noStrike">
                <a:solidFill>
                  <a:srgbClr val="F6F4EF"/>
                </a:solidFill>
                <a:latin typeface="Space Grotesk"/>
                <a:ea typeface="Space Grotesk"/>
                <a:cs typeface="Space Grotesk"/>
                <a:sym typeface="Space Grotesk"/>
              </a:rPr>
              <a:t>Write the code, then share</a:t>
            </a:r>
            <a:endParaRPr b="0" i="0" spc="0" sz="1400" u="none" cap="none" strike="noStrike">
              <a:solidFill>
                <a:srgbClr val="000000"/>
              </a:solidFill>
              <a:latin typeface="Arial"/>
              <a:ea typeface="Arial"/>
              <a:cs typeface="Arial"/>
              <a:sym typeface="Arial"/>
            </a:endParaRPr>
          </a:p>
        </p:txBody>
      </p:sp>
      <p:sp>
        <p:nvSpPr>
          <p:cNvPr id="127" name="Google Shape;127;p5"/>
          <p:cNvSpPr txBox="1"/>
          <p:nvPr/>
        </p:nvSpPr>
        <p:spPr>
          <a:xfrm>
            <a:off x="5047488" y="2048255"/>
            <a:ext cx="3282600" cy="169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100"/>
              <a:buFont typeface="Arial"/>
              <a:buNone/>
            </a:pPr>
            <a:r>
              <a:rPr b="0" i="0" lang="en" spc="0" sz="1100" u="none" cap="none" strike="noStrike">
                <a:solidFill>
                  <a:srgbClr val="F6F4EF"/>
                </a:solidFill>
                <a:latin typeface="Inter"/>
                <a:ea typeface="Inter"/>
                <a:cs typeface="Inter"/>
                <a:sym typeface="Inter"/>
              </a:rPr>
              <a:t>Post your answer in the Zoom chat.</a:t>
            </a:r>
            <a:endParaRPr b="0" i="0" spc="0" sz="1400" u="none" cap="none" strike="noStrike">
              <a:solidFill>
                <a:srgbClr val="000000"/>
              </a:solidFill>
              <a:latin typeface="Arial"/>
              <a:ea typeface="Arial"/>
              <a:cs typeface="Arial"/>
              <a:sym typeface="Arial"/>
            </a:endParaRPr>
          </a:p>
        </p:txBody>
      </p:sp>
      <p:sp>
        <p:nvSpPr>
          <p:cNvPr id="128" name="Google Shape;128;p5"/>
          <p:cNvSpPr txBox="1"/>
          <p:nvPr/>
        </p:nvSpPr>
        <p:spPr>
          <a:xfrm>
            <a:off x="5047488" y="2441448"/>
            <a:ext cx="3282600" cy="37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050"/>
              <a:buFont typeface="Arial"/>
              <a:buNone/>
            </a:pPr>
            <a:r>
              <a:rPr b="1" i="0" lang="en" spc="0" sz="1050" u="none" cap="none" strike="noStrike">
                <a:solidFill>
                  <a:srgbClr val="E8A93A"/>
                </a:solidFill>
                <a:latin typeface="Courier New"/>
                <a:ea typeface="Courier New"/>
                <a:cs typeface="Courier New"/>
                <a:sym typeface="Courier New"/>
              </a:rPr>
              <a:t>Hint</a:t>
            </a:r>
            <a:r>
              <a:rPr b="0" i="0" lang="en" spc="0" sz="1050" u="none" cap="none" strike="noStrike">
                <a:solidFill>
                  <a:srgbClr val="F6F4EF"/>
                </a:solidFill>
                <a:latin typeface="Courier New"/>
                <a:ea typeface="Courier New"/>
                <a:cs typeface="Courier New"/>
                <a:sym typeface="Courier New"/>
              </a:rPr>
              <a:t xml:space="preserve">    open it if you are stuck</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50"/>
              <a:buFont typeface="Arial"/>
              <a:buNone/>
            </a:pPr>
            <a:r>
              <a:rPr b="1" i="0" lang="en" spc="0" sz="1050" u="none" cap="none" strike="noStrike">
                <a:solidFill>
                  <a:srgbClr val="E8A93A"/>
                </a:solidFill>
                <a:latin typeface="Courier New"/>
                <a:ea typeface="Courier New"/>
                <a:cs typeface="Courier New"/>
                <a:sym typeface="Courier New"/>
              </a:rPr>
              <a:t>Answer</a:t>
            </a:r>
            <a:r>
              <a:rPr b="0" i="0" lang="en" spc="0" sz="1050" u="none" cap="none" strike="noStrike">
                <a:solidFill>
                  <a:srgbClr val="F6F4EF"/>
                </a:solidFill>
                <a:latin typeface="Courier New"/>
                <a:ea typeface="Courier New"/>
                <a:cs typeface="Courier New"/>
                <a:sym typeface="Courier New"/>
              </a:rPr>
              <a:t xml:space="preserve">  open it only to check</a:t>
            </a:r>
            <a:endParaRPr b="0" i="0" spc="0" sz="1400" u="none" cap="none" strike="noStrike">
              <a:solidFill>
                <a:srgbClr val="000000"/>
              </a:solidFill>
              <a:latin typeface="Arial"/>
              <a:ea typeface="Arial"/>
              <a:cs typeface="Arial"/>
              <a:sym typeface="Arial"/>
            </a:endParaRPr>
          </a:p>
        </p:txBody>
      </p:sp>
      <p:sp>
        <p:nvSpPr>
          <p:cNvPr id="129" name="Google Shape;129;p5"/>
          <p:cNvSpPr/>
          <p:nvPr/>
        </p:nvSpPr>
        <p:spPr>
          <a:xfrm>
            <a:off x="612648" y="3337560"/>
            <a:ext cx="7918800" cy="10974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 name="Google Shape;130;p5"/>
          <p:cNvSpPr txBox="1"/>
          <p:nvPr/>
        </p:nvSpPr>
        <p:spPr>
          <a:xfrm>
            <a:off x="813816" y="3465576"/>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073763"/>
                </a:solidFill>
                <a:latin typeface="Inter"/>
                <a:ea typeface="Inter"/>
                <a:cs typeface="Inter"/>
                <a:sym typeface="Inter"/>
              </a:rPr>
              <a:t>EXAMPLE</a:t>
            </a:r>
            <a:endParaRPr b="0" i="0" spc="0" sz="1400" u="none" cap="none" strike="noStrike">
              <a:solidFill>
                <a:srgbClr val="073763"/>
              </a:solidFill>
              <a:latin typeface="Arial"/>
              <a:ea typeface="Arial"/>
              <a:cs typeface="Arial"/>
              <a:sym typeface="Arial"/>
            </a:endParaRPr>
          </a:p>
        </p:txBody>
      </p:sp>
      <p:sp>
        <p:nvSpPr>
          <p:cNvPr id="131" name="Google Shape;131;p5"/>
          <p:cNvSpPr txBox="1"/>
          <p:nvPr/>
        </p:nvSpPr>
        <p:spPr>
          <a:xfrm>
            <a:off x="867091" y="3828408"/>
            <a:ext cx="3154800" cy="1692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100"/>
              <a:buFont typeface="Arial"/>
              <a:buNone/>
            </a:pPr>
            <a:r>
              <a:rPr b="1" i="0" lang="en" spc="0" sz="1100" u="none" cap="none" strike="noStrike">
                <a:solidFill>
                  <a:srgbClr val="073763"/>
                </a:solidFill>
                <a:latin typeface="Inter"/>
                <a:ea typeface="Inter"/>
                <a:cs typeface="Inter"/>
                <a:sym typeface="Inter"/>
              </a:rPr>
              <a:t xml:space="preserve">Story: </a:t>
            </a:r>
            <a:r>
              <a:rPr b="0" i="0" lang="en" spc="0" sz="1100" u="none" cap="none" strike="noStrike">
                <a:solidFill>
                  <a:srgbClr val="073763"/>
                </a:solidFill>
                <a:latin typeface="Inter"/>
                <a:ea typeface="Inter"/>
                <a:cs typeface="Inter"/>
                <a:sym typeface="Inter"/>
              </a:rPr>
              <a:t>What share of planets were photographed?</a:t>
            </a:r>
            <a:endParaRPr b="0" i="0" spc="0" sz="1400" u="none" cap="none" strike="noStrike">
              <a:solidFill>
                <a:srgbClr val="073763"/>
              </a:solidFill>
              <a:latin typeface="Arial"/>
              <a:ea typeface="Arial"/>
              <a:cs typeface="Arial"/>
              <a:sym typeface="Arial"/>
            </a:endParaRPr>
          </a:p>
        </p:txBody>
      </p:sp>
      <p:sp>
        <p:nvSpPr>
          <p:cNvPr id="132" name="Google Shape;132;p5"/>
          <p:cNvSpPr/>
          <p:nvPr/>
        </p:nvSpPr>
        <p:spPr>
          <a:xfrm>
            <a:off x="4149679" y="3803837"/>
            <a:ext cx="292500" cy="201300"/>
          </a:xfrm>
          <a:prstGeom prst="rightArrow">
            <a:avLst>
              <a:gd fmla="val 50000" name="adj1"/>
              <a:gd fmla="val 50000" name="adj2"/>
            </a:avLst>
          </a:prstGeom>
          <a:noFill/>
          <a:ln cap="flat" cmpd="sng" w="9525">
            <a:solidFill>
              <a:srgbClr val="445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73763"/>
              </a:solidFill>
              <a:latin typeface="Arial"/>
              <a:ea typeface="Arial"/>
              <a:cs typeface="Arial"/>
              <a:sym typeface="Arial"/>
            </a:endParaRPr>
          </a:p>
        </p:txBody>
      </p:sp>
      <p:sp>
        <p:nvSpPr>
          <p:cNvPr id="133" name="Google Shape;133;p5"/>
          <p:cNvSpPr/>
          <p:nvPr/>
        </p:nvSpPr>
        <p:spPr>
          <a:xfrm>
            <a:off x="4846325" y="3566150"/>
            <a:ext cx="3502200" cy="685800"/>
          </a:xfrm>
          <a:prstGeom prst="roundRect">
            <a:avLst>
              <a:gd fmla="val 14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70AD47"/>
              </a:solidFill>
              <a:latin typeface="Arial"/>
              <a:ea typeface="Arial"/>
              <a:cs typeface="Arial"/>
              <a:sym typeface="Arial"/>
            </a:endParaRPr>
          </a:p>
        </p:txBody>
      </p:sp>
      <p:sp>
        <p:nvSpPr>
          <p:cNvPr id="134" name="Google Shape;134;p5"/>
          <p:cNvSpPr txBox="1"/>
          <p:nvPr/>
        </p:nvSpPr>
        <p:spPr>
          <a:xfrm>
            <a:off x="5047538" y="3718625"/>
            <a:ext cx="3282600" cy="3717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050"/>
              <a:buFont typeface="Arial"/>
              <a:buNone/>
            </a:pPr>
            <a:r>
              <a:rPr b="0" i="0" lang="en" spc="0" sz="1050" u="none" cap="none" strike="noStrike">
                <a:solidFill>
                  <a:srgbClr val="F6F4EF"/>
                </a:solidFill>
                <a:latin typeface="Courier New"/>
                <a:ea typeface="Courier New"/>
                <a:cs typeface="Courier New"/>
                <a:sym typeface="Courier New"/>
              </a:rPr>
              <a:t>(planets["discovery_method"]</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50"/>
              <a:buFont typeface="Arial"/>
              <a:buNone/>
            </a:pPr>
            <a:r>
              <a:rPr b="0" i="0" lang="en" spc="0" sz="1050" u="none" cap="none" strike="noStrike">
                <a:solidFill>
                  <a:srgbClr val="F6F4EF"/>
                </a:solidFill>
                <a:latin typeface="Courier New"/>
                <a:ea typeface="Courier New"/>
                <a:cs typeface="Courier New"/>
                <a:sym typeface="Courier New"/>
              </a:rPr>
              <a:t xml:space="preserve">    == "Imaging").</a:t>
            </a:r>
            <a:r>
              <a:rPr b="1" i="0" lang="en" spc="0" sz="1050" u="none" cap="none" strike="noStrike">
                <a:solidFill>
                  <a:srgbClr val="E8A93A"/>
                </a:solidFill>
                <a:latin typeface="Courier New"/>
                <a:ea typeface="Courier New"/>
                <a:cs typeface="Courier New"/>
                <a:sym typeface="Courier New"/>
              </a:rPr>
              <a:t>mean</a:t>
            </a:r>
            <a:r>
              <a:rPr b="0" i="0" lang="en" spc="0" sz="1050" u="none" cap="none" strike="noStrike">
                <a:solidFill>
                  <a:srgbClr val="F6F4EF"/>
                </a:solidFill>
                <a:latin typeface="Courier New"/>
                <a:ea typeface="Courier New"/>
                <a:cs typeface="Courier New"/>
                <a:sym typeface="Courier New"/>
              </a:rPr>
              <a:t>()</a:t>
            </a:r>
            <a:endParaRPr b="0" i="0" spc="0" sz="1400" u="none" cap="none" strike="noStrike">
              <a:solidFill>
                <a:srgbClr val="000000"/>
              </a:solidFill>
              <a:latin typeface="Arial"/>
              <a:ea typeface="Arial"/>
              <a:cs typeface="Arial"/>
              <a:sym typeface="Arial"/>
            </a:endParaRPr>
          </a:p>
        </p:txBody>
      </p:sp>
      <p:sp>
        <p:nvSpPr>
          <p:cNvPr id="135" name="Google Shape;135;p5"/>
          <p:cNvSpPr/>
          <p:nvPr/>
        </p:nvSpPr>
        <p:spPr>
          <a:xfrm>
            <a:off x="4441717" y="2112212"/>
            <a:ext cx="292500" cy="201300"/>
          </a:xfrm>
          <a:prstGeom prst="rightArrow">
            <a:avLst>
              <a:gd fmla="val 50000" name="adj1"/>
              <a:gd fmla="val 50000" name="adj2"/>
            </a:avLst>
          </a:prstGeom>
          <a:noFill/>
          <a:ln cap="flat" cmpd="sng" w="9525">
            <a:solidFill>
              <a:srgbClr val="625D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7376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326" name="Shape 326"/>
        <p:cNvGrpSpPr/>
        <p:nvPr/>
      </p:nvGrpSpPr>
      <p:grpSpPr>
        <a:xfrm>
          <a:off x="0" y="0"/>
          <a:ext cx="0" cy="0"/>
          <a:chOff x="0" y="0"/>
          <a:chExt cx="0" cy="0"/>
        </a:xfrm>
      </p:grpSpPr>
      <p:sp>
        <p:nvSpPr>
          <p:cNvPr id="327" name="Google Shape;327;p10"/>
          <p:cNvSpPr/>
          <p:nvPr/>
        </p:nvSpPr>
        <p:spPr>
          <a:xfrm>
            <a:off x="609591" y="609591"/>
            <a:ext cx="8162564" cy="39623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2700"/>
              <a:buFont typeface="Space Grotesk"/>
              <a:buNone/>
            </a:pPr>
            <a:r>
              <a:rPr b="1" i="0" lang="en" spc="0" sz="2700" u="none" cap="none" strike="noStrike">
                <a:solidFill>
                  <a:schemeClr val="dk1"/>
                </a:solidFill>
                <a:latin typeface="Space Grotesk"/>
                <a:ea typeface="Space Grotesk"/>
                <a:cs typeface="Space Grotesk"/>
                <a:sym typeface="Space Grotesk"/>
              </a:rPr>
              <a:t>Today's plan: the EDA workflow</a:t>
            </a:r>
            <a:endParaRPr b="0" i="0" spc="0" sz="2700" u="none" cap="none" strike="noStrike">
              <a:solidFill>
                <a:schemeClr val="dk1"/>
              </a:solidFill>
              <a:latin typeface="Calibri"/>
              <a:ea typeface="Calibri"/>
              <a:cs typeface="Calibri"/>
              <a:sym typeface="Calibri"/>
            </a:endParaRPr>
          </a:p>
        </p:txBody>
      </p:sp>
      <p:cxnSp>
        <p:nvCxnSpPr>
          <p:cNvPr id="328" name="Google Shape;328;p10"/>
          <p:cNvCxnSpPr/>
          <p:nvPr/>
        </p:nvCxnSpPr>
        <p:spPr>
          <a:xfrm>
            <a:off x="612648" y="2145767"/>
            <a:ext cx="1463040" cy="0"/>
          </a:xfrm>
          <a:prstGeom prst="straightConnector1">
            <a:avLst/>
          </a:prstGeom>
          <a:noFill/>
          <a:ln cap="flat" cmpd="sng" w="25400">
            <a:solidFill>
              <a:srgbClr val="FDFCFA"/>
            </a:solidFill>
            <a:prstDash val="solid"/>
            <a:round/>
            <a:headEnd len="sm" w="sm" type="none"/>
            <a:tailEnd len="sm" w="sm" type="none"/>
          </a:ln>
        </p:spPr>
      </p:cxnSp>
      <p:sp>
        <p:nvSpPr>
          <p:cNvPr id="329" name="Google Shape;329;p10"/>
          <p:cNvSpPr/>
          <p:nvPr/>
        </p:nvSpPr>
        <p:spPr>
          <a:xfrm>
            <a:off x="612648" y="2306464"/>
            <a:ext cx="1554480"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300" u="none" cap="none" strike="noStrike">
                <a:solidFill>
                  <a:srgbClr val="3D3947"/>
                </a:solidFill>
                <a:latin typeface="Space Grotesk"/>
                <a:ea typeface="Space Grotesk"/>
                <a:cs typeface="Space Grotesk"/>
                <a:sym typeface="Space Grotesk"/>
              </a:rPr>
              <a:t>2 · The dataset</a:t>
            </a:r>
            <a:endParaRPr b="0" i="0" spc="0" sz="1500" u="none" cap="none" strike="noStrike">
              <a:solidFill>
                <a:srgbClr val="3D3947"/>
              </a:solidFill>
              <a:latin typeface="Calibri"/>
              <a:ea typeface="Calibri"/>
              <a:cs typeface="Calibri"/>
              <a:sym typeface="Calibri"/>
            </a:endParaRPr>
          </a:p>
        </p:txBody>
      </p:sp>
      <p:sp>
        <p:nvSpPr>
          <p:cNvPr id="330" name="Google Shape;330;p10"/>
          <p:cNvSpPr/>
          <p:nvPr/>
        </p:nvSpPr>
        <p:spPr>
          <a:xfrm>
            <a:off x="612648" y="2611213"/>
            <a:ext cx="146304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What did we load? Rows, columns, data types and summary statistics.</a:t>
            </a:r>
            <a:endParaRPr b="0" i="0" spc="0" sz="1100" u="none" cap="none" strike="noStrike">
              <a:solidFill>
                <a:srgbClr val="3D3947"/>
              </a:solidFill>
              <a:latin typeface="Calibri"/>
              <a:ea typeface="Calibri"/>
              <a:cs typeface="Calibri"/>
              <a:sym typeface="Calibri"/>
            </a:endParaRPr>
          </a:p>
        </p:txBody>
      </p:sp>
      <p:cxnSp>
        <p:nvCxnSpPr>
          <p:cNvPr id="331" name="Google Shape;331;p10"/>
          <p:cNvCxnSpPr/>
          <p:nvPr/>
        </p:nvCxnSpPr>
        <p:spPr>
          <a:xfrm>
            <a:off x="2226564" y="2145767"/>
            <a:ext cx="1463040" cy="0"/>
          </a:xfrm>
          <a:prstGeom prst="straightConnector1">
            <a:avLst/>
          </a:prstGeom>
          <a:noFill/>
          <a:ln cap="flat" cmpd="sng" w="25400">
            <a:solidFill>
              <a:srgbClr val="FDFCFA"/>
            </a:solidFill>
            <a:prstDash val="solid"/>
            <a:round/>
            <a:headEnd len="sm" w="sm" type="none"/>
            <a:tailEnd len="sm" w="sm" type="none"/>
          </a:ln>
        </p:spPr>
      </p:cxnSp>
      <p:sp>
        <p:nvSpPr>
          <p:cNvPr id="332" name="Google Shape;332;p10"/>
          <p:cNvSpPr/>
          <p:nvPr/>
        </p:nvSpPr>
        <p:spPr>
          <a:xfrm>
            <a:off x="2226564" y="2306464"/>
            <a:ext cx="1554480"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300" u="none" cap="none" strike="noStrike">
                <a:solidFill>
                  <a:srgbClr val="3D3947"/>
                </a:solidFill>
                <a:latin typeface="Space Grotesk"/>
                <a:ea typeface="Space Grotesk"/>
                <a:cs typeface="Space Grotesk"/>
                <a:sym typeface="Space Grotesk"/>
              </a:rPr>
              <a:t>3 · Data quality</a:t>
            </a:r>
            <a:endParaRPr b="0" i="0" spc="0" sz="1500" u="none" cap="none" strike="noStrike">
              <a:solidFill>
                <a:srgbClr val="3D3947"/>
              </a:solidFill>
              <a:latin typeface="Calibri"/>
              <a:ea typeface="Calibri"/>
              <a:cs typeface="Calibri"/>
              <a:sym typeface="Calibri"/>
            </a:endParaRPr>
          </a:p>
        </p:txBody>
      </p:sp>
      <p:sp>
        <p:nvSpPr>
          <p:cNvPr id="333" name="Google Shape;333;p10"/>
          <p:cNvSpPr/>
          <p:nvPr/>
        </p:nvSpPr>
        <p:spPr>
          <a:xfrm>
            <a:off x="2226564" y="2611213"/>
            <a:ext cx="146304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Can we trust it? Data Story 1: missing values and duplicates.</a:t>
            </a:r>
            <a:endParaRPr b="0" i="0" spc="0" sz="1100" u="none" cap="none" strike="noStrike">
              <a:solidFill>
                <a:srgbClr val="3D3947"/>
              </a:solidFill>
              <a:latin typeface="Calibri"/>
              <a:ea typeface="Calibri"/>
              <a:cs typeface="Calibri"/>
              <a:sym typeface="Calibri"/>
            </a:endParaRPr>
          </a:p>
        </p:txBody>
      </p:sp>
      <p:cxnSp>
        <p:nvCxnSpPr>
          <p:cNvPr id="334" name="Google Shape;334;p10"/>
          <p:cNvCxnSpPr/>
          <p:nvPr/>
        </p:nvCxnSpPr>
        <p:spPr>
          <a:xfrm>
            <a:off x="3840480" y="2145767"/>
            <a:ext cx="1463040" cy="0"/>
          </a:xfrm>
          <a:prstGeom prst="straightConnector1">
            <a:avLst/>
          </a:prstGeom>
          <a:noFill/>
          <a:ln cap="flat" cmpd="sng" w="25400">
            <a:solidFill>
              <a:srgbClr val="FDFCFA"/>
            </a:solidFill>
            <a:prstDash val="solid"/>
            <a:round/>
            <a:headEnd len="sm" w="sm" type="none"/>
            <a:tailEnd len="sm" w="sm" type="none"/>
          </a:ln>
        </p:spPr>
      </p:cxnSp>
      <p:cxnSp>
        <p:nvCxnSpPr>
          <p:cNvPr id="913" name="Week3 shape 913"/>
          <p:cNvCxnSpPr/>
          <p:nvPr/>
        </p:nvCxnSpPr>
        <p:spPr>
          <a:xfrm>
            <a:off x="7068312" y="2145767"/>
            <a:ext cx="1463040" cy="0"/>
          </a:xfrm>
          <a:prstGeom prst="straightConnector1">
            <a:avLst/>
          </a:prstGeom>
          <a:noFill/>
          <a:ln cap="flat" cmpd="sng" w="25400">
            <a:solidFill>
              <a:srgbClr val="FDFCFA"/>
            </a:solidFill>
            <a:prstDash val="solid"/>
            <a:round/>
            <a:headEnd len="sm" w="sm" type="none"/>
            <a:tailEnd len="sm" w="sm" type="none"/>
          </a:ln>
        </p:spPr>
      </p:cxnSp>
      <p:cxnSp>
        <p:nvCxnSpPr>
          <p:cNvPr id="910" name="Week3 shape 910"/>
          <p:cNvCxnSpPr/>
          <p:nvPr/>
        </p:nvCxnSpPr>
        <p:spPr>
          <a:xfrm>
            <a:off x="5454396" y="2145767"/>
            <a:ext cx="1463040" cy="0"/>
          </a:xfrm>
          <a:prstGeom prst="straightConnector1">
            <a:avLst/>
          </a:prstGeom>
          <a:noFill/>
          <a:ln cap="flat" cmpd="sng" w="25400">
            <a:solidFill>
              <a:srgbClr val="FDFCFA"/>
            </a:solidFill>
            <a:prstDash val="solid"/>
            <a:round/>
            <a:headEnd len="sm" w="sm" type="none"/>
            <a:tailEnd len="sm" w="sm" type="none"/>
          </a:ln>
        </p:spPr>
      </p:cxnSp>
      <p:sp>
        <p:nvSpPr>
          <p:cNvPr id="335" name="Google Shape;335;p10"/>
          <p:cNvSpPr/>
          <p:nvPr/>
        </p:nvSpPr>
        <p:spPr>
          <a:xfrm>
            <a:off x="3840480" y="2306464"/>
            <a:ext cx="1554480"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300" u="none" cap="none" strike="noStrike">
                <a:solidFill>
                  <a:srgbClr val="3D3947"/>
                </a:solidFill>
                <a:latin typeface="Space Grotesk"/>
                <a:ea typeface="Space Grotesk"/>
                <a:cs typeface="Space Grotesk"/>
                <a:sym typeface="Space Grotesk"/>
              </a:rPr>
              <a:t>4 · One column</a:t>
            </a:r>
            <a:endParaRPr b="0" i="0" spc="0" sz="1500" u="none" cap="none" strike="noStrike">
              <a:solidFill>
                <a:srgbClr val="3D3947"/>
              </a:solidFill>
              <a:latin typeface="Calibri"/>
              <a:ea typeface="Calibri"/>
              <a:cs typeface="Calibri"/>
              <a:sym typeface="Calibri"/>
            </a:endParaRPr>
          </a:p>
        </p:txBody>
      </p:sp>
      <p:sp>
        <p:nvSpPr>
          <p:cNvPr id="914" name="Week3 shape 914"/>
          <p:cNvSpPr/>
          <p:nvPr/>
        </p:nvSpPr>
        <p:spPr>
          <a:xfrm>
            <a:off x="7068312" y="2306464"/>
            <a:ext cx="1554480"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300" u="none" cap="none" strike="noStrike">
                <a:solidFill>
                  <a:srgbClr val="3D3947"/>
                </a:solidFill>
                <a:latin typeface="Space Grotesk"/>
                <a:ea typeface="Space Grotesk"/>
                <a:cs typeface="Space Grotesk"/>
                <a:sym typeface="Space Grotesk"/>
              </a:rPr>
              <a:t>6 · Insights</a:t>
            </a:r>
            <a:endParaRPr b="0" i="0" spc="0" sz="1500" u="none" cap="none" strike="noStrike">
              <a:solidFill>
                <a:srgbClr val="3D3947"/>
              </a:solidFill>
              <a:latin typeface="Calibri"/>
              <a:ea typeface="Calibri"/>
              <a:cs typeface="Calibri"/>
              <a:sym typeface="Calibri"/>
            </a:endParaRPr>
          </a:p>
        </p:txBody>
      </p:sp>
      <p:sp>
        <p:nvSpPr>
          <p:cNvPr id="911" name="Week3 shape 911"/>
          <p:cNvSpPr/>
          <p:nvPr/>
        </p:nvSpPr>
        <p:spPr>
          <a:xfrm>
            <a:off x="5454396" y="2306464"/>
            <a:ext cx="1554480"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300" u="none" cap="none" strike="noStrike">
                <a:solidFill>
                  <a:srgbClr val="3D3947"/>
                </a:solidFill>
                <a:latin typeface="Space Grotesk"/>
                <a:ea typeface="Space Grotesk"/>
                <a:cs typeface="Space Grotesk"/>
                <a:sym typeface="Space Grotesk"/>
              </a:rPr>
              <a:t>5 · Two columns</a:t>
            </a:r>
            <a:endParaRPr b="0" i="0" spc="0" sz="1500" u="none" cap="none" strike="noStrike">
              <a:solidFill>
                <a:srgbClr val="3D3947"/>
              </a:solidFill>
              <a:latin typeface="Calibri"/>
              <a:ea typeface="Calibri"/>
              <a:cs typeface="Calibri"/>
              <a:sym typeface="Calibri"/>
            </a:endParaRPr>
          </a:p>
        </p:txBody>
      </p:sp>
      <p:sp>
        <p:nvSpPr>
          <p:cNvPr id="336" name="Google Shape;336;p10"/>
          <p:cNvSpPr/>
          <p:nvPr/>
        </p:nvSpPr>
        <p:spPr>
          <a:xfrm>
            <a:off x="3840480" y="2611213"/>
            <a:ext cx="146304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What does one column look like? Histograms, log scales, box plots.</a:t>
            </a:r>
            <a:endParaRPr b="0" i="0" spc="0" sz="1100" u="none" cap="none" strike="noStrike">
              <a:solidFill>
                <a:srgbClr val="3D3947"/>
              </a:solidFill>
              <a:latin typeface="Calibri"/>
              <a:ea typeface="Calibri"/>
              <a:cs typeface="Calibri"/>
              <a:sym typeface="Calibri"/>
            </a:endParaRPr>
          </a:p>
        </p:txBody>
      </p:sp>
      <p:sp>
        <p:nvSpPr>
          <p:cNvPr id="915" name="Week3 shape 915"/>
          <p:cNvSpPr/>
          <p:nvPr/>
        </p:nvSpPr>
        <p:spPr>
          <a:xfrm>
            <a:off x="7068312" y="2611213"/>
            <a:ext cx="146304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What did we learn? Short insights, each backed by a number.</a:t>
            </a:r>
            <a:endParaRPr b="0" i="0" spc="0" sz="1100" u="none" cap="none" strike="noStrike">
              <a:solidFill>
                <a:srgbClr val="3D3947"/>
              </a:solidFill>
              <a:latin typeface="Calibri"/>
              <a:ea typeface="Calibri"/>
              <a:cs typeface="Calibri"/>
              <a:sym typeface="Calibri"/>
            </a:endParaRPr>
          </a:p>
        </p:txBody>
      </p:sp>
      <p:sp>
        <p:nvSpPr>
          <p:cNvPr id="912" name="Week3 shape 912"/>
          <p:cNvSpPr/>
          <p:nvPr/>
        </p:nvSpPr>
        <p:spPr>
          <a:xfrm>
            <a:off x="5454396" y="2611213"/>
            <a:ext cx="146304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How do two columns move together? Data Story 2: scatter plots, correlation.</a:t>
            </a:r>
            <a:endParaRPr b="0" i="0" spc="0" sz="1100" u="none" cap="none" strike="noStrike">
              <a:solidFill>
                <a:srgbClr val="3D3947"/>
              </a:solidFill>
              <a:latin typeface="Calibri"/>
              <a:ea typeface="Calibri"/>
              <a:cs typeface="Calibri"/>
              <a:sym typeface="Calibri"/>
            </a:endParaRPr>
          </a:p>
        </p:txBody>
      </p:sp>
      <p:pic>
        <p:nvPicPr>
          <p:cNvPr id="337" name="Google Shape;337;p10" title="NYUTandon_LongLogo_Black.png"/>
          <p:cNvPicPr preferRelativeResize="0"/>
          <p:nvPr/>
        </p:nvPicPr>
        <p:blipFill rotWithShape="1">
          <a:blip r:embed="rId3">
            <a:alphaModFix/>
          </a:blip>
          <a:srcRect b="0" l="0" r="0" t="0"/>
          <a:stretch/>
        </p:blipFill>
        <p:spPr>
          <a:xfrm>
            <a:off x="118474" y="96475"/>
            <a:ext cx="1826033" cy="287100"/>
          </a:xfrm>
          <a:prstGeom prst="rect">
            <a:avLst/>
          </a:prstGeom>
          <a:noFill/>
          <a:ln>
            <a:noFill/>
          </a:ln>
        </p:spPr>
      </p:pic>
      <p:sp>
        <p:nvSpPr>
          <p:cNvPr id="338" name="Google Shape;338;p10"/>
          <p:cNvSpPr/>
          <p:nvPr/>
        </p:nvSpPr>
        <p:spPr>
          <a:xfrm>
            <a:off x="118466" y="489124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700" u="none" cap="none" strike="noStrike">
                <a:solidFill>
                  <a:srgbClr val="625D6E"/>
                </a:solidFill>
                <a:latin typeface="Inter"/>
                <a:ea typeface="Inter"/>
                <a:cs typeface="Inter"/>
                <a:sym typeface="Inter"/>
              </a:rPr>
              <a:t>Data Science Bootcamp · Fall 2026</a:t>
            </a:r>
            <a:endParaRPr b="0" i="0" spc="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EE6"/>
            </a:gs>
            <a:gs pos="100000">
              <a:srgbClr val="E0E3FD"/>
            </a:gs>
          </a:gsLst>
          <a:path path="circle">
            <a:fillToRect b="0%" l="0%" r="100%" t="100%"/>
          </a:path>
          <a:tileRect b="-100%" l="-100%" r="0%" t="0%"/>
        </a:gradFill>
      </p:bgPr>
    </p:bg>
    <p:spTree>
      <p:nvGrpSpPr>
        <p:cNvPr id="256" name="Shape 256"/>
        <p:cNvGrpSpPr/>
        <p:nvPr/>
      </p:nvGrpSpPr>
      <p:grpSpPr>
        <a:xfrm>
          <a:off x="0" y="0"/>
          <a:ext cx="0" cy="0"/>
          <a:chOff x="0" y="0"/>
          <a:chExt cx="0" cy="0"/>
        </a:xfrm>
      </p:grpSpPr>
      <p:pic>
        <p:nvPicPr>
          <p:cNvPr descr="image.png" id="257" name="Google Shape;257;p8"/>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258" name="Google Shape;258;p8"/>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SECTION 2 · UNDERSTANDING THE DATASET</a:t>
            </a:r>
            <a:endParaRPr b="0" i="0" spc="0" sz="1400" u="none" cap="none" strike="noStrike">
              <a:solidFill>
                <a:srgbClr val="000000"/>
              </a:solidFill>
              <a:latin typeface="Arial"/>
              <a:ea typeface="Arial"/>
              <a:cs typeface="Arial"/>
              <a:sym typeface="Arial"/>
            </a:endParaRPr>
          </a:p>
        </p:txBody>
      </p:sp>
      <p:sp>
        <p:nvSpPr>
          <p:cNvPr id="259" name="Google Shape;259;p8"/>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 spc="0" sz="2700" u="none" cap="none" strike="noStrike">
                <a:solidFill>
                  <a:srgbClr val="1D1B24"/>
                </a:solidFill>
                <a:latin typeface="Space Grotesk"/>
                <a:ea typeface="Space Grotesk"/>
                <a:cs typeface="Space Grotesk"/>
                <a:sym typeface="Space Grotesk"/>
              </a:rPr>
              <a:t>Meet the planets</a:t>
            </a:r>
            <a:endParaRPr b="0" i="0" spc="0" sz="1400" u="none" cap="none" strike="noStrike">
              <a:solidFill>
                <a:srgbClr val="000000"/>
              </a:solidFill>
              <a:latin typeface="Arial"/>
              <a:ea typeface="Arial"/>
              <a:cs typeface="Arial"/>
              <a:sym typeface="Arial"/>
            </a:endParaRPr>
          </a:p>
        </p:txBody>
      </p:sp>
      <p:sp>
        <p:nvSpPr>
          <p:cNvPr id="260" name="Google Shape;260;p8"/>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0" i="0" lang="en" spc="0" sz="900" u="none" cap="none" strike="noStrike">
                <a:solidFill>
                  <a:srgbClr val="625D6E"/>
                </a:solidFill>
                <a:latin typeface="Inter"/>
                <a:ea typeface="Inter"/>
                <a:cs typeface="Inter"/>
                <a:sym typeface="Inter"/>
              </a:rPr>
              <a:t>Data Science Bootcamp · Fall 2026</a:t>
            </a:r>
            <a:endParaRPr b="0" i="0" spc="0" sz="1400" u="none" cap="none" strike="noStrike">
              <a:solidFill>
                <a:srgbClr val="000000"/>
              </a:solidFill>
              <a:latin typeface="Arial"/>
              <a:ea typeface="Arial"/>
              <a:cs typeface="Arial"/>
              <a:sym typeface="Arial"/>
            </a:endParaRPr>
          </a:p>
        </p:txBody>
      </p:sp>
      <p:sp>
        <p:nvSpPr>
          <p:cNvPr id="261" name="Google Shape;261;p8"/>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Clr>
                <a:srgbClr val="000000"/>
              </a:buClr>
              <a:buSzPts val="900"/>
              <a:buFont typeface="Arial"/>
              <a:buNone/>
            </a:pPr>
            <a:fld id="{00000000-1234-1234-1234-123412341234}" type="slidenum">
              <a:rPr b="0" i="0" lang="en" spc="0" sz="900" u="none" cap="none" strike="noStrike">
                <a:solidFill>
                  <a:srgbClr val="625D6E"/>
                </a:solidFill>
                <a:latin typeface="Inter"/>
                <a:ea typeface="Inter"/>
                <a:cs typeface="Inter"/>
                <a:sym typeface="Inter"/>
              </a:rPr>
              <a:t>‹#›</a:t>
            </a:fld>
            <a:endParaRPr b="0" i="0" spc="0" sz="1400" u="none" cap="none" strike="noStrike">
              <a:solidFill>
                <a:srgbClr val="000000"/>
              </a:solidFill>
              <a:latin typeface="Arial"/>
              <a:ea typeface="Arial"/>
              <a:cs typeface="Arial"/>
              <a:sym typeface="Arial"/>
            </a:endParaRPr>
          </a:p>
        </p:txBody>
      </p:sp>
      <p:sp>
        <p:nvSpPr>
          <p:cNvPr id="262" name="Google Shape;262;p8"/>
          <p:cNvSpPr txBox="1"/>
          <p:nvPr/>
        </p:nvSpPr>
        <p:spPr>
          <a:xfrm>
            <a:off x="630936" y="12435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THE STORY</a:t>
            </a:r>
            <a:endParaRPr b="0" i="0" spc="0" sz="1400" u="none" cap="none" strike="noStrike">
              <a:solidFill>
                <a:srgbClr val="000000"/>
              </a:solidFill>
              <a:latin typeface="Arial"/>
              <a:ea typeface="Arial"/>
              <a:cs typeface="Arial"/>
              <a:sym typeface="Arial"/>
            </a:endParaRPr>
          </a:p>
        </p:txBody>
      </p:sp>
      <p:sp>
        <p:nvSpPr>
          <p:cNvPr id="263" name="Google Shape;263;p8"/>
          <p:cNvSpPr txBox="1"/>
          <p:nvPr/>
        </p:nvSpPr>
        <p:spPr>
          <a:xfrm>
            <a:off x="4700016" y="12435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351C75"/>
                </a:solidFill>
                <a:latin typeface="Inter"/>
                <a:ea typeface="Inter"/>
                <a:cs typeface="Inter"/>
                <a:sym typeface="Inter"/>
              </a:rPr>
              <a:t>THE TOOL</a:t>
            </a:r>
            <a:endParaRPr b="0" i="0" spc="0" sz="1400" u="none" cap="none" strike="noStrike">
              <a:solidFill>
                <a:srgbClr val="000000"/>
              </a:solidFill>
              <a:latin typeface="Arial"/>
              <a:ea typeface="Arial"/>
              <a:cs typeface="Arial"/>
              <a:sym typeface="Arial"/>
            </a:endParaRPr>
          </a:p>
        </p:txBody>
      </p:sp>
      <p:sp>
        <p:nvSpPr>
          <p:cNvPr id="264" name="Google Shape;264;p8"/>
          <p:cNvSpPr/>
          <p:nvPr/>
        </p:nvSpPr>
        <p:spPr>
          <a:xfrm>
            <a:off x="612648" y="1481328"/>
            <a:ext cx="3612000" cy="5121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5" name="Google Shape;265;p8"/>
          <p:cNvSpPr txBox="1"/>
          <p:nvPr/>
        </p:nvSpPr>
        <p:spPr>
          <a:xfrm>
            <a:off x="777215" y="1636778"/>
            <a:ext cx="3282600" cy="1692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What did we just load? How big is it?</a:t>
            </a:r>
            <a:endParaRPr b="0" i="0" spc="0" sz="1400" u="none" cap="none" strike="noStrike">
              <a:solidFill>
                <a:srgbClr val="000000"/>
              </a:solidFill>
              <a:latin typeface="Arial"/>
              <a:ea typeface="Arial"/>
              <a:cs typeface="Arial"/>
              <a:sym typeface="Arial"/>
            </a:endParaRPr>
          </a:p>
        </p:txBody>
      </p:sp>
      <p:sp>
        <p:nvSpPr>
          <p:cNvPr id="266" name="Google Shape;266;p8"/>
          <p:cNvSpPr/>
          <p:nvPr/>
        </p:nvSpPr>
        <p:spPr>
          <a:xfrm>
            <a:off x="4306824" y="1636776"/>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7" name="Google Shape;267;p8"/>
          <p:cNvSpPr/>
          <p:nvPr/>
        </p:nvSpPr>
        <p:spPr>
          <a:xfrm>
            <a:off x="4681728" y="1481328"/>
            <a:ext cx="3849600" cy="5121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8" name="Google Shape;268;p8"/>
          <p:cNvSpPr txBox="1"/>
          <p:nvPr/>
        </p:nvSpPr>
        <p:spPr>
          <a:xfrm>
            <a:off x="4846320" y="1539431"/>
            <a:ext cx="3520500" cy="3540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planets_raw.</a:t>
            </a:r>
            <a:r>
              <a:rPr b="1" i="0" lang="en" spc="0" sz="1000" u="none" cap="none" strike="noStrike">
                <a:solidFill>
                  <a:srgbClr val="E8A93A"/>
                </a:solidFill>
                <a:latin typeface="Courier New"/>
                <a:ea typeface="Courier New"/>
                <a:cs typeface="Courier New"/>
                <a:sym typeface="Courier New"/>
              </a:rPr>
              <a:t>head</a:t>
            </a:r>
            <a:r>
              <a:rPr b="0" i="0" lang="en" spc="0" sz="1000" u="none" cap="none" strike="noStrike">
                <a:solidFill>
                  <a:srgbClr val="F6F4EF"/>
                </a:solidFill>
                <a:latin typeface="Courier New"/>
                <a:ea typeface="Courier New"/>
                <a:cs typeface="Courier New"/>
                <a:sym typeface="Courier New"/>
              </a:rPr>
              <a:t>()  planets_raw.</a:t>
            </a:r>
            <a:r>
              <a:rPr b="1" i="0" lang="en" spc="0" sz="1000" u="none" cap="none" strike="noStrike">
                <a:solidFill>
                  <a:srgbClr val="E8A93A"/>
                </a:solidFill>
                <a:latin typeface="Courier New"/>
                <a:ea typeface="Courier New"/>
                <a:cs typeface="Courier New"/>
                <a:sym typeface="Courier New"/>
              </a:rPr>
              <a:t>sample</a:t>
            </a:r>
            <a:r>
              <a:rPr b="0" i="0" lang="en" spc="0" sz="1000" u="none" cap="none" strike="noStrike">
                <a:solidFill>
                  <a:srgbClr val="F6F4EF"/>
                </a:solidFill>
                <a:latin typeface="Courier New"/>
                <a:ea typeface="Courier New"/>
                <a:cs typeface="Courier New"/>
                <a:sym typeface="Courier New"/>
              </a:rPr>
              <a:t>(5)</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planets_raw.</a:t>
            </a:r>
            <a:r>
              <a:rPr b="1" i="0" lang="en" spc="0" sz="1000" u="none" cap="none" strike="noStrike">
                <a:solidFill>
                  <a:srgbClr val="E8A93A"/>
                </a:solidFill>
                <a:latin typeface="Courier New"/>
                <a:ea typeface="Courier New"/>
                <a:cs typeface="Courier New"/>
                <a:sym typeface="Courier New"/>
              </a:rPr>
              <a:t>shape</a:t>
            </a:r>
            <a:r>
              <a:rPr b="0" i="0" lang="en" spc="0" sz="1000" u="none" cap="none" strike="noStrike">
                <a:solidFill>
                  <a:srgbClr val="F6F4EF"/>
                </a:solidFill>
                <a:latin typeface="Courier New"/>
                <a:ea typeface="Courier New"/>
                <a:cs typeface="Courier New"/>
                <a:sym typeface="Courier New"/>
              </a:rPr>
              <a:t xml:space="preserve">  planets_raw.</a:t>
            </a:r>
            <a:r>
              <a:rPr b="1" i="0" lang="en" spc="0" sz="1000" u="none" cap="none" strike="noStrike">
                <a:solidFill>
                  <a:srgbClr val="E8A93A"/>
                </a:solidFill>
                <a:latin typeface="Courier New"/>
                <a:ea typeface="Courier New"/>
                <a:cs typeface="Courier New"/>
                <a:sym typeface="Courier New"/>
              </a:rPr>
              <a:t>dtypes</a:t>
            </a:r>
            <a:endParaRPr b="0" i="0" spc="0" sz="1400" u="none" cap="none" strike="noStrike">
              <a:solidFill>
                <a:srgbClr val="000000"/>
              </a:solidFill>
              <a:latin typeface="Arial"/>
              <a:ea typeface="Arial"/>
              <a:cs typeface="Arial"/>
              <a:sym typeface="Arial"/>
            </a:endParaRPr>
          </a:p>
        </p:txBody>
      </p:sp>
      <p:sp>
        <p:nvSpPr>
          <p:cNvPr id="269" name="Google Shape;269;p8"/>
          <p:cNvSpPr/>
          <p:nvPr/>
        </p:nvSpPr>
        <p:spPr>
          <a:xfrm>
            <a:off x="612648" y="2066544"/>
            <a:ext cx="3612000" cy="5121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0" name="Google Shape;270;p8"/>
          <p:cNvSpPr txBox="1"/>
          <p:nvPr/>
        </p:nvSpPr>
        <p:spPr>
          <a:xfrm>
            <a:off x="777215" y="2221994"/>
            <a:ext cx="3282600" cy="1692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Why is discovery_year a decimal (2007.0)?</a:t>
            </a:r>
            <a:endParaRPr b="0" i="0" spc="0" sz="1400" u="none" cap="none" strike="noStrike">
              <a:solidFill>
                <a:srgbClr val="000000"/>
              </a:solidFill>
              <a:latin typeface="Arial"/>
              <a:ea typeface="Arial"/>
              <a:cs typeface="Arial"/>
              <a:sym typeface="Arial"/>
            </a:endParaRPr>
          </a:p>
        </p:txBody>
      </p:sp>
      <p:sp>
        <p:nvSpPr>
          <p:cNvPr id="271" name="Google Shape;271;p8"/>
          <p:cNvSpPr/>
          <p:nvPr/>
        </p:nvSpPr>
        <p:spPr>
          <a:xfrm>
            <a:off x="4306824" y="2221992"/>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2" name="Google Shape;272;p8"/>
          <p:cNvSpPr/>
          <p:nvPr/>
        </p:nvSpPr>
        <p:spPr>
          <a:xfrm>
            <a:off x="4681728" y="2066544"/>
            <a:ext cx="3849600" cy="5121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3" name="Google Shape;273;p8"/>
          <p:cNvSpPr txBox="1"/>
          <p:nvPr/>
        </p:nvSpPr>
        <p:spPr>
          <a:xfrm>
            <a:off x="4846320" y="2146436"/>
            <a:ext cx="3520500" cy="3540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planets["discovery_year"]</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 xml:space="preserve">    .</a:t>
            </a:r>
            <a:r>
              <a:rPr b="1" i="0" lang="en" spc="0" sz="1000" u="none" cap="none" strike="noStrike">
                <a:solidFill>
                  <a:srgbClr val="E8A93A"/>
                </a:solidFill>
                <a:latin typeface="Courier New"/>
                <a:ea typeface="Courier New"/>
                <a:cs typeface="Courier New"/>
                <a:sym typeface="Courier New"/>
              </a:rPr>
              <a:t>astype</a:t>
            </a:r>
            <a:r>
              <a:rPr b="0" i="0" lang="en" spc="0" sz="1000" u="none" cap="none" strike="noStrike">
                <a:solidFill>
                  <a:srgbClr val="F6F4EF"/>
                </a:solidFill>
                <a:latin typeface="Courier New"/>
                <a:ea typeface="Courier New"/>
                <a:cs typeface="Courier New"/>
                <a:sym typeface="Courier New"/>
              </a:rPr>
              <a:t>("Int64")</a:t>
            </a:r>
            <a:endParaRPr b="0" i="0" spc="0" sz="1400" u="none" cap="none" strike="noStrike">
              <a:solidFill>
                <a:srgbClr val="000000"/>
              </a:solidFill>
              <a:latin typeface="Arial"/>
              <a:ea typeface="Arial"/>
              <a:cs typeface="Arial"/>
              <a:sym typeface="Arial"/>
            </a:endParaRPr>
          </a:p>
        </p:txBody>
      </p:sp>
      <p:sp>
        <p:nvSpPr>
          <p:cNvPr id="274" name="Google Shape;274;p8"/>
          <p:cNvSpPr/>
          <p:nvPr/>
        </p:nvSpPr>
        <p:spPr>
          <a:xfrm>
            <a:off x="612648" y="2651760"/>
            <a:ext cx="3612000" cy="5121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5" name="Google Shape;275;p8"/>
          <p:cNvSpPr txBox="1"/>
          <p:nvPr/>
        </p:nvSpPr>
        <p:spPr>
          <a:xfrm>
            <a:off x="777215" y="2741844"/>
            <a:ext cx="3282600" cy="381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Typical values. Is the mean far from the median?</a:t>
            </a:r>
            <a:endParaRPr b="0" i="0" spc="0" sz="1400" u="none" cap="none" strike="noStrike">
              <a:solidFill>
                <a:srgbClr val="000000"/>
              </a:solidFill>
              <a:latin typeface="Arial"/>
              <a:ea typeface="Arial"/>
              <a:cs typeface="Arial"/>
              <a:sym typeface="Arial"/>
            </a:endParaRPr>
          </a:p>
        </p:txBody>
      </p:sp>
      <p:sp>
        <p:nvSpPr>
          <p:cNvPr id="276" name="Google Shape;276;p8"/>
          <p:cNvSpPr/>
          <p:nvPr/>
        </p:nvSpPr>
        <p:spPr>
          <a:xfrm>
            <a:off x="4306824" y="2807208"/>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7" name="Google Shape;277;p8"/>
          <p:cNvSpPr/>
          <p:nvPr/>
        </p:nvSpPr>
        <p:spPr>
          <a:xfrm>
            <a:off x="4681728" y="2651760"/>
            <a:ext cx="3849600" cy="5121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8" name="Google Shape;278;p8"/>
          <p:cNvSpPr txBox="1"/>
          <p:nvPr/>
        </p:nvSpPr>
        <p:spPr>
          <a:xfrm>
            <a:off x="4846320" y="2724389"/>
            <a:ext cx="3520500" cy="3540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planets.</a:t>
            </a:r>
            <a:r>
              <a:rPr b="1" i="0" lang="en" spc="0" sz="1000" u="none" cap="none" strike="noStrike">
                <a:solidFill>
                  <a:srgbClr val="E8A93A"/>
                </a:solidFill>
                <a:latin typeface="Courier New"/>
                <a:ea typeface="Courier New"/>
                <a:cs typeface="Courier New"/>
                <a:sym typeface="Courier New"/>
              </a:rPr>
              <a:t>describe</a:t>
            </a:r>
            <a:r>
              <a:rPr b="0" i="0" lang="en" spc="0" sz="1000" u="none" cap="none" strike="noStrike">
                <a:solidFill>
                  <a:srgbClr val="F6F4EF"/>
                </a:solidFill>
                <a:latin typeface="Courier New"/>
                <a:ea typeface="Courier New"/>
                <a:cs typeface="Courier New"/>
                <a:sym typeface="Courier New"/>
              </a:rPr>
              <a:t>().T</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 period: mean 72,082 days, median 10.7</a:t>
            </a:r>
            <a:endParaRPr b="0" i="0" spc="0" sz="1400" u="none" cap="none" strike="noStrike">
              <a:solidFill>
                <a:srgbClr val="000000"/>
              </a:solidFill>
              <a:latin typeface="Arial"/>
              <a:ea typeface="Arial"/>
              <a:cs typeface="Arial"/>
              <a:sym typeface="Arial"/>
            </a:endParaRPr>
          </a:p>
        </p:txBody>
      </p:sp>
      <p:sp>
        <p:nvSpPr>
          <p:cNvPr id="279" name="Google Shape;279;p8"/>
          <p:cNvSpPr/>
          <p:nvPr/>
        </p:nvSpPr>
        <p:spPr>
          <a:xfrm>
            <a:off x="612648" y="3236976"/>
            <a:ext cx="3612000" cy="7680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0" name="Google Shape;280;p8"/>
          <p:cNvSpPr txBox="1"/>
          <p:nvPr/>
        </p:nvSpPr>
        <p:spPr>
          <a:xfrm>
            <a:off x="777215" y="3414215"/>
            <a:ext cx="3282600" cy="381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What does one planet's card look like?</a:t>
            </a:r>
            <a:endParaRPr b="0" i="0" spc="0" sz="1400" u="none" cap="none" strike="noStrike">
              <a:solidFill>
                <a:srgbClr val="000000"/>
              </a:solidFill>
              <a:latin typeface="Arial"/>
              <a:ea typeface="Arial"/>
              <a:cs typeface="Arial"/>
              <a:sym typeface="Arial"/>
            </a:endParaRPr>
          </a:p>
        </p:txBody>
      </p:sp>
      <p:sp>
        <p:nvSpPr>
          <p:cNvPr id="281" name="Google Shape;281;p8"/>
          <p:cNvSpPr/>
          <p:nvPr/>
        </p:nvSpPr>
        <p:spPr>
          <a:xfrm>
            <a:off x="4306824" y="3520440"/>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2" name="Google Shape;282;p8"/>
          <p:cNvSpPr/>
          <p:nvPr/>
        </p:nvSpPr>
        <p:spPr>
          <a:xfrm>
            <a:off x="4681728" y="3236976"/>
            <a:ext cx="3849600" cy="7680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3" name="Google Shape;283;p8"/>
          <p:cNvSpPr txBox="1"/>
          <p:nvPr/>
        </p:nvSpPr>
        <p:spPr>
          <a:xfrm>
            <a:off x="4846320" y="3338657"/>
            <a:ext cx="3520500" cy="5541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PLANET = "51 Peg b"</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planets.</a:t>
            </a:r>
            <a:r>
              <a:rPr b="1" i="0" lang="en" spc="0" sz="1000" u="none" cap="none" strike="noStrike">
                <a:solidFill>
                  <a:srgbClr val="E8A93A"/>
                </a:solidFill>
                <a:latin typeface="Courier New"/>
                <a:ea typeface="Courier New"/>
                <a:cs typeface="Courier New"/>
                <a:sym typeface="Courier New"/>
              </a:rPr>
              <a:t>loc</a:t>
            </a:r>
            <a:r>
              <a:rPr b="0" i="0" lang="en" spc="0" sz="1000" u="none" cap="none" strike="noStrike">
                <a:solidFill>
                  <a:srgbClr val="F6F4EF"/>
                </a:solidFill>
                <a:latin typeface="Courier New"/>
                <a:ea typeface="Courier New"/>
                <a:cs typeface="Courier New"/>
                <a:sym typeface="Courier New"/>
              </a:rPr>
              <a:t>[planets["planet_name"]</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 xml:space="preserve">    == PLANET].T</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EE6"/>
            </a:gs>
            <a:gs pos="100000">
              <a:srgbClr val="E0E3FD"/>
            </a:gs>
          </a:gsLst>
          <a:path path="circle">
            <a:fillToRect b="0%" l="0%" r="100%" t="100%"/>
          </a:path>
          <a:tileRect b="-100%" l="-100%" r="0%" t="0%"/>
        </a:gradFill>
      </p:bgPr>
    </p:bg>
    <p:spTree>
      <p:nvGrpSpPr>
        <p:cNvPr id="139" name="Shape 139"/>
        <p:cNvGrpSpPr/>
        <p:nvPr/>
      </p:nvGrpSpPr>
      <p:grpSpPr>
        <a:xfrm>
          <a:off x="0" y="0"/>
          <a:ext cx="0" cy="0"/>
          <a:chOff x="0" y="0"/>
          <a:chExt cx="0" cy="0"/>
        </a:xfrm>
      </p:grpSpPr>
      <p:pic>
        <p:nvPicPr>
          <p:cNvPr descr="image.png" id="140" name="Google Shape;140;p6"/>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141" name="Google Shape;141;p6"/>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SECTION 3 · DATA QUALITY · DATA STORY 1</a:t>
            </a:r>
            <a:endParaRPr b="0" i="0" spc="0" sz="1400" u="none" cap="none" strike="noStrike">
              <a:solidFill>
                <a:srgbClr val="000000"/>
              </a:solidFill>
              <a:latin typeface="Arial"/>
              <a:ea typeface="Arial"/>
              <a:cs typeface="Arial"/>
              <a:sym typeface="Arial"/>
            </a:endParaRPr>
          </a:p>
        </p:txBody>
      </p:sp>
      <p:sp>
        <p:nvSpPr>
          <p:cNvPr id="142" name="Google Shape;142;p6"/>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 spc="0" sz="2700" u="none" cap="none" strike="noStrike">
                <a:solidFill>
                  <a:srgbClr val="1D1B24"/>
                </a:solidFill>
                <a:latin typeface="Space Grotesk"/>
                <a:ea typeface="Space Grotesk"/>
                <a:cs typeface="Space Grotesk"/>
                <a:sym typeface="Space Grotesk"/>
              </a:rPr>
              <a:t>Most exoplanets have never been seen</a:t>
            </a:r>
            <a:endParaRPr b="0" i="0" spc="0" sz="1400" u="none" cap="none" strike="noStrike">
              <a:solidFill>
                <a:srgbClr val="000000"/>
              </a:solidFill>
              <a:latin typeface="Arial"/>
              <a:ea typeface="Arial"/>
              <a:cs typeface="Arial"/>
              <a:sym typeface="Arial"/>
            </a:endParaRPr>
          </a:p>
        </p:txBody>
      </p:sp>
      <p:sp>
        <p:nvSpPr>
          <p:cNvPr id="143" name="Google Shape;143;p6"/>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0" i="0" lang="en" spc="0" sz="900" u="none" cap="none" strike="noStrike">
                <a:solidFill>
                  <a:srgbClr val="625D6E"/>
                </a:solidFill>
                <a:latin typeface="Inter"/>
                <a:ea typeface="Inter"/>
                <a:cs typeface="Inter"/>
                <a:sym typeface="Inter"/>
              </a:rPr>
              <a:t>Data Science Bootcamp · Fall 2026</a:t>
            </a:r>
            <a:endParaRPr b="0" i="0" spc="0" sz="1400" u="none" cap="none" strike="noStrike">
              <a:solidFill>
                <a:srgbClr val="000000"/>
              </a:solidFill>
              <a:latin typeface="Arial"/>
              <a:ea typeface="Arial"/>
              <a:cs typeface="Arial"/>
              <a:sym typeface="Arial"/>
            </a:endParaRPr>
          </a:p>
        </p:txBody>
      </p:sp>
      <p:sp>
        <p:nvSpPr>
          <p:cNvPr id="144" name="Google Shape;144;p6"/>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Clr>
                <a:srgbClr val="000000"/>
              </a:buClr>
              <a:buSzPts val="900"/>
              <a:buFont typeface="Arial"/>
              <a:buNone/>
            </a:pPr>
            <a:fld id="{00000000-1234-1234-1234-123412341234}" type="slidenum">
              <a:rPr b="0" i="0" lang="en" spc="0" sz="900" u="none" cap="none" strike="noStrike">
                <a:solidFill>
                  <a:srgbClr val="625D6E"/>
                </a:solidFill>
                <a:latin typeface="Inter"/>
                <a:ea typeface="Inter"/>
                <a:cs typeface="Inter"/>
                <a:sym typeface="Inter"/>
              </a:rPr>
              <a:t>‹#›</a:t>
            </a:fld>
            <a:endParaRPr b="0" i="0" spc="0" sz="1400" u="none" cap="none" strike="noStrike">
              <a:solidFill>
                <a:srgbClr val="000000"/>
              </a:solidFill>
              <a:latin typeface="Arial"/>
              <a:ea typeface="Arial"/>
              <a:cs typeface="Arial"/>
              <a:sym typeface="Arial"/>
            </a:endParaRPr>
          </a:p>
        </p:txBody>
      </p:sp>
      <p:sp>
        <p:nvSpPr>
          <p:cNvPr id="145" name="Google Shape;145;p6"/>
          <p:cNvSpPr/>
          <p:nvPr/>
        </p:nvSpPr>
        <p:spPr>
          <a:xfrm>
            <a:off x="612648" y="1627632"/>
            <a:ext cx="749808" cy="3840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6" name="Google Shape;146;p6"/>
          <p:cNvSpPr txBox="1"/>
          <p:nvPr/>
        </p:nvSpPr>
        <p:spPr>
          <a:xfrm>
            <a:off x="612648" y="1736576"/>
            <a:ext cx="749808"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 spc="0" sz="1100" u="none" cap="none" strike="noStrike">
                <a:solidFill>
                  <a:srgbClr val="1D1B24"/>
                </a:solidFill>
                <a:latin typeface="Courier New"/>
                <a:ea typeface="Courier New"/>
                <a:cs typeface="Courier New"/>
                <a:sym typeface="Courier New"/>
              </a:rPr>
              <a:t>5%</a:t>
            </a:r>
            <a:endParaRPr b="0" i="0" spc="0" sz="1400" u="none" cap="none" strike="noStrike">
              <a:solidFill>
                <a:srgbClr val="000000"/>
              </a:solidFill>
              <a:latin typeface="Arial"/>
              <a:ea typeface="Arial"/>
              <a:cs typeface="Arial"/>
              <a:sym typeface="Arial"/>
            </a:endParaRPr>
          </a:p>
        </p:txBody>
      </p:sp>
      <p:sp>
        <p:nvSpPr>
          <p:cNvPr id="147" name="Google Shape;147;p6"/>
          <p:cNvSpPr txBox="1"/>
          <p:nvPr/>
        </p:nvSpPr>
        <p:spPr>
          <a:xfrm>
            <a:off x="612648" y="1426464"/>
            <a:ext cx="749808"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625D6E"/>
                </a:solidFill>
                <a:latin typeface="Courier New"/>
                <a:ea typeface="Courier New"/>
                <a:cs typeface="Courier New"/>
                <a:sym typeface="Courier New"/>
              </a:rPr>
              <a:t>Transit</a:t>
            </a:r>
            <a:endParaRPr b="0" i="0" spc="0" sz="1400" u="none" cap="none" strike="noStrike">
              <a:solidFill>
                <a:srgbClr val="000000"/>
              </a:solidFill>
              <a:latin typeface="Arial"/>
              <a:ea typeface="Arial"/>
              <a:cs typeface="Arial"/>
              <a:sym typeface="Arial"/>
            </a:endParaRPr>
          </a:p>
        </p:txBody>
      </p:sp>
      <p:sp>
        <p:nvSpPr>
          <p:cNvPr id="148" name="Google Shape;148;p6"/>
          <p:cNvSpPr txBox="1"/>
          <p:nvPr/>
        </p:nvSpPr>
        <p:spPr>
          <a:xfrm>
            <a:off x="612648" y="2048256"/>
            <a:ext cx="749808"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625D6E"/>
                </a:solidFill>
                <a:latin typeface="Courier New"/>
                <a:ea typeface="Courier New"/>
                <a:cs typeface="Courier New"/>
                <a:sym typeface="Courier New"/>
              </a:rPr>
              <a:t>0.08 AU</a:t>
            </a:r>
            <a:endParaRPr b="0" i="0" spc="0" sz="1400" u="none" cap="none" strike="noStrike">
              <a:solidFill>
                <a:srgbClr val="000000"/>
              </a:solidFill>
              <a:latin typeface="Arial"/>
              <a:ea typeface="Arial"/>
              <a:cs typeface="Arial"/>
              <a:sym typeface="Arial"/>
            </a:endParaRPr>
          </a:p>
        </p:txBody>
      </p:sp>
      <p:sp>
        <p:nvSpPr>
          <p:cNvPr id="149" name="Google Shape;149;p6"/>
          <p:cNvSpPr/>
          <p:nvPr/>
        </p:nvSpPr>
        <p:spPr>
          <a:xfrm>
            <a:off x="1435608" y="1627632"/>
            <a:ext cx="749808" cy="3840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 name="Google Shape;150;p6"/>
          <p:cNvSpPr txBox="1"/>
          <p:nvPr/>
        </p:nvSpPr>
        <p:spPr>
          <a:xfrm>
            <a:off x="1435608" y="1736576"/>
            <a:ext cx="749808"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 spc="0" sz="1100" u="none" cap="none" strike="noStrike">
                <a:solidFill>
                  <a:srgbClr val="1D1B24"/>
                </a:solidFill>
                <a:latin typeface="Courier New"/>
                <a:ea typeface="Courier New"/>
                <a:cs typeface="Courier New"/>
                <a:sym typeface="Courier New"/>
              </a:rPr>
              <a:t>83%</a:t>
            </a:r>
            <a:endParaRPr b="0" i="0" spc="0" sz="1400" u="none" cap="none" strike="noStrike">
              <a:solidFill>
                <a:srgbClr val="000000"/>
              </a:solidFill>
              <a:latin typeface="Arial"/>
              <a:ea typeface="Arial"/>
              <a:cs typeface="Arial"/>
              <a:sym typeface="Arial"/>
            </a:endParaRPr>
          </a:p>
        </p:txBody>
      </p:sp>
      <p:sp>
        <p:nvSpPr>
          <p:cNvPr id="151" name="Google Shape;151;p6"/>
          <p:cNvSpPr txBox="1"/>
          <p:nvPr/>
        </p:nvSpPr>
        <p:spPr>
          <a:xfrm>
            <a:off x="1435608" y="1426464"/>
            <a:ext cx="749808"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625D6E"/>
                </a:solidFill>
                <a:latin typeface="Courier New"/>
                <a:ea typeface="Courier New"/>
                <a:cs typeface="Courier New"/>
                <a:sym typeface="Courier New"/>
              </a:rPr>
              <a:t>Rad. vel.</a:t>
            </a:r>
            <a:endParaRPr b="0" i="0" spc="0" sz="1400" u="none" cap="none" strike="noStrike">
              <a:solidFill>
                <a:srgbClr val="000000"/>
              </a:solidFill>
              <a:latin typeface="Arial"/>
              <a:ea typeface="Arial"/>
              <a:cs typeface="Arial"/>
              <a:sym typeface="Arial"/>
            </a:endParaRPr>
          </a:p>
        </p:txBody>
      </p:sp>
      <p:sp>
        <p:nvSpPr>
          <p:cNvPr id="152" name="Google Shape;152;p6"/>
          <p:cNvSpPr txBox="1"/>
          <p:nvPr/>
        </p:nvSpPr>
        <p:spPr>
          <a:xfrm>
            <a:off x="1435608" y="2048256"/>
            <a:ext cx="749808"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625D6E"/>
                </a:solidFill>
                <a:latin typeface="Courier New"/>
                <a:ea typeface="Courier New"/>
                <a:cs typeface="Courier New"/>
                <a:sym typeface="Courier New"/>
              </a:rPr>
              <a:t>0.9 AU</a:t>
            </a:r>
            <a:endParaRPr b="0" i="0" spc="0" sz="1400" u="none" cap="none" strike="noStrike">
              <a:solidFill>
                <a:srgbClr val="000000"/>
              </a:solidFill>
              <a:latin typeface="Arial"/>
              <a:ea typeface="Arial"/>
              <a:cs typeface="Arial"/>
              <a:sym typeface="Arial"/>
            </a:endParaRPr>
          </a:p>
        </p:txBody>
      </p:sp>
      <p:sp>
        <p:nvSpPr>
          <p:cNvPr id="153" name="Google Shape;153;p6"/>
          <p:cNvSpPr/>
          <p:nvPr/>
        </p:nvSpPr>
        <p:spPr>
          <a:xfrm>
            <a:off x="2258568" y="1627632"/>
            <a:ext cx="749808" cy="3840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4" name="Google Shape;154;p6"/>
          <p:cNvSpPr txBox="1"/>
          <p:nvPr/>
        </p:nvSpPr>
        <p:spPr>
          <a:xfrm>
            <a:off x="2258568" y="1736576"/>
            <a:ext cx="749808"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 spc="0" sz="1100" u="none" cap="none" strike="noStrike">
                <a:solidFill>
                  <a:srgbClr val="1D1B24"/>
                </a:solidFill>
                <a:latin typeface="Courier New"/>
                <a:ea typeface="Courier New"/>
                <a:cs typeface="Courier New"/>
                <a:sym typeface="Courier New"/>
              </a:rPr>
              <a:t>98%</a:t>
            </a:r>
            <a:endParaRPr b="0" i="0" spc="0" sz="1400" u="none" cap="none" strike="noStrike">
              <a:solidFill>
                <a:srgbClr val="000000"/>
              </a:solidFill>
              <a:latin typeface="Arial"/>
              <a:ea typeface="Arial"/>
              <a:cs typeface="Arial"/>
              <a:sym typeface="Arial"/>
            </a:endParaRPr>
          </a:p>
        </p:txBody>
      </p:sp>
      <p:sp>
        <p:nvSpPr>
          <p:cNvPr id="155" name="Google Shape;155;p6"/>
          <p:cNvSpPr txBox="1"/>
          <p:nvPr/>
        </p:nvSpPr>
        <p:spPr>
          <a:xfrm>
            <a:off x="2258568" y="1426464"/>
            <a:ext cx="749808"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625D6E"/>
                </a:solidFill>
                <a:latin typeface="Courier New"/>
                <a:ea typeface="Courier New"/>
                <a:cs typeface="Courier New"/>
                <a:sym typeface="Courier New"/>
              </a:rPr>
              <a:t>Microlens.</a:t>
            </a:r>
            <a:endParaRPr b="0" i="0" spc="0" sz="1400" u="none" cap="none" strike="noStrike">
              <a:solidFill>
                <a:srgbClr val="000000"/>
              </a:solidFill>
              <a:latin typeface="Arial"/>
              <a:ea typeface="Arial"/>
              <a:cs typeface="Arial"/>
              <a:sym typeface="Arial"/>
            </a:endParaRPr>
          </a:p>
        </p:txBody>
      </p:sp>
      <p:sp>
        <p:nvSpPr>
          <p:cNvPr id="156" name="Google Shape;156;p6"/>
          <p:cNvSpPr txBox="1"/>
          <p:nvPr/>
        </p:nvSpPr>
        <p:spPr>
          <a:xfrm>
            <a:off x="2258568" y="2048256"/>
            <a:ext cx="749808"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625D6E"/>
                </a:solidFill>
                <a:latin typeface="Courier New"/>
                <a:ea typeface="Courier New"/>
                <a:cs typeface="Courier New"/>
                <a:sym typeface="Courier New"/>
              </a:rPr>
              <a:t>2.3 AU</a:t>
            </a:r>
            <a:endParaRPr b="0" i="0" spc="0" sz="1400" u="none" cap="none" strike="noStrike">
              <a:solidFill>
                <a:srgbClr val="000000"/>
              </a:solidFill>
              <a:latin typeface="Arial"/>
              <a:ea typeface="Arial"/>
              <a:cs typeface="Arial"/>
              <a:sym typeface="Arial"/>
            </a:endParaRPr>
          </a:p>
        </p:txBody>
      </p:sp>
      <p:sp>
        <p:nvSpPr>
          <p:cNvPr id="157" name="Google Shape;157;p6"/>
          <p:cNvSpPr/>
          <p:nvPr/>
        </p:nvSpPr>
        <p:spPr>
          <a:xfrm>
            <a:off x="3081528" y="1627632"/>
            <a:ext cx="749808" cy="3840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 name="Google Shape;158;p6"/>
          <p:cNvSpPr txBox="1"/>
          <p:nvPr/>
        </p:nvSpPr>
        <p:spPr>
          <a:xfrm>
            <a:off x="3081528" y="1736576"/>
            <a:ext cx="749808" cy="169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0" i="0" lang="en" spc="0" sz="1100" u="none" cap="none" strike="noStrike">
                <a:solidFill>
                  <a:srgbClr val="1D1B24"/>
                </a:solidFill>
                <a:latin typeface="Courier New"/>
                <a:ea typeface="Courier New"/>
                <a:cs typeface="Courier New"/>
                <a:sym typeface="Courier New"/>
              </a:rPr>
              <a:t>35%</a:t>
            </a:r>
            <a:endParaRPr b="0" i="0" spc="0" sz="1400" u="none" cap="none" strike="noStrike">
              <a:solidFill>
                <a:srgbClr val="000000"/>
              </a:solidFill>
              <a:latin typeface="Arial"/>
              <a:ea typeface="Arial"/>
              <a:cs typeface="Arial"/>
              <a:sym typeface="Arial"/>
            </a:endParaRPr>
          </a:p>
        </p:txBody>
      </p:sp>
      <p:sp>
        <p:nvSpPr>
          <p:cNvPr id="159" name="Google Shape;159;p6"/>
          <p:cNvSpPr txBox="1"/>
          <p:nvPr/>
        </p:nvSpPr>
        <p:spPr>
          <a:xfrm>
            <a:off x="3081528" y="1426464"/>
            <a:ext cx="749808"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625D6E"/>
                </a:solidFill>
                <a:latin typeface="Courier New"/>
                <a:ea typeface="Courier New"/>
                <a:cs typeface="Courier New"/>
                <a:sym typeface="Courier New"/>
              </a:rPr>
              <a:t>Imaging</a:t>
            </a:r>
            <a:endParaRPr b="0" i="0" spc="0" sz="1400" u="none" cap="none" strike="noStrike">
              <a:solidFill>
                <a:srgbClr val="000000"/>
              </a:solidFill>
              <a:latin typeface="Arial"/>
              <a:ea typeface="Arial"/>
              <a:cs typeface="Arial"/>
              <a:sym typeface="Arial"/>
            </a:endParaRPr>
          </a:p>
        </p:txBody>
      </p:sp>
      <p:sp>
        <p:nvSpPr>
          <p:cNvPr id="160" name="Google Shape;160;p6"/>
          <p:cNvSpPr txBox="1"/>
          <p:nvPr/>
        </p:nvSpPr>
        <p:spPr>
          <a:xfrm>
            <a:off x="3081528" y="2048256"/>
            <a:ext cx="749808"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625D6E"/>
                </a:solidFill>
                <a:latin typeface="Courier New"/>
                <a:ea typeface="Courier New"/>
                <a:cs typeface="Courier New"/>
                <a:sym typeface="Courier New"/>
              </a:rPr>
              <a:t>156 AU</a:t>
            </a:r>
            <a:endParaRPr b="0" i="0" spc="0" sz="1400" u="none" cap="none" strike="noStrike">
              <a:solidFill>
                <a:srgbClr val="000000"/>
              </a:solidFill>
              <a:latin typeface="Arial"/>
              <a:ea typeface="Arial"/>
              <a:cs typeface="Arial"/>
              <a:sym typeface="Arial"/>
            </a:endParaRPr>
          </a:p>
        </p:txBody>
      </p:sp>
      <p:sp>
        <p:nvSpPr>
          <p:cNvPr id="165" name="Google Shape;165;p6"/>
          <p:cNvSpPr txBox="1"/>
          <p:nvPr/>
        </p:nvSpPr>
        <p:spPr>
          <a:xfrm>
            <a:off x="4069080" y="1417320"/>
            <a:ext cx="4462272" cy="844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50"/>
              <a:buFont typeface="Arial"/>
              <a:buNone/>
            </a:pPr>
            <a:r>
              <a:rPr b="1" i="0" lang="en" spc="0" sz="1050" u="none" cap="none" strike="noStrike">
                <a:solidFill>
                  <a:srgbClr val="351C75"/>
                </a:solidFill>
                <a:latin typeface="Courier New"/>
                <a:ea typeface="Courier New"/>
                <a:cs typeface="Courier New"/>
                <a:sym typeface="Courier New"/>
              </a:rPr>
              <a:t>missing_by_method</a:t>
            </a:r>
            <a:endParaRPr b="0" i="0" spc="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1050"/>
              <a:buFont typeface="Arial"/>
              <a:buNone/>
            </a:pPr>
            <a:r>
              <a:rPr b="0" i="0" lang="en" spc="0" sz="1050" u="none" cap="none" strike="noStrike">
                <a:solidFill>
                  <a:srgbClr val="1D1B24"/>
                </a:solidFill>
                <a:latin typeface="Inter"/>
                <a:ea typeface="Inter"/>
                <a:cs typeface="Inter"/>
                <a:sym typeface="Inter"/>
              </a:rPr>
              <a:t>Boxes: percent with no temperature. Below: typical distance from the star.</a:t>
            </a:r>
            <a:endParaRPr b="0" i="0" spc="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1050"/>
              <a:buFont typeface="Arial"/>
              <a:buNone/>
            </a:pPr>
            <a:r>
              <a:rPr b="0" i="0" lang="en" spc="0" sz="1050" u="none" cap="none" strike="noStrike">
                <a:solidFill>
                  <a:srgbClr val="1D1B24"/>
                </a:solidFill>
                <a:latin typeface="Inter"/>
                <a:ea typeface="Inter"/>
                <a:cs typeface="Inter"/>
                <a:sym typeface="Inter"/>
              </a:rPr>
              <a:t xml:space="preserve">Only </a:t>
            </a:r>
            <a:r>
              <a:rPr b="1" i="0" lang="en" spc="0" sz="1050" u="none" cap="none" strike="noStrike">
                <a:solidFill>
                  <a:srgbClr val="351C75"/>
                </a:solidFill>
                <a:latin typeface="Courier New"/>
                <a:ea typeface="Courier New"/>
                <a:cs typeface="Courier New"/>
                <a:sym typeface="Courier New"/>
              </a:rPr>
              <a:t>1.5%</a:t>
            </a:r>
            <a:r>
              <a:rPr b="0" i="0" lang="en" spc="0" sz="1050" u="none" cap="none" strike="noStrike">
                <a:solidFill>
                  <a:srgbClr val="1D1B24"/>
                </a:solidFill>
                <a:latin typeface="Inter"/>
                <a:ea typeface="Inter"/>
                <a:cs typeface="Inter"/>
                <a:sym typeface="Inter"/>
              </a:rPr>
              <a:t xml:space="preserve"> of planets were photographed.</a:t>
            </a:r>
            <a:endParaRPr b="0" i="0" spc="0" sz="1400" u="none" cap="none" strike="noStrike">
              <a:solidFill>
                <a:srgbClr val="000000"/>
              </a:solidFill>
              <a:latin typeface="Arial"/>
              <a:ea typeface="Arial"/>
              <a:cs typeface="Arial"/>
              <a:sym typeface="Arial"/>
            </a:endParaRPr>
          </a:p>
        </p:txBody>
      </p:sp>
      <p:sp>
        <p:nvSpPr>
          <p:cNvPr id="166" name="Google Shape;166;p6"/>
          <p:cNvSpPr/>
          <p:nvPr/>
        </p:nvSpPr>
        <p:spPr>
          <a:xfrm>
            <a:off x="612648" y="2487168"/>
            <a:ext cx="2517600" cy="19476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7" name="Google Shape;167;p6"/>
          <p:cNvSpPr txBox="1"/>
          <p:nvPr/>
        </p:nvSpPr>
        <p:spPr>
          <a:xfrm>
            <a:off x="777240" y="26151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THE STORY</a:t>
            </a:r>
            <a:endParaRPr b="0" i="0" spc="0" sz="1400" u="none" cap="none" strike="noStrike">
              <a:solidFill>
                <a:srgbClr val="000000"/>
              </a:solidFill>
              <a:latin typeface="Arial"/>
              <a:ea typeface="Arial"/>
              <a:cs typeface="Arial"/>
              <a:sym typeface="Arial"/>
            </a:endParaRPr>
          </a:p>
        </p:txBody>
      </p:sp>
      <p:sp>
        <p:nvSpPr>
          <p:cNvPr id="168" name="Google Shape;168;p6"/>
          <p:cNvSpPr txBox="1"/>
          <p:nvPr/>
        </p:nvSpPr>
        <p:spPr>
          <a:xfrm>
            <a:off x="777240" y="2834640"/>
            <a:ext cx="2188500" cy="3810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Which columns have gaps? Any duplicates?</a:t>
            </a:r>
            <a:endParaRPr b="0" i="0" spc="0" sz="1400" u="none" cap="none" strike="noStrike">
              <a:solidFill>
                <a:srgbClr val="000000"/>
              </a:solidFill>
              <a:latin typeface="Arial"/>
              <a:ea typeface="Arial"/>
              <a:cs typeface="Arial"/>
              <a:sym typeface="Arial"/>
            </a:endParaRPr>
          </a:p>
        </p:txBody>
      </p:sp>
      <p:sp>
        <p:nvSpPr>
          <p:cNvPr id="169" name="Google Shape;169;p6"/>
          <p:cNvSpPr/>
          <p:nvPr/>
        </p:nvSpPr>
        <p:spPr>
          <a:xfrm>
            <a:off x="722376" y="3401568"/>
            <a:ext cx="2298300" cy="9144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0" name="Google Shape;170;p6"/>
          <p:cNvSpPr txBox="1"/>
          <p:nvPr/>
        </p:nvSpPr>
        <p:spPr>
          <a:xfrm>
            <a:off x="868680" y="347472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1" i="0" lang="en" spc="0" sz="900" u="none" cap="none" strike="noStrike">
                <a:solidFill>
                  <a:srgbClr val="E8A93A"/>
                </a:solidFill>
                <a:latin typeface="Inter"/>
                <a:ea typeface="Inter"/>
                <a:cs typeface="Inter"/>
                <a:sym typeface="Inter"/>
              </a:rPr>
              <a:t>THE TOOL</a:t>
            </a:r>
            <a:endParaRPr b="0" i="0" spc="0" sz="1400" u="none" cap="none" strike="noStrike">
              <a:solidFill>
                <a:srgbClr val="000000"/>
              </a:solidFill>
              <a:latin typeface="Arial"/>
              <a:ea typeface="Arial"/>
              <a:cs typeface="Arial"/>
              <a:sym typeface="Arial"/>
            </a:endParaRPr>
          </a:p>
        </p:txBody>
      </p:sp>
      <p:sp>
        <p:nvSpPr>
          <p:cNvPr id="171" name="Google Shape;171;p6"/>
          <p:cNvSpPr txBox="1"/>
          <p:nvPr/>
        </p:nvSpPr>
        <p:spPr>
          <a:xfrm>
            <a:off x="868680" y="3694176"/>
            <a:ext cx="2060400" cy="511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planets.</a:t>
            </a:r>
            <a:r>
              <a:rPr b="0" i="0" lang="en" spc="0" sz="950" u="none" cap="none" strike="noStrike">
                <a:solidFill>
                  <a:srgbClr val="F6F4EF"/>
                </a:solidFill>
                <a:latin typeface="Courier New"/>
                <a:ea typeface="Courier New"/>
                <a:cs typeface="Courier New"/>
                <a:sym typeface="Courier New"/>
              </a:rPr>
              <a:t>isnull</a:t>
            </a:r>
            <a:r>
              <a:rPr b="0" i="0" lang="en" spc="0" sz="950" u="none" cap="none" strike="noStrike">
                <a:solidFill>
                  <a:srgbClr val="F6F4EF"/>
                </a:solidFill>
                <a:latin typeface="Courier New"/>
                <a:ea typeface="Courier New"/>
                <a:cs typeface="Courier New"/>
                <a:sym typeface="Courier New"/>
              </a:rPr>
              <a:t>().</a:t>
            </a:r>
            <a:r>
              <a:rPr b="0" i="0" lang="en" spc="0" sz="950" u="none" cap="none" strike="noStrike">
                <a:solidFill>
                  <a:srgbClr val="F6F4EF"/>
                </a:solidFill>
                <a:latin typeface="Courier New"/>
                <a:ea typeface="Courier New"/>
                <a:cs typeface="Courier New"/>
                <a:sym typeface="Courier New"/>
              </a:rPr>
              <a:t>mean</a:t>
            </a:r>
            <a:r>
              <a:rPr b="0" i="0" lang="en" spc="0" sz="950" u="none" cap="none" strike="noStrike">
                <a:solidFill>
                  <a:srgbClr val="F6F4EF"/>
                </a:solidFill>
                <a:latin typeface="Courier New"/>
                <a:ea typeface="Courier New"/>
                <a:cs typeface="Courier New"/>
                <a:sym typeface="Courier New"/>
              </a:rPr>
              <a:t>()</a:t>
            </a:r>
            <a:endParaRPr b="0" i="0" spc="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planets.</a:t>
            </a:r>
            <a:r>
              <a:rPr b="0" i="0" lang="en" spc="0" sz="950" u="none" cap="none" strike="noStrike">
                <a:solidFill>
                  <a:srgbClr val="F6F4EF"/>
                </a:solidFill>
                <a:latin typeface="Courier New"/>
                <a:ea typeface="Courier New"/>
                <a:cs typeface="Courier New"/>
                <a:sym typeface="Courier New"/>
              </a:rPr>
              <a:t>duplicated</a:t>
            </a:r>
            <a:r>
              <a:rPr b="0" i="0" lang="en" spc="0" sz="950" u="none" cap="none" strike="noStrike">
                <a:solidFill>
                  <a:srgbClr val="F6F4EF"/>
                </a:solidFill>
                <a:latin typeface="Courier New"/>
                <a:ea typeface="Courier New"/>
                <a:cs typeface="Courier New"/>
                <a:sym typeface="Courier New"/>
              </a:rPr>
              <a:t>().</a:t>
            </a:r>
            <a:r>
              <a:rPr b="0" i="0" lang="en" spc="0" sz="950" u="none" cap="none" strike="noStrike">
                <a:solidFill>
                  <a:srgbClr val="F6F4EF"/>
                </a:solidFill>
                <a:latin typeface="Courier New"/>
                <a:ea typeface="Courier New"/>
                <a:cs typeface="Courier New"/>
                <a:sym typeface="Courier New"/>
              </a:rPr>
              <a:t>sum</a:t>
            </a:r>
            <a:r>
              <a:rPr b="0" i="0" lang="en" spc="0" sz="950" u="none" cap="none" strike="noStrike">
                <a:solidFill>
                  <a:srgbClr val="F6F4EF"/>
                </a:solidFill>
                <a:latin typeface="Courier New"/>
                <a:ea typeface="Courier New"/>
                <a:cs typeface="Courier New"/>
                <a:sym typeface="Courier New"/>
              </a:rPr>
              <a:t>()</a:t>
            </a:r>
            <a:endParaRPr b="0" i="0" spc="0" sz="1400" u="none" cap="none" strike="noStrike">
              <a:solidFill>
                <a:srgbClr val="000000"/>
              </a:solidFill>
              <a:latin typeface="Arial"/>
              <a:ea typeface="Arial"/>
              <a:cs typeface="Arial"/>
              <a:sym typeface="Arial"/>
            </a:endParaRPr>
          </a:p>
        </p:txBody>
      </p:sp>
      <p:sp>
        <p:nvSpPr>
          <p:cNvPr id="172" name="Google Shape;172;p6"/>
          <p:cNvSpPr/>
          <p:nvPr/>
        </p:nvSpPr>
        <p:spPr>
          <a:xfrm>
            <a:off x="3313176" y="2487168"/>
            <a:ext cx="2517600" cy="19476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3" name="Google Shape;173;p6"/>
          <p:cNvSpPr txBox="1"/>
          <p:nvPr/>
        </p:nvSpPr>
        <p:spPr>
          <a:xfrm>
            <a:off x="3477768" y="26151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THE STORY</a:t>
            </a:r>
            <a:endParaRPr b="0" i="0" spc="0" sz="1400" u="none" cap="none" strike="noStrike">
              <a:solidFill>
                <a:srgbClr val="000000"/>
              </a:solidFill>
              <a:latin typeface="Arial"/>
              <a:ea typeface="Arial"/>
              <a:cs typeface="Arial"/>
              <a:sym typeface="Arial"/>
            </a:endParaRPr>
          </a:p>
        </p:txBody>
      </p:sp>
      <p:sp>
        <p:nvSpPr>
          <p:cNvPr id="174" name="Google Shape;174;p6"/>
          <p:cNvSpPr txBox="1"/>
          <p:nvPr/>
        </p:nvSpPr>
        <p:spPr>
          <a:xfrm>
            <a:off x="3477768" y="2834640"/>
            <a:ext cx="2188500" cy="3810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Are the gaps random, or tied to the method?</a:t>
            </a:r>
            <a:endParaRPr b="0" i="0" spc="0" sz="1400" u="none" cap="none" strike="noStrike">
              <a:solidFill>
                <a:srgbClr val="000000"/>
              </a:solidFill>
              <a:latin typeface="Arial"/>
              <a:ea typeface="Arial"/>
              <a:cs typeface="Arial"/>
              <a:sym typeface="Arial"/>
            </a:endParaRPr>
          </a:p>
        </p:txBody>
      </p:sp>
      <p:sp>
        <p:nvSpPr>
          <p:cNvPr id="175" name="Google Shape;175;p6"/>
          <p:cNvSpPr/>
          <p:nvPr/>
        </p:nvSpPr>
        <p:spPr>
          <a:xfrm>
            <a:off x="3422904" y="3401568"/>
            <a:ext cx="2298300" cy="9144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6" name="Google Shape;176;p6"/>
          <p:cNvSpPr txBox="1"/>
          <p:nvPr/>
        </p:nvSpPr>
        <p:spPr>
          <a:xfrm>
            <a:off x="3569208" y="347472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1" i="0" lang="en" spc="0" sz="900" u="none" cap="none" strike="noStrike">
                <a:solidFill>
                  <a:srgbClr val="E8A93A"/>
                </a:solidFill>
                <a:latin typeface="Inter"/>
                <a:ea typeface="Inter"/>
                <a:cs typeface="Inter"/>
                <a:sym typeface="Inter"/>
              </a:rPr>
              <a:t>THE TOOL</a:t>
            </a:r>
            <a:endParaRPr b="0" i="0" spc="0" sz="1400" u="none" cap="none" strike="noStrike">
              <a:solidFill>
                <a:srgbClr val="000000"/>
              </a:solidFill>
              <a:latin typeface="Arial"/>
              <a:ea typeface="Arial"/>
              <a:cs typeface="Arial"/>
              <a:sym typeface="Arial"/>
            </a:endParaRPr>
          </a:p>
        </p:txBody>
      </p:sp>
      <p:sp>
        <p:nvSpPr>
          <p:cNvPr id="177" name="Google Shape;177;p6"/>
          <p:cNvSpPr txBox="1"/>
          <p:nvPr/>
        </p:nvSpPr>
        <p:spPr>
          <a:xfrm>
            <a:off x="3569208" y="3694176"/>
            <a:ext cx="2060400" cy="511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main.</a:t>
            </a:r>
            <a:r>
              <a:rPr b="0" i="0" lang="en" spc="0" sz="950" u="none" cap="none" strike="noStrike">
                <a:solidFill>
                  <a:srgbClr val="F6F4EF"/>
                </a:solidFill>
                <a:latin typeface="Courier New"/>
                <a:ea typeface="Courier New"/>
                <a:cs typeface="Courier New"/>
                <a:sym typeface="Courier New"/>
              </a:rPr>
              <a:t>groupby</a:t>
            </a:r>
            <a:r>
              <a:rPr b="0" i="0" lang="en" spc="0" sz="950" u="none" cap="none" strike="noStrike">
                <a:solidFill>
                  <a:srgbClr val="F6F4EF"/>
                </a:solidFill>
                <a:latin typeface="Courier New"/>
                <a:ea typeface="Courier New"/>
                <a:cs typeface="Courier New"/>
                <a:sym typeface="Courier New"/>
              </a:rPr>
              <a:t>(</a:t>
            </a:r>
            <a:endParaRPr b="0" i="0" spc="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 xml:space="preserve">  "discovery_method")</a:t>
            </a:r>
            <a:endParaRPr b="0" i="0" spc="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 xml:space="preserve">  ["eq_temp_k"].</a:t>
            </a:r>
            <a:r>
              <a:rPr b="0" i="0" lang="en" spc="0" sz="950" u="none" cap="none" strike="noStrike">
                <a:solidFill>
                  <a:srgbClr val="F6F4EF"/>
                </a:solidFill>
                <a:latin typeface="Courier New"/>
                <a:ea typeface="Courier New"/>
                <a:cs typeface="Courier New"/>
                <a:sym typeface="Courier New"/>
              </a:rPr>
              <a:t>apply</a:t>
            </a:r>
            <a:r>
              <a:rPr b="0" i="0" lang="en" spc="0" sz="950" u="none" cap="none" strike="noStrike">
                <a:solidFill>
                  <a:srgbClr val="F6F4EF"/>
                </a:solidFill>
                <a:latin typeface="Courier New"/>
                <a:ea typeface="Courier New"/>
                <a:cs typeface="Courier New"/>
                <a:sym typeface="Courier New"/>
              </a:rPr>
              <a:t>(...)</a:t>
            </a:r>
            <a:endParaRPr b="0" i="0" spc="0" sz="1400" u="none" cap="none" strike="noStrike">
              <a:solidFill>
                <a:srgbClr val="000000"/>
              </a:solidFill>
              <a:latin typeface="Arial"/>
              <a:ea typeface="Arial"/>
              <a:cs typeface="Arial"/>
              <a:sym typeface="Arial"/>
            </a:endParaRPr>
          </a:p>
        </p:txBody>
      </p:sp>
      <p:sp>
        <p:nvSpPr>
          <p:cNvPr id="178" name="Google Shape;178;p6"/>
          <p:cNvSpPr/>
          <p:nvPr/>
        </p:nvSpPr>
        <p:spPr>
          <a:xfrm>
            <a:off x="6013704" y="2487168"/>
            <a:ext cx="2517600" cy="19476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9" name="Google Shape;179;p6"/>
          <p:cNvSpPr txBox="1"/>
          <p:nvPr/>
        </p:nvSpPr>
        <p:spPr>
          <a:xfrm>
            <a:off x="6178296" y="26151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THE STORY</a:t>
            </a:r>
            <a:endParaRPr b="0" i="0" spc="0" sz="1400" u="none" cap="none" strike="noStrike">
              <a:solidFill>
                <a:srgbClr val="000000"/>
              </a:solidFill>
              <a:latin typeface="Arial"/>
              <a:ea typeface="Arial"/>
              <a:cs typeface="Arial"/>
              <a:sym typeface="Arial"/>
            </a:endParaRPr>
          </a:p>
        </p:txBody>
      </p:sp>
      <p:sp>
        <p:nvSpPr>
          <p:cNvPr id="180" name="Google Shape;180;p6"/>
          <p:cNvSpPr txBox="1"/>
          <p:nvPr/>
        </p:nvSpPr>
        <p:spPr>
          <a:xfrm>
            <a:off x="6178296" y="2834640"/>
            <a:ext cx="2188500" cy="3810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Can a value be missing and still look real?</a:t>
            </a:r>
            <a:endParaRPr b="0" i="0" spc="0" sz="1400" u="none" cap="none" strike="noStrike">
              <a:solidFill>
                <a:srgbClr val="000000"/>
              </a:solidFill>
              <a:latin typeface="Arial"/>
              <a:ea typeface="Arial"/>
              <a:cs typeface="Arial"/>
              <a:sym typeface="Arial"/>
            </a:endParaRPr>
          </a:p>
        </p:txBody>
      </p:sp>
      <p:sp>
        <p:nvSpPr>
          <p:cNvPr id="181" name="Google Shape;181;p6"/>
          <p:cNvSpPr/>
          <p:nvPr/>
        </p:nvSpPr>
        <p:spPr>
          <a:xfrm>
            <a:off x="6123432" y="3401568"/>
            <a:ext cx="2298300" cy="9144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2" name="Google Shape;182;p6"/>
          <p:cNvSpPr txBox="1"/>
          <p:nvPr/>
        </p:nvSpPr>
        <p:spPr>
          <a:xfrm>
            <a:off x="6269736" y="347472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1" i="0" lang="en" spc="0" sz="900" u="none" cap="none" strike="noStrike">
                <a:solidFill>
                  <a:srgbClr val="E8A93A"/>
                </a:solidFill>
                <a:latin typeface="Inter"/>
                <a:ea typeface="Inter"/>
                <a:cs typeface="Inter"/>
                <a:sym typeface="Inter"/>
              </a:rPr>
              <a:t>THE TOOL</a:t>
            </a:r>
            <a:endParaRPr b="0" i="0" spc="0" sz="1400" u="none" cap="none" strike="noStrike">
              <a:solidFill>
                <a:srgbClr val="000000"/>
              </a:solidFill>
              <a:latin typeface="Arial"/>
              <a:ea typeface="Arial"/>
              <a:cs typeface="Arial"/>
              <a:sym typeface="Arial"/>
            </a:endParaRPr>
          </a:p>
        </p:txBody>
      </p:sp>
      <p:sp>
        <p:nvSpPr>
          <p:cNvPr id="183" name="Google Shape;183;p6"/>
          <p:cNvSpPr txBox="1"/>
          <p:nvPr/>
        </p:nvSpPr>
        <p:spPr>
          <a:xfrm>
            <a:off x="6269736" y="3694176"/>
            <a:ext cx="2060400" cy="5118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METHOD = "Microlensing"</a:t>
            </a:r>
            <a:endParaRPr b="0" i="0" spc="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sizes.</a:t>
            </a:r>
            <a:r>
              <a:rPr b="0" i="0" lang="en" spc="0" sz="950" u="none" cap="none" strike="noStrike">
                <a:solidFill>
                  <a:srgbClr val="F6F4EF"/>
                </a:solidFill>
                <a:latin typeface="Courier New"/>
                <a:ea typeface="Courier New"/>
                <a:cs typeface="Courier New"/>
                <a:sym typeface="Courier New"/>
              </a:rPr>
              <a:t>nunique</a:t>
            </a:r>
            <a:r>
              <a:rPr b="0" i="0" lang="en" spc="0" sz="950" u="none" cap="none" strike="noStrike">
                <a:solidFill>
                  <a:srgbClr val="F6F4EF"/>
                </a:solidFill>
                <a:latin typeface="Courier New"/>
                <a:ea typeface="Courier New"/>
                <a:cs typeface="Courier New"/>
                <a:sym typeface="Courier New"/>
              </a:rPr>
              <a:t>()</a:t>
            </a:r>
            <a:endParaRPr b="0" i="0" spc="0" sz="1400" u="none" cap="none" strike="noStrike">
              <a:solidFill>
                <a:srgbClr val="000000"/>
              </a:solidFill>
              <a:latin typeface="Arial"/>
              <a:ea typeface="Arial"/>
              <a:cs typeface="Arial"/>
              <a:sym typeface="Arial"/>
            </a:endParaRPr>
          </a:p>
          <a:p>
            <a:pPr indent="0" lvl="0" marL="0" marR="0" rtl="0" algn="l">
              <a:lnSpc>
                <a:spcPct val="125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 134 giants, 22 radii</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EE6"/>
            </a:gs>
            <a:gs pos="100000">
              <a:srgbClr val="E0E3FD"/>
            </a:gs>
          </a:gsLst>
          <a:path path="circle">
            <a:fillToRect b="0%" l="0%" r="100%" t="100%"/>
          </a:path>
          <a:tileRect b="-100%" l="-100%" r="0%" t="0%"/>
        </a:gradFill>
      </p:bgPr>
    </p:bg>
    <p:spTree>
      <p:nvGrpSpPr>
        <p:cNvPr id="187" name="Shape 187"/>
        <p:cNvGrpSpPr/>
        <p:nvPr/>
      </p:nvGrpSpPr>
      <p:grpSpPr>
        <a:xfrm>
          <a:off x="0" y="0"/>
          <a:ext cx="0" cy="0"/>
          <a:chOff x="0" y="0"/>
          <a:chExt cx="0" cy="0"/>
        </a:xfrm>
      </p:grpSpPr>
      <p:pic>
        <p:nvPicPr>
          <p:cNvPr descr="image.png" id="188" name="Google Shape;188;p7"/>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189" name="Google Shape;189;p7"/>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SECTION 4 · ONE VARIABLE AT A TIME</a:t>
            </a:r>
            <a:endParaRPr b="0" i="0" spc="0" sz="1400" u="none" cap="none" strike="noStrike">
              <a:solidFill>
                <a:srgbClr val="000000"/>
              </a:solidFill>
              <a:latin typeface="Arial"/>
              <a:ea typeface="Arial"/>
              <a:cs typeface="Arial"/>
              <a:sym typeface="Arial"/>
            </a:endParaRPr>
          </a:p>
        </p:txBody>
      </p:sp>
      <p:sp>
        <p:nvSpPr>
          <p:cNvPr id="190" name="Google Shape;190;p7"/>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 spc="0" sz="2700" u="none" cap="none" strike="noStrike">
                <a:solidFill>
                  <a:srgbClr val="1D1B24"/>
                </a:solidFill>
                <a:latin typeface="Space Grotesk"/>
                <a:ea typeface="Space Grotesk"/>
                <a:cs typeface="Space Grotesk"/>
                <a:sym typeface="Space Grotesk"/>
              </a:rPr>
              <a:t>Most planets finish a year in days</a:t>
            </a:r>
            <a:endParaRPr b="0" i="0" spc="0" sz="1400" u="none" cap="none" strike="noStrike">
              <a:solidFill>
                <a:srgbClr val="000000"/>
              </a:solidFill>
              <a:latin typeface="Arial"/>
              <a:ea typeface="Arial"/>
              <a:cs typeface="Arial"/>
              <a:sym typeface="Arial"/>
            </a:endParaRPr>
          </a:p>
        </p:txBody>
      </p:sp>
      <p:sp>
        <p:nvSpPr>
          <p:cNvPr id="191" name="Google Shape;191;p7"/>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0" i="0" lang="en" spc="0" sz="900" u="none" cap="none" strike="noStrike">
                <a:solidFill>
                  <a:srgbClr val="625D6E"/>
                </a:solidFill>
                <a:latin typeface="Inter"/>
                <a:ea typeface="Inter"/>
                <a:cs typeface="Inter"/>
                <a:sym typeface="Inter"/>
              </a:rPr>
              <a:t>Data Science Bootcamp · Fall 2026</a:t>
            </a:r>
            <a:endParaRPr b="0" i="0" spc="0" sz="1400" u="none" cap="none" strike="noStrike">
              <a:solidFill>
                <a:srgbClr val="000000"/>
              </a:solidFill>
              <a:latin typeface="Arial"/>
              <a:ea typeface="Arial"/>
              <a:cs typeface="Arial"/>
              <a:sym typeface="Arial"/>
            </a:endParaRPr>
          </a:p>
        </p:txBody>
      </p:sp>
      <p:sp>
        <p:nvSpPr>
          <p:cNvPr id="192" name="Google Shape;192;p7"/>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Clr>
                <a:srgbClr val="000000"/>
              </a:buClr>
              <a:buSzPts val="900"/>
              <a:buFont typeface="Arial"/>
              <a:buNone/>
            </a:pPr>
            <a:fld id="{00000000-1234-1234-1234-123412341234}" type="slidenum">
              <a:rPr b="0" i="0" lang="en" spc="0" sz="900" u="none" cap="none" strike="noStrike">
                <a:solidFill>
                  <a:srgbClr val="625D6E"/>
                </a:solidFill>
                <a:latin typeface="Inter"/>
                <a:ea typeface="Inter"/>
                <a:cs typeface="Inter"/>
                <a:sym typeface="Inter"/>
              </a:rPr>
              <a:t>‹#›</a:t>
            </a:fld>
            <a:endParaRPr b="0" i="0" spc="0" sz="1400" u="none" cap="none" strike="noStrike">
              <a:solidFill>
                <a:srgbClr val="000000"/>
              </a:solidFill>
              <a:latin typeface="Arial"/>
              <a:ea typeface="Arial"/>
              <a:cs typeface="Arial"/>
              <a:sym typeface="Arial"/>
            </a:endParaRPr>
          </a:p>
        </p:txBody>
      </p:sp>
      <p:sp>
        <p:nvSpPr>
          <p:cNvPr id="193" name="Google Shape;193;p7"/>
          <p:cNvSpPr/>
          <p:nvPr/>
        </p:nvSpPr>
        <p:spPr>
          <a:xfrm>
            <a:off x="61264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4" name="Google Shape;194;p7"/>
          <p:cNvSpPr txBox="1"/>
          <p:nvPr/>
        </p:nvSpPr>
        <p:spPr>
          <a:xfrm>
            <a:off x="61264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1D1B24"/>
                </a:solidFill>
                <a:latin typeface="Courier New"/>
                <a:ea typeface="Courier New"/>
                <a:cs typeface="Courier New"/>
                <a:sym typeface="Courier New"/>
              </a:rPr>
              <a:t>0.09</a:t>
            </a:r>
            <a:endParaRPr b="0" i="0" spc="0" sz="1400" u="none" cap="none" strike="noStrike">
              <a:solidFill>
                <a:srgbClr val="000000"/>
              </a:solidFill>
              <a:latin typeface="Arial"/>
              <a:ea typeface="Arial"/>
              <a:cs typeface="Arial"/>
              <a:sym typeface="Arial"/>
            </a:endParaRPr>
          </a:p>
        </p:txBody>
      </p:sp>
      <p:sp>
        <p:nvSpPr>
          <p:cNvPr id="195" name="Google Shape;195;p7"/>
          <p:cNvSpPr/>
          <p:nvPr/>
        </p:nvSpPr>
        <p:spPr>
          <a:xfrm>
            <a:off x="111556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6" name="Google Shape;196;p7"/>
          <p:cNvSpPr txBox="1"/>
          <p:nvPr/>
        </p:nvSpPr>
        <p:spPr>
          <a:xfrm>
            <a:off x="111556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1D1B24"/>
                </a:solidFill>
                <a:latin typeface="Courier New"/>
                <a:ea typeface="Courier New"/>
                <a:cs typeface="Courier New"/>
                <a:sym typeface="Courier New"/>
              </a:rPr>
              <a:t>4.3</a:t>
            </a:r>
            <a:endParaRPr b="0" i="0" spc="0" sz="1400" u="none" cap="none" strike="noStrike">
              <a:solidFill>
                <a:srgbClr val="000000"/>
              </a:solidFill>
              <a:latin typeface="Arial"/>
              <a:ea typeface="Arial"/>
              <a:cs typeface="Arial"/>
              <a:sym typeface="Arial"/>
            </a:endParaRPr>
          </a:p>
        </p:txBody>
      </p:sp>
      <p:sp>
        <p:nvSpPr>
          <p:cNvPr id="197" name="Google Shape;197;p7"/>
          <p:cNvSpPr/>
          <p:nvPr/>
        </p:nvSpPr>
        <p:spPr>
          <a:xfrm>
            <a:off x="161848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8" name="Google Shape;198;p7"/>
          <p:cNvSpPr txBox="1"/>
          <p:nvPr/>
        </p:nvSpPr>
        <p:spPr>
          <a:xfrm>
            <a:off x="161848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1D1B24"/>
                </a:solidFill>
                <a:latin typeface="Courier New"/>
                <a:ea typeface="Courier New"/>
                <a:cs typeface="Courier New"/>
                <a:sym typeface="Courier New"/>
              </a:rPr>
              <a:t>10.7</a:t>
            </a:r>
            <a:endParaRPr b="0" i="0" spc="0" sz="1400" u="none" cap="none" strike="noStrike">
              <a:solidFill>
                <a:srgbClr val="000000"/>
              </a:solidFill>
              <a:latin typeface="Arial"/>
              <a:ea typeface="Arial"/>
              <a:cs typeface="Arial"/>
              <a:sym typeface="Arial"/>
            </a:endParaRPr>
          </a:p>
        </p:txBody>
      </p:sp>
      <p:sp>
        <p:nvSpPr>
          <p:cNvPr id="199" name="Google Shape;199;p7"/>
          <p:cNvSpPr/>
          <p:nvPr/>
        </p:nvSpPr>
        <p:spPr>
          <a:xfrm>
            <a:off x="212140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0" name="Google Shape;200;p7"/>
          <p:cNvSpPr txBox="1"/>
          <p:nvPr/>
        </p:nvSpPr>
        <p:spPr>
          <a:xfrm>
            <a:off x="212140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1D1B24"/>
                </a:solidFill>
                <a:latin typeface="Courier New"/>
                <a:ea typeface="Courier New"/>
                <a:cs typeface="Courier New"/>
                <a:sym typeface="Courier New"/>
              </a:rPr>
              <a:t>38</a:t>
            </a:r>
            <a:endParaRPr b="0" i="0" spc="0" sz="1400" u="none" cap="none" strike="noStrike">
              <a:solidFill>
                <a:srgbClr val="000000"/>
              </a:solidFill>
              <a:latin typeface="Arial"/>
              <a:ea typeface="Arial"/>
              <a:cs typeface="Arial"/>
              <a:sym typeface="Arial"/>
            </a:endParaRPr>
          </a:p>
        </p:txBody>
      </p:sp>
      <p:sp>
        <p:nvSpPr>
          <p:cNvPr id="201" name="Google Shape;201;p7"/>
          <p:cNvSpPr/>
          <p:nvPr/>
        </p:nvSpPr>
        <p:spPr>
          <a:xfrm>
            <a:off x="262432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 name="Google Shape;202;p7"/>
          <p:cNvSpPr txBox="1"/>
          <p:nvPr/>
        </p:nvSpPr>
        <p:spPr>
          <a:xfrm>
            <a:off x="262432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1D1B24"/>
                </a:solidFill>
                <a:latin typeface="Courier New"/>
                <a:ea typeface="Courier New"/>
                <a:cs typeface="Courier New"/>
                <a:sym typeface="Courier New"/>
              </a:rPr>
              <a:t>…</a:t>
            </a:r>
            <a:endParaRPr b="0" i="0" spc="0" sz="1400" u="none" cap="none" strike="noStrike">
              <a:solidFill>
                <a:srgbClr val="000000"/>
              </a:solidFill>
              <a:latin typeface="Arial"/>
              <a:ea typeface="Arial"/>
              <a:cs typeface="Arial"/>
              <a:sym typeface="Arial"/>
            </a:endParaRPr>
          </a:p>
        </p:txBody>
      </p:sp>
      <p:sp>
        <p:nvSpPr>
          <p:cNvPr id="203" name="Google Shape;203;p7"/>
          <p:cNvSpPr/>
          <p:nvPr/>
        </p:nvSpPr>
        <p:spPr>
          <a:xfrm>
            <a:off x="3127248" y="1417320"/>
            <a:ext cx="457200" cy="274200"/>
          </a:xfrm>
          <a:prstGeom prst="roundRect">
            <a:avLst>
              <a:gd fmla="val 12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4" name="Google Shape;204;p7"/>
          <p:cNvSpPr txBox="1"/>
          <p:nvPr/>
        </p:nvSpPr>
        <p:spPr>
          <a:xfrm>
            <a:off x="3127248" y="1417320"/>
            <a:ext cx="457200" cy="13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en" spc="0" sz="900" u="none" cap="none" strike="noStrike">
                <a:solidFill>
                  <a:srgbClr val="1D1B24"/>
                </a:solidFill>
                <a:latin typeface="Courier New"/>
                <a:ea typeface="Courier New"/>
                <a:cs typeface="Courier New"/>
                <a:sym typeface="Courier New"/>
              </a:rPr>
              <a:t>402M</a:t>
            </a:r>
            <a:endParaRPr b="0" i="0" spc="0" sz="1400" u="none" cap="none" strike="noStrike">
              <a:solidFill>
                <a:srgbClr val="000000"/>
              </a:solidFill>
              <a:latin typeface="Arial"/>
              <a:ea typeface="Arial"/>
              <a:cs typeface="Arial"/>
              <a:sym typeface="Arial"/>
            </a:endParaRPr>
          </a:p>
        </p:txBody>
      </p:sp>
      <p:sp>
        <p:nvSpPr>
          <p:cNvPr id="205" name="Google Shape;205;p7"/>
          <p:cNvSpPr txBox="1"/>
          <p:nvPr/>
        </p:nvSpPr>
        <p:spPr>
          <a:xfrm>
            <a:off x="612648" y="1737360"/>
            <a:ext cx="329184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0" lang="en" spc="0" sz="950" u="none" cap="none" strike="noStrike">
                <a:solidFill>
                  <a:srgbClr val="625D6E"/>
                </a:solidFill>
                <a:latin typeface="Inter"/>
                <a:ea typeface="Inter"/>
                <a:cs typeface="Inter"/>
                <a:sym typeface="Inter"/>
              </a:rPr>
              <a:t>Orbital period in days: min, Q1, median, Q3 … max</a:t>
            </a:r>
            <a:endParaRPr b="0" i="0" spc="0" sz="1400" u="none" cap="none" strike="noStrike">
              <a:solidFill>
                <a:srgbClr val="000000"/>
              </a:solidFill>
              <a:latin typeface="Arial"/>
              <a:ea typeface="Arial"/>
              <a:cs typeface="Arial"/>
              <a:sym typeface="Arial"/>
            </a:endParaRPr>
          </a:p>
        </p:txBody>
      </p:sp>
      <p:sp>
        <p:nvSpPr>
          <p:cNvPr id="206" name="Google Shape;206;p7"/>
          <p:cNvSpPr/>
          <p:nvPr/>
        </p:nvSpPr>
        <p:spPr>
          <a:xfrm>
            <a:off x="704088" y="1965960"/>
            <a:ext cx="183000" cy="237600"/>
          </a:xfrm>
          <a:prstGeom prst="down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7" name="Google Shape;207;p7"/>
          <p:cNvSpPr txBox="1"/>
          <p:nvPr/>
        </p:nvSpPr>
        <p:spPr>
          <a:xfrm>
            <a:off x="996696" y="1984248"/>
            <a:ext cx="27432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rgbClr val="351C75"/>
                </a:solidFill>
                <a:latin typeface="Courier New"/>
                <a:ea typeface="Courier New"/>
                <a:cs typeface="Courier New"/>
                <a:sym typeface="Courier New"/>
              </a:rPr>
              <a:t>np.log10(period)</a:t>
            </a:r>
            <a:endParaRPr b="0" i="0" spc="0" sz="1400" u="none" cap="none" strike="noStrike">
              <a:solidFill>
                <a:srgbClr val="000000"/>
              </a:solidFill>
              <a:latin typeface="Arial"/>
              <a:ea typeface="Arial"/>
              <a:cs typeface="Arial"/>
              <a:sym typeface="Arial"/>
            </a:endParaRPr>
          </a:p>
        </p:txBody>
      </p:sp>
      <p:sp>
        <p:nvSpPr>
          <p:cNvPr id="208" name="Google Shape;208;p7"/>
          <p:cNvSpPr txBox="1"/>
          <p:nvPr/>
        </p:nvSpPr>
        <p:spPr>
          <a:xfrm>
            <a:off x="886968" y="2304288"/>
            <a:ext cx="219456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0" lang="en" spc="0" sz="950" u="none" cap="none" strike="noStrike">
                <a:solidFill>
                  <a:srgbClr val="625D6E"/>
                </a:solidFill>
                <a:latin typeface="Inter"/>
                <a:ea typeface="Inter"/>
                <a:cs typeface="Inter"/>
                <a:sym typeface="Inter"/>
              </a:rPr>
              <a:t>under 1 day  →  over 10,000 days</a:t>
            </a:r>
            <a:endParaRPr b="0" i="0" spc="0" sz="1400" u="none" cap="none" strike="noStrike">
              <a:solidFill>
                <a:srgbClr val="000000"/>
              </a:solidFill>
              <a:latin typeface="Arial"/>
              <a:ea typeface="Arial"/>
              <a:cs typeface="Arial"/>
              <a:sym typeface="Arial"/>
            </a:endParaRPr>
          </a:p>
        </p:txBody>
      </p:sp>
      <p:sp>
        <p:nvSpPr>
          <p:cNvPr id="209" name="Google Shape;209;p7"/>
          <p:cNvSpPr/>
          <p:nvPr/>
        </p:nvSpPr>
        <p:spPr>
          <a:xfrm>
            <a:off x="886968" y="2523744"/>
            <a:ext cx="274200" cy="237600"/>
          </a:xfrm>
          <a:prstGeom prst="roundRect">
            <a:avLst>
              <a:gd fmla="val 15000" name="adj"/>
            </a:avLst>
          </a:prstGeom>
          <a:solidFill>
            <a:srgbClr val="FDFCFA"/>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0" name="Google Shape;210;p7"/>
          <p:cNvSpPr/>
          <p:nvPr/>
        </p:nvSpPr>
        <p:spPr>
          <a:xfrm>
            <a:off x="1197864" y="2523744"/>
            <a:ext cx="274200" cy="237600"/>
          </a:xfrm>
          <a:prstGeom prst="roundRect">
            <a:avLst>
              <a:gd fmla="val 15000" name="adj"/>
            </a:avLst>
          </a:prstGeom>
          <a:solidFill>
            <a:srgbClr val="B9A2DE"/>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1" name="Google Shape;211;p7"/>
          <p:cNvSpPr/>
          <p:nvPr/>
        </p:nvSpPr>
        <p:spPr>
          <a:xfrm>
            <a:off x="1508760" y="2523744"/>
            <a:ext cx="274200" cy="237600"/>
          </a:xfrm>
          <a:prstGeom prst="roundRect">
            <a:avLst>
              <a:gd fmla="val 15000" name="adj"/>
            </a:avLst>
          </a:prstGeom>
          <a:solidFill>
            <a:srgbClr val="FDFCFA"/>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2" name="Google Shape;212;p7"/>
          <p:cNvSpPr/>
          <p:nvPr/>
        </p:nvSpPr>
        <p:spPr>
          <a:xfrm>
            <a:off x="1819656" y="2523744"/>
            <a:ext cx="274200" cy="237600"/>
          </a:xfrm>
          <a:prstGeom prst="roundRect">
            <a:avLst>
              <a:gd fmla="val 15000" name="adj"/>
            </a:avLst>
          </a:prstGeom>
          <a:solidFill>
            <a:srgbClr val="FDFCFA"/>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3" name="Google Shape;213;p7"/>
          <p:cNvSpPr/>
          <p:nvPr/>
        </p:nvSpPr>
        <p:spPr>
          <a:xfrm>
            <a:off x="2130552" y="2523744"/>
            <a:ext cx="274200" cy="237600"/>
          </a:xfrm>
          <a:prstGeom prst="roundRect">
            <a:avLst>
              <a:gd fmla="val 15000" name="adj"/>
            </a:avLst>
          </a:prstGeom>
          <a:solidFill>
            <a:srgbClr val="FDFCFA"/>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4" name="Google Shape;214;p7"/>
          <p:cNvSpPr/>
          <p:nvPr/>
        </p:nvSpPr>
        <p:spPr>
          <a:xfrm>
            <a:off x="2441448" y="2523744"/>
            <a:ext cx="274200" cy="237600"/>
          </a:xfrm>
          <a:prstGeom prst="roundRect">
            <a:avLst>
              <a:gd fmla="val 15000" name="adj"/>
            </a:avLst>
          </a:prstGeom>
          <a:solidFill>
            <a:srgbClr val="FDFCFA"/>
          </a:solidFill>
          <a:ln cap="flat" cmpd="sng" w="9525">
            <a:solidFill>
              <a:srgbClr val="D5A6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5" name="Google Shape;215;p7"/>
          <p:cNvSpPr/>
          <p:nvPr/>
        </p:nvSpPr>
        <p:spPr>
          <a:xfrm>
            <a:off x="886968" y="279806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6" name="Google Shape;216;p7"/>
          <p:cNvSpPr/>
          <p:nvPr/>
        </p:nvSpPr>
        <p:spPr>
          <a:xfrm>
            <a:off x="1197864" y="2798063"/>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7" name="Google Shape;217;p7"/>
          <p:cNvSpPr/>
          <p:nvPr/>
        </p:nvSpPr>
        <p:spPr>
          <a:xfrm>
            <a:off x="1508760" y="2798063"/>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8" name="Google Shape;218;p7"/>
          <p:cNvSpPr/>
          <p:nvPr/>
        </p:nvSpPr>
        <p:spPr>
          <a:xfrm>
            <a:off x="1819656" y="279806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 name="Google Shape;219;p7"/>
          <p:cNvSpPr/>
          <p:nvPr/>
        </p:nvSpPr>
        <p:spPr>
          <a:xfrm>
            <a:off x="2130552" y="279806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0" name="Google Shape;220;p7"/>
          <p:cNvSpPr/>
          <p:nvPr/>
        </p:nvSpPr>
        <p:spPr>
          <a:xfrm>
            <a:off x="2441448" y="279806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 name="Google Shape;221;p7"/>
          <p:cNvSpPr/>
          <p:nvPr/>
        </p:nvSpPr>
        <p:spPr>
          <a:xfrm>
            <a:off x="886968" y="307238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 name="Google Shape;222;p7"/>
          <p:cNvSpPr/>
          <p:nvPr/>
        </p:nvSpPr>
        <p:spPr>
          <a:xfrm>
            <a:off x="1197864" y="3072384"/>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3" name="Google Shape;223;p7"/>
          <p:cNvSpPr/>
          <p:nvPr/>
        </p:nvSpPr>
        <p:spPr>
          <a:xfrm>
            <a:off x="1508760" y="3072384"/>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4" name="Google Shape;224;p7"/>
          <p:cNvSpPr/>
          <p:nvPr/>
        </p:nvSpPr>
        <p:spPr>
          <a:xfrm>
            <a:off x="1819656" y="307238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 name="Google Shape;225;p7"/>
          <p:cNvSpPr/>
          <p:nvPr/>
        </p:nvSpPr>
        <p:spPr>
          <a:xfrm>
            <a:off x="2130552" y="307238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6" name="Google Shape;226;p7"/>
          <p:cNvSpPr/>
          <p:nvPr/>
        </p:nvSpPr>
        <p:spPr>
          <a:xfrm>
            <a:off x="2441448" y="3072384"/>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7" name="Google Shape;227;p7"/>
          <p:cNvSpPr/>
          <p:nvPr/>
        </p:nvSpPr>
        <p:spPr>
          <a:xfrm>
            <a:off x="886968" y="334670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 name="Google Shape;228;p7"/>
          <p:cNvSpPr/>
          <p:nvPr/>
        </p:nvSpPr>
        <p:spPr>
          <a:xfrm>
            <a:off x="1197864" y="3346703"/>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9" name="Google Shape;229;p7"/>
          <p:cNvSpPr/>
          <p:nvPr/>
        </p:nvSpPr>
        <p:spPr>
          <a:xfrm>
            <a:off x="1508760" y="3346703"/>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0" name="Google Shape;230;p7"/>
          <p:cNvSpPr/>
          <p:nvPr/>
        </p:nvSpPr>
        <p:spPr>
          <a:xfrm>
            <a:off x="1819656" y="3346703"/>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1" name="Google Shape;231;p7"/>
          <p:cNvSpPr/>
          <p:nvPr/>
        </p:nvSpPr>
        <p:spPr>
          <a:xfrm>
            <a:off x="2130552" y="334670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2" name="Google Shape;232;p7"/>
          <p:cNvSpPr/>
          <p:nvPr/>
        </p:nvSpPr>
        <p:spPr>
          <a:xfrm>
            <a:off x="2441448" y="3346703"/>
            <a:ext cx="274200" cy="237600"/>
          </a:xfrm>
          <a:prstGeom prst="roundRect">
            <a:avLst>
              <a:gd fmla="val 15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3" name="Google Shape;233;p7"/>
          <p:cNvSpPr/>
          <p:nvPr/>
        </p:nvSpPr>
        <p:spPr>
          <a:xfrm>
            <a:off x="886968" y="3621024"/>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4" name="Google Shape;234;p7"/>
          <p:cNvSpPr/>
          <p:nvPr/>
        </p:nvSpPr>
        <p:spPr>
          <a:xfrm>
            <a:off x="1197864" y="3621024"/>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5" name="Google Shape;235;p7"/>
          <p:cNvSpPr/>
          <p:nvPr/>
        </p:nvSpPr>
        <p:spPr>
          <a:xfrm>
            <a:off x="1508760" y="3621024"/>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6" name="Google Shape;236;p7"/>
          <p:cNvSpPr/>
          <p:nvPr/>
        </p:nvSpPr>
        <p:spPr>
          <a:xfrm>
            <a:off x="1819656" y="3621024"/>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7" name="Google Shape;237;p7"/>
          <p:cNvSpPr/>
          <p:nvPr/>
        </p:nvSpPr>
        <p:spPr>
          <a:xfrm>
            <a:off x="2130552" y="3621024"/>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8" name="Google Shape;238;p7"/>
          <p:cNvSpPr/>
          <p:nvPr/>
        </p:nvSpPr>
        <p:spPr>
          <a:xfrm>
            <a:off x="2441448" y="3621024"/>
            <a:ext cx="274200" cy="237600"/>
          </a:xfrm>
          <a:prstGeom prst="roundRect">
            <a:avLst>
              <a:gd fmla="val 15000" name="adj"/>
            </a:avLst>
          </a:prstGeom>
          <a:solidFill>
            <a:srgbClr val="B9A2DE"/>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9" name="Google Shape;239;p7"/>
          <p:cNvSpPr txBox="1"/>
          <p:nvPr/>
        </p:nvSpPr>
        <p:spPr>
          <a:xfrm>
            <a:off x="886968" y="3922776"/>
            <a:ext cx="219456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0" lang="en" spc="0" sz="950" u="none" cap="none" strike="noStrike">
                <a:solidFill>
                  <a:srgbClr val="625D6E"/>
                </a:solidFill>
                <a:latin typeface="Inter"/>
                <a:ea typeface="Inter"/>
                <a:cs typeface="Inter"/>
                <a:sym typeface="Inter"/>
              </a:rPr>
              <a:t>taller column = more planets</a:t>
            </a:r>
            <a:endParaRPr b="0" i="0" spc="0" sz="1400" u="none" cap="none" strike="noStrike">
              <a:solidFill>
                <a:srgbClr val="000000"/>
              </a:solidFill>
              <a:latin typeface="Arial"/>
              <a:ea typeface="Arial"/>
              <a:cs typeface="Arial"/>
              <a:sym typeface="Arial"/>
            </a:endParaRPr>
          </a:p>
        </p:txBody>
      </p:sp>
      <p:sp>
        <p:nvSpPr>
          <p:cNvPr id="240" name="Google Shape;240;p7"/>
          <p:cNvSpPr/>
          <p:nvPr/>
        </p:nvSpPr>
        <p:spPr>
          <a:xfrm>
            <a:off x="2944368" y="2523744"/>
            <a:ext cx="1920300" cy="676800"/>
          </a:xfrm>
          <a:prstGeom prst="roundRect">
            <a:avLst>
              <a:gd fmla="val 14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1" name="Google Shape;241;p7"/>
          <p:cNvSpPr txBox="1"/>
          <p:nvPr/>
        </p:nvSpPr>
        <p:spPr>
          <a:xfrm>
            <a:off x="3108960" y="2596896"/>
            <a:ext cx="16002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rgbClr val="E8A93A"/>
                </a:solidFill>
                <a:latin typeface="Courier New"/>
                <a:ea typeface="Courier New"/>
                <a:cs typeface="Courier New"/>
                <a:sym typeface="Courier New"/>
              </a:rPr>
              <a:t>normal scale</a:t>
            </a:r>
            <a:endParaRPr b="0" i="0" spc="0" sz="1400" u="none" cap="none" strike="noStrike">
              <a:solidFill>
                <a:srgbClr val="000000"/>
              </a:solidFill>
              <a:latin typeface="Arial"/>
              <a:ea typeface="Arial"/>
              <a:cs typeface="Arial"/>
              <a:sym typeface="Arial"/>
            </a:endParaRPr>
          </a:p>
        </p:txBody>
      </p:sp>
      <p:sp>
        <p:nvSpPr>
          <p:cNvPr id="242" name="Google Shape;242;p7"/>
          <p:cNvSpPr txBox="1"/>
          <p:nvPr/>
        </p:nvSpPr>
        <p:spPr>
          <a:xfrm>
            <a:off x="3108960" y="2807208"/>
            <a:ext cx="1600200" cy="32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Inter"/>
                <a:ea typeface="Inter"/>
                <a:cs typeface="Inter"/>
                <a:sym typeface="Inter"/>
              </a:rPr>
              <a:t>one 402-million-day year squashes it all into one bar</a:t>
            </a:r>
            <a:endParaRPr b="0" i="0" spc="0" sz="1400" u="none" cap="none" strike="noStrike">
              <a:solidFill>
                <a:srgbClr val="000000"/>
              </a:solidFill>
              <a:latin typeface="Arial"/>
              <a:ea typeface="Arial"/>
              <a:cs typeface="Arial"/>
              <a:sym typeface="Arial"/>
            </a:endParaRPr>
          </a:p>
        </p:txBody>
      </p:sp>
      <p:sp>
        <p:nvSpPr>
          <p:cNvPr id="243" name="Google Shape;243;p7"/>
          <p:cNvSpPr/>
          <p:nvPr/>
        </p:nvSpPr>
        <p:spPr>
          <a:xfrm>
            <a:off x="2944368" y="3310127"/>
            <a:ext cx="1920300" cy="676800"/>
          </a:xfrm>
          <a:prstGeom prst="roundRect">
            <a:avLst>
              <a:gd fmla="val 14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4" name="Google Shape;244;p7"/>
          <p:cNvSpPr txBox="1"/>
          <p:nvPr/>
        </p:nvSpPr>
        <p:spPr>
          <a:xfrm>
            <a:off x="3108960" y="3383279"/>
            <a:ext cx="16002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rgbClr val="E8A93A"/>
                </a:solidFill>
                <a:latin typeface="Courier New"/>
                <a:ea typeface="Courier New"/>
                <a:cs typeface="Courier New"/>
                <a:sym typeface="Courier New"/>
              </a:rPr>
              <a:t>log scale</a:t>
            </a:r>
            <a:endParaRPr b="0" i="0" spc="0" sz="1400" u="none" cap="none" strike="noStrike">
              <a:solidFill>
                <a:srgbClr val="000000"/>
              </a:solidFill>
              <a:latin typeface="Arial"/>
              <a:ea typeface="Arial"/>
              <a:cs typeface="Arial"/>
              <a:sym typeface="Arial"/>
            </a:endParaRPr>
          </a:p>
        </p:txBody>
      </p:sp>
      <p:sp>
        <p:nvSpPr>
          <p:cNvPr id="245" name="Google Shape;245;p7"/>
          <p:cNvSpPr txBox="1"/>
          <p:nvPr/>
        </p:nvSpPr>
        <p:spPr>
          <a:xfrm>
            <a:off x="3108960" y="3593591"/>
            <a:ext cx="1600200" cy="32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Inter"/>
                <a:ea typeface="Inter"/>
                <a:cs typeface="Inter"/>
                <a:sym typeface="Inter"/>
              </a:rPr>
              <a:t>one clear peak: a few days per year</a:t>
            </a:r>
            <a:endParaRPr b="0" i="0" spc="0" sz="1400" u="none" cap="none" strike="noStrike">
              <a:solidFill>
                <a:srgbClr val="000000"/>
              </a:solidFill>
              <a:latin typeface="Arial"/>
              <a:ea typeface="Arial"/>
              <a:cs typeface="Arial"/>
              <a:sym typeface="Arial"/>
            </a:endParaRPr>
          </a:p>
        </p:txBody>
      </p:sp>
      <p:sp>
        <p:nvSpPr>
          <p:cNvPr id="246" name="Google Shape;246;p7"/>
          <p:cNvSpPr/>
          <p:nvPr/>
        </p:nvSpPr>
        <p:spPr>
          <a:xfrm>
            <a:off x="5047500" y="1298450"/>
            <a:ext cx="3483900" cy="13683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7" name="Google Shape;247;p7"/>
          <p:cNvSpPr txBox="1"/>
          <p:nvPr/>
        </p:nvSpPr>
        <p:spPr>
          <a:xfrm>
            <a:off x="5230368" y="1453895"/>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THE STORY</a:t>
            </a:r>
            <a:endParaRPr b="0" i="0" spc="0" sz="1400" u="none" cap="none" strike="noStrike">
              <a:solidFill>
                <a:srgbClr val="000000"/>
              </a:solidFill>
              <a:latin typeface="Arial"/>
              <a:ea typeface="Arial"/>
              <a:cs typeface="Arial"/>
              <a:sym typeface="Arial"/>
            </a:endParaRPr>
          </a:p>
        </p:txBody>
      </p:sp>
      <p:sp>
        <p:nvSpPr>
          <p:cNvPr id="248" name="Google Shape;248;p7"/>
          <p:cNvSpPr txBox="1"/>
          <p:nvPr/>
        </p:nvSpPr>
        <p:spPr>
          <a:xfrm>
            <a:off x="5230368" y="1691639"/>
            <a:ext cx="3118200" cy="46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 spc="0" sz="1400" u="none" cap="none" strike="noStrike">
                <a:solidFill>
                  <a:srgbClr val="351C75"/>
                </a:solidFill>
                <a:latin typeface="Space Grotesk"/>
                <a:ea typeface="Space Grotesk"/>
                <a:cs typeface="Space Grotesk"/>
                <a:sym typeface="Space Grotesk"/>
              </a:rPr>
              <a:t>How long is a typical exoplanet year?</a:t>
            </a:r>
            <a:endParaRPr b="0" i="0" spc="0" sz="1400" u="none" cap="none" strike="noStrike">
              <a:solidFill>
                <a:srgbClr val="000000"/>
              </a:solidFill>
              <a:latin typeface="Arial"/>
              <a:ea typeface="Arial"/>
              <a:cs typeface="Arial"/>
              <a:sym typeface="Arial"/>
            </a:endParaRPr>
          </a:p>
        </p:txBody>
      </p:sp>
      <p:sp>
        <p:nvSpPr>
          <p:cNvPr id="249" name="Google Shape;249;p7"/>
          <p:cNvSpPr txBox="1"/>
          <p:nvPr/>
        </p:nvSpPr>
        <p:spPr>
          <a:xfrm>
            <a:off x="5230368" y="2172516"/>
            <a:ext cx="3118200" cy="37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050"/>
              <a:buFont typeface="Arial"/>
              <a:buNone/>
            </a:pPr>
            <a:r>
              <a:rPr b="0" i="0" lang="en" spc="0" sz="1050" u="none" cap="none" strike="noStrike">
                <a:solidFill>
                  <a:srgbClr val="1D1B24"/>
                </a:solidFill>
                <a:latin typeface="Inter"/>
                <a:ea typeface="Inter"/>
                <a:cs typeface="Inter"/>
                <a:sym typeface="Inter"/>
              </a:rPr>
              <a:t>Median: 10.7 days. 83% of planets have a shorter year than Mercury (88 days).</a:t>
            </a:r>
            <a:endParaRPr b="0" i="0" spc="0" sz="1050" u="none" cap="none" strike="noStrike">
              <a:solidFill>
                <a:srgbClr val="1D1B24"/>
              </a:solidFill>
              <a:latin typeface="Inter"/>
              <a:ea typeface="Inter"/>
              <a:cs typeface="Inter"/>
              <a:sym typeface="Inter"/>
            </a:endParaRPr>
          </a:p>
        </p:txBody>
      </p:sp>
      <p:sp>
        <p:nvSpPr>
          <p:cNvPr id="250" name="Google Shape;250;p7"/>
          <p:cNvSpPr/>
          <p:nvPr/>
        </p:nvSpPr>
        <p:spPr>
          <a:xfrm>
            <a:off x="5047513" y="2935261"/>
            <a:ext cx="3483900" cy="14997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1" name="Google Shape;251;p7"/>
          <p:cNvSpPr txBox="1"/>
          <p:nvPr/>
        </p:nvSpPr>
        <p:spPr>
          <a:xfrm>
            <a:off x="5230368" y="3064509"/>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E8A93A"/>
                </a:solidFill>
                <a:latin typeface="Inter"/>
                <a:ea typeface="Inter"/>
                <a:cs typeface="Inter"/>
                <a:sym typeface="Inter"/>
              </a:rPr>
              <a:t>THE TOOL</a:t>
            </a:r>
            <a:endParaRPr b="0" i="0" spc="0" sz="1400" u="none" cap="none" strike="noStrike">
              <a:solidFill>
                <a:srgbClr val="000000"/>
              </a:solidFill>
              <a:latin typeface="Arial"/>
              <a:ea typeface="Arial"/>
              <a:cs typeface="Arial"/>
              <a:sym typeface="Arial"/>
            </a:endParaRPr>
          </a:p>
        </p:txBody>
      </p:sp>
      <p:sp>
        <p:nvSpPr>
          <p:cNvPr id="252" name="Google Shape;252;p7"/>
          <p:cNvSpPr txBox="1"/>
          <p:nvPr/>
        </p:nvSpPr>
        <p:spPr>
          <a:xfrm>
            <a:off x="5230368" y="3329685"/>
            <a:ext cx="3118200" cy="9543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period.</a:t>
            </a:r>
            <a:r>
              <a:rPr b="1" i="0" lang="en" spc="0" sz="1000" u="none" cap="none" strike="noStrike">
                <a:solidFill>
                  <a:srgbClr val="E8A93A"/>
                </a:solidFill>
                <a:latin typeface="Courier New"/>
                <a:ea typeface="Courier New"/>
                <a:cs typeface="Courier New"/>
                <a:sym typeface="Courier New"/>
              </a:rPr>
              <a:t>median</a:t>
            </a:r>
            <a:r>
              <a:rPr b="0" i="0" lang="en" spc="0" sz="1000" u="none" cap="none" strike="noStrike">
                <a:solidFill>
                  <a:srgbClr val="F6F4EF"/>
                </a:solidFill>
                <a:latin typeface="Courier New"/>
                <a:ea typeface="Courier New"/>
                <a:cs typeface="Courier New"/>
                <a:sym typeface="Courier New"/>
              </a:rPr>
              <a:t>()            # 10.7</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(period &lt; 88).</a:t>
            </a:r>
            <a:r>
              <a:rPr b="1" i="0" lang="en" spc="0" sz="1000" u="none" cap="none" strike="noStrike">
                <a:solidFill>
                  <a:srgbClr val="E8A93A"/>
                </a:solidFill>
                <a:latin typeface="Courier New"/>
                <a:ea typeface="Courier New"/>
                <a:cs typeface="Courier New"/>
                <a:sym typeface="Courier New"/>
              </a:rPr>
              <a:t>mean</a:t>
            </a:r>
            <a:r>
              <a:rPr b="0" i="0" lang="en" spc="0" sz="1000" u="none" cap="none" strike="noStrike">
                <a:solidFill>
                  <a:srgbClr val="F6F4EF"/>
                </a:solidFill>
                <a:latin typeface="Courier New"/>
                <a:ea typeface="Courier New"/>
                <a:cs typeface="Courier New"/>
                <a:sym typeface="Courier New"/>
              </a:rPr>
              <a:t>()       # 0.83</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plt.</a:t>
            </a:r>
            <a:r>
              <a:rPr b="1" i="0" lang="en" spc="0" sz="1000" u="none" cap="none" strike="noStrike">
                <a:solidFill>
                  <a:srgbClr val="E8A93A"/>
                </a:solidFill>
                <a:latin typeface="Courier New"/>
                <a:ea typeface="Courier New"/>
                <a:cs typeface="Courier New"/>
                <a:sym typeface="Courier New"/>
              </a:rPr>
              <a:t>hist</a:t>
            </a:r>
            <a:r>
              <a:rPr b="0" i="0" lang="en" spc="0" sz="1000" u="none" cap="none" strike="noStrike">
                <a:solidFill>
                  <a:srgbClr val="F6F4EF"/>
                </a:solidFill>
                <a:latin typeface="Courier New"/>
                <a:ea typeface="Courier New"/>
                <a:cs typeface="Courier New"/>
                <a:sym typeface="Courier New"/>
              </a:rPr>
              <a:t>(np.</a:t>
            </a:r>
            <a:r>
              <a:rPr b="1" i="0" lang="en" spc="0" sz="1000" u="none" cap="none" strike="noStrike">
                <a:solidFill>
                  <a:srgbClr val="E8A93A"/>
                </a:solidFill>
                <a:latin typeface="Courier New"/>
                <a:ea typeface="Courier New"/>
                <a:cs typeface="Courier New"/>
                <a:sym typeface="Courier New"/>
              </a:rPr>
              <a:t>log10</a:t>
            </a:r>
            <a:r>
              <a:rPr b="0" i="0" lang="en" spc="0" sz="1000" u="none" cap="none" strike="noStrike">
                <a:solidFill>
                  <a:srgbClr val="F6F4EF"/>
                </a:solidFill>
                <a:latin typeface="Courier New"/>
                <a:ea typeface="Courier New"/>
                <a:cs typeface="Courier New"/>
                <a:sym typeface="Courier New"/>
              </a:rPr>
              <a:t>(period), bins=50)</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sns.</a:t>
            </a:r>
            <a:r>
              <a:rPr b="1" i="0" lang="en" spc="0" sz="1000" u="none" cap="none" strike="noStrike">
                <a:solidFill>
                  <a:srgbClr val="E8A93A"/>
                </a:solidFill>
                <a:latin typeface="Courier New"/>
                <a:ea typeface="Courier New"/>
                <a:cs typeface="Courier New"/>
                <a:sym typeface="Courier New"/>
              </a:rPr>
              <a:t>boxplot</a:t>
            </a:r>
            <a:r>
              <a:rPr b="0" i="0" lang="en" spc="0" sz="1000" u="none" cap="none" strike="noStrike">
                <a:solidFill>
                  <a:srgbClr val="F6F4EF"/>
                </a:solidFill>
                <a:latin typeface="Courier New"/>
                <a:ea typeface="Courier New"/>
                <a:cs typeface="Courier New"/>
                <a:sym typeface="Courier New"/>
              </a:rPr>
              <a:t>(data=main, x=..., y=...)</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EE6"/>
            </a:gs>
            <a:gs pos="100000">
              <a:srgbClr val="E0E3FD"/>
            </a:gs>
          </a:gsLst>
          <a:path path="circle">
            <a:fillToRect b="0%" l="0%" r="100%" t="100%"/>
          </a:path>
          <a:tileRect b="-100%" l="-100%" r="0%" t="0%"/>
        </a:gradFill>
      </p:bgPr>
    </p:bg>
    <p:spTree>
      <p:nvGrpSpPr>
        <p:cNvPr id="287" name="Shape 287"/>
        <p:cNvGrpSpPr/>
        <p:nvPr/>
      </p:nvGrpSpPr>
      <p:grpSpPr>
        <a:xfrm>
          <a:off x="0" y="0"/>
          <a:ext cx="0" cy="0"/>
          <a:chOff x="0" y="0"/>
          <a:chExt cx="0" cy="0"/>
        </a:xfrm>
      </p:grpSpPr>
      <p:pic>
        <p:nvPicPr>
          <p:cNvPr descr="image.png" id="288" name="Google Shape;288;p9"/>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289" name="Google Shape;289;p9"/>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SECTION 5 · TWO VARIABLES AT A TIME · DATA STORY 2</a:t>
            </a:r>
            <a:endParaRPr b="0" i="0" spc="0" sz="1400" u="none" cap="none" strike="noStrike">
              <a:solidFill>
                <a:srgbClr val="000000"/>
              </a:solidFill>
              <a:latin typeface="Arial"/>
              <a:ea typeface="Arial"/>
              <a:cs typeface="Arial"/>
              <a:sym typeface="Arial"/>
            </a:endParaRPr>
          </a:p>
        </p:txBody>
      </p:sp>
      <p:sp>
        <p:nvSpPr>
          <p:cNvPr id="290" name="Google Shape;290;p9"/>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 spc="0" sz="2700" u="none" cap="none" strike="noStrike">
                <a:solidFill>
                  <a:srgbClr val="1D1B24"/>
                </a:solidFill>
                <a:latin typeface="Space Grotesk"/>
                <a:ea typeface="Space Grotesk"/>
                <a:cs typeface="Space Grotesk"/>
                <a:sym typeface="Space Grotesk"/>
              </a:rPr>
              <a:t>Hot Jupiters: the planets nobody expected</a:t>
            </a:r>
            <a:endParaRPr b="0" i="0" spc="0" sz="1400" u="none" cap="none" strike="noStrike">
              <a:solidFill>
                <a:srgbClr val="000000"/>
              </a:solidFill>
              <a:latin typeface="Arial"/>
              <a:ea typeface="Arial"/>
              <a:cs typeface="Arial"/>
              <a:sym typeface="Arial"/>
            </a:endParaRPr>
          </a:p>
        </p:txBody>
      </p:sp>
      <p:sp>
        <p:nvSpPr>
          <p:cNvPr id="291" name="Google Shape;291;p9"/>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0" i="0" lang="en" spc="0" sz="900" u="none" cap="none" strike="noStrike">
                <a:solidFill>
                  <a:srgbClr val="625D6E"/>
                </a:solidFill>
                <a:latin typeface="Inter"/>
                <a:ea typeface="Inter"/>
                <a:cs typeface="Inter"/>
                <a:sym typeface="Inter"/>
              </a:rPr>
              <a:t>Data Science Bootcamp · Fall 2026</a:t>
            </a:r>
            <a:endParaRPr b="0" i="0" spc="0" sz="1400" u="none" cap="none" strike="noStrike">
              <a:solidFill>
                <a:srgbClr val="000000"/>
              </a:solidFill>
              <a:latin typeface="Arial"/>
              <a:ea typeface="Arial"/>
              <a:cs typeface="Arial"/>
              <a:sym typeface="Arial"/>
            </a:endParaRPr>
          </a:p>
        </p:txBody>
      </p:sp>
      <p:sp>
        <p:nvSpPr>
          <p:cNvPr id="292" name="Google Shape;292;p9"/>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Clr>
                <a:srgbClr val="000000"/>
              </a:buClr>
              <a:buSzPts val="900"/>
              <a:buFont typeface="Arial"/>
              <a:buNone/>
            </a:pPr>
            <a:fld id="{00000000-1234-1234-1234-123412341234}" type="slidenum">
              <a:rPr b="0" i="0" lang="en" spc="0" sz="900" u="none" cap="none" strike="noStrike">
                <a:solidFill>
                  <a:srgbClr val="625D6E"/>
                </a:solidFill>
                <a:latin typeface="Inter"/>
                <a:ea typeface="Inter"/>
                <a:cs typeface="Inter"/>
                <a:sym typeface="Inter"/>
              </a:rPr>
              <a:t>‹#›</a:t>
            </a:fld>
            <a:endParaRPr b="0" i="0" spc="0" sz="1400" u="none" cap="none" strike="noStrike">
              <a:solidFill>
                <a:srgbClr val="000000"/>
              </a:solidFill>
              <a:latin typeface="Arial"/>
              <a:ea typeface="Arial"/>
              <a:cs typeface="Arial"/>
              <a:sym typeface="Arial"/>
            </a:endParaRPr>
          </a:p>
        </p:txBody>
      </p:sp>
      <p:sp>
        <p:nvSpPr>
          <p:cNvPr id="293" name="Google Shape;293;p9"/>
          <p:cNvSpPr/>
          <p:nvPr/>
        </p:nvSpPr>
        <p:spPr>
          <a:xfrm>
            <a:off x="612648" y="1298448"/>
            <a:ext cx="2103000" cy="8229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4" name="Google Shape;294;p9"/>
          <p:cNvSpPr txBox="1"/>
          <p:nvPr/>
        </p:nvSpPr>
        <p:spPr>
          <a:xfrm>
            <a:off x="795528" y="1426464"/>
            <a:ext cx="1737300" cy="2001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300"/>
              <a:buFont typeface="Arial"/>
              <a:buNone/>
            </a:pPr>
            <a:r>
              <a:rPr b="1" i="0" lang="en" spc="0" sz="1300" u="none" cap="none" strike="noStrike">
                <a:solidFill>
                  <a:srgbClr val="351C75"/>
                </a:solidFill>
                <a:latin typeface="Space Grotesk"/>
                <a:ea typeface="Space Grotesk"/>
                <a:cs typeface="Space Grotesk"/>
                <a:sym typeface="Space Grotesk"/>
              </a:rPr>
              <a:t>Every planet</a:t>
            </a:r>
            <a:endParaRPr b="0" i="0" spc="0" sz="1400" u="none" cap="none" strike="noStrike">
              <a:solidFill>
                <a:srgbClr val="000000"/>
              </a:solidFill>
              <a:latin typeface="Arial"/>
              <a:ea typeface="Arial"/>
              <a:cs typeface="Arial"/>
              <a:sym typeface="Arial"/>
            </a:endParaRPr>
          </a:p>
        </p:txBody>
      </p:sp>
      <p:sp>
        <p:nvSpPr>
          <p:cNvPr id="295" name="Google Shape;295;p9"/>
          <p:cNvSpPr txBox="1"/>
          <p:nvPr/>
        </p:nvSpPr>
        <p:spPr>
          <a:xfrm>
            <a:off x="795528" y="1755648"/>
            <a:ext cx="1737300" cy="1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50"/>
              <a:buFont typeface="Arial"/>
              <a:buNone/>
            </a:pPr>
            <a:r>
              <a:rPr b="0" i="0" lang="en" spc="0" sz="1050" u="none" cap="none" strike="noStrike">
                <a:solidFill>
                  <a:srgbClr val="3D3947"/>
                </a:solidFill>
                <a:latin typeface="Inter"/>
                <a:ea typeface="Inter"/>
                <a:cs typeface="Inter"/>
                <a:sym typeface="Inter"/>
              </a:rPr>
              <a:t>one row = one planet</a:t>
            </a:r>
            <a:endParaRPr b="0" i="0" spc="0" sz="1400" u="none" cap="none" strike="noStrike">
              <a:solidFill>
                <a:srgbClr val="000000"/>
              </a:solidFill>
              <a:latin typeface="Arial"/>
              <a:ea typeface="Arial"/>
              <a:cs typeface="Arial"/>
              <a:sym typeface="Arial"/>
            </a:endParaRPr>
          </a:p>
        </p:txBody>
      </p:sp>
      <p:sp>
        <p:nvSpPr>
          <p:cNvPr id="296" name="Google Shape;296;p9"/>
          <p:cNvSpPr/>
          <p:nvPr/>
        </p:nvSpPr>
        <p:spPr>
          <a:xfrm>
            <a:off x="2779775" y="1609343"/>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7" name="Google Shape;297;p9"/>
          <p:cNvSpPr/>
          <p:nvPr/>
        </p:nvSpPr>
        <p:spPr>
          <a:xfrm>
            <a:off x="3127248" y="1298448"/>
            <a:ext cx="2560200" cy="8229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8" name="Google Shape;298;p9"/>
          <p:cNvSpPr txBox="1"/>
          <p:nvPr/>
        </p:nvSpPr>
        <p:spPr>
          <a:xfrm>
            <a:off x="3310128" y="1426464"/>
            <a:ext cx="2194500" cy="16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050"/>
              <a:buFont typeface="Arial"/>
              <a:buNone/>
            </a:pPr>
            <a:r>
              <a:rPr b="0" i="0" lang="en" spc="0" sz="1050" u="none" cap="none" strike="noStrike">
                <a:solidFill>
                  <a:srgbClr val="F6F4EF"/>
                </a:solidFill>
                <a:latin typeface="Courier New"/>
                <a:ea typeface="Courier New"/>
                <a:cs typeface="Courier New"/>
                <a:sym typeface="Courier New"/>
              </a:rPr>
              <a:t>planets["</a:t>
            </a:r>
            <a:r>
              <a:rPr b="1" i="0" lang="en" spc="0" sz="1050" u="none" cap="none" strike="noStrike">
                <a:solidFill>
                  <a:srgbClr val="E8A93A"/>
                </a:solidFill>
                <a:latin typeface="Courier New"/>
                <a:ea typeface="Courier New"/>
                <a:cs typeface="Courier New"/>
                <a:sym typeface="Courier New"/>
              </a:rPr>
              <a:t>hot_jupiter</a:t>
            </a:r>
            <a:r>
              <a:rPr b="0" i="0" lang="en" spc="0" sz="1050" u="none" cap="none" strike="noStrike">
                <a:solidFill>
                  <a:srgbClr val="F6F4EF"/>
                </a:solidFill>
                <a:latin typeface="Courier New"/>
                <a:ea typeface="Courier New"/>
                <a:cs typeface="Courier New"/>
                <a:sym typeface="Courier New"/>
              </a:rPr>
              <a:t>"]</a:t>
            </a:r>
            <a:endParaRPr b="0" i="0" spc="0" sz="1400" u="none" cap="none" strike="noStrike">
              <a:solidFill>
                <a:srgbClr val="000000"/>
              </a:solidFill>
              <a:latin typeface="Arial"/>
              <a:ea typeface="Arial"/>
              <a:cs typeface="Arial"/>
              <a:sym typeface="Arial"/>
            </a:endParaRPr>
          </a:p>
        </p:txBody>
      </p:sp>
      <p:sp>
        <p:nvSpPr>
          <p:cNvPr id="299" name="Google Shape;299;p9"/>
          <p:cNvSpPr txBox="1"/>
          <p:nvPr/>
        </p:nvSpPr>
        <p:spPr>
          <a:xfrm>
            <a:off x="3310128" y="1755648"/>
            <a:ext cx="2194500" cy="1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50"/>
              <a:buFont typeface="Arial"/>
              <a:buNone/>
            </a:pPr>
            <a:r>
              <a:rPr b="0" i="0" lang="en" spc="0" sz="1050" u="none" cap="none" strike="noStrike">
                <a:solidFill>
                  <a:srgbClr val="F6F4EF"/>
                </a:solidFill>
                <a:latin typeface="Inter"/>
                <a:ea typeface="Inter"/>
                <a:cs typeface="Inter"/>
                <a:sym typeface="Inter"/>
              </a:rPr>
              <a:t>radius &gt; 8 Earths, year &lt; 10 days</a:t>
            </a:r>
            <a:endParaRPr b="0" i="0" spc="0" sz="1400" u="none" cap="none" strike="noStrike">
              <a:solidFill>
                <a:srgbClr val="000000"/>
              </a:solidFill>
              <a:latin typeface="Arial"/>
              <a:ea typeface="Arial"/>
              <a:cs typeface="Arial"/>
              <a:sym typeface="Arial"/>
            </a:endParaRPr>
          </a:p>
        </p:txBody>
      </p:sp>
      <p:sp>
        <p:nvSpPr>
          <p:cNvPr id="300" name="Google Shape;300;p9"/>
          <p:cNvSpPr/>
          <p:nvPr/>
        </p:nvSpPr>
        <p:spPr>
          <a:xfrm>
            <a:off x="5751576" y="1609343"/>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1" name="Google Shape;301;p9"/>
          <p:cNvSpPr/>
          <p:nvPr/>
        </p:nvSpPr>
        <p:spPr>
          <a:xfrm>
            <a:off x="6099048" y="1298448"/>
            <a:ext cx="2432400" cy="8229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2" name="Google Shape;302;p9"/>
          <p:cNvSpPr txBox="1"/>
          <p:nvPr/>
        </p:nvSpPr>
        <p:spPr>
          <a:xfrm>
            <a:off x="6281928" y="1426464"/>
            <a:ext cx="2066400" cy="16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050"/>
              <a:buFont typeface="Arial"/>
              <a:buNone/>
            </a:pPr>
            <a:r>
              <a:rPr b="1" i="0" lang="en" spc="0" sz="1050" u="none" cap="none" strike="noStrike">
                <a:solidFill>
                  <a:srgbClr val="E8A93A"/>
                </a:solidFill>
                <a:latin typeface="Courier New"/>
                <a:ea typeface="Courier New"/>
                <a:cs typeface="Courier New"/>
                <a:sym typeface="Courier New"/>
              </a:rPr>
              <a:t>len</a:t>
            </a:r>
            <a:r>
              <a:rPr b="0" i="0" lang="en" spc="0" sz="1050" u="none" cap="none" strike="noStrike">
                <a:solidFill>
                  <a:srgbClr val="F6F4EF"/>
                </a:solidFill>
                <a:latin typeface="Courier New"/>
                <a:ea typeface="Courier New"/>
                <a:cs typeface="Courier New"/>
                <a:sym typeface="Courier New"/>
              </a:rPr>
              <a:t>(hj)  # 739</a:t>
            </a:r>
            <a:endParaRPr b="0" i="0" spc="0" sz="1400" u="none" cap="none" strike="noStrike">
              <a:solidFill>
                <a:srgbClr val="000000"/>
              </a:solidFill>
              <a:latin typeface="Arial"/>
              <a:ea typeface="Arial"/>
              <a:cs typeface="Arial"/>
              <a:sym typeface="Arial"/>
            </a:endParaRPr>
          </a:p>
        </p:txBody>
      </p:sp>
      <p:sp>
        <p:nvSpPr>
          <p:cNvPr id="303" name="Google Shape;303;p9"/>
          <p:cNvSpPr txBox="1"/>
          <p:nvPr/>
        </p:nvSpPr>
        <p:spPr>
          <a:xfrm>
            <a:off x="6281928" y="1755648"/>
            <a:ext cx="2066400" cy="1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50"/>
              <a:buFont typeface="Arial"/>
              <a:buNone/>
            </a:pPr>
            <a:r>
              <a:rPr b="0" i="0" lang="en" spc="0" sz="1050" u="none" cap="none" strike="noStrike">
                <a:solidFill>
                  <a:srgbClr val="F6F4EF"/>
                </a:solidFill>
                <a:latin typeface="Inter"/>
                <a:ea typeface="Inter"/>
                <a:cs typeface="Inter"/>
                <a:sym typeface="Inter"/>
              </a:rPr>
              <a:t>hot Jupiters in the data</a:t>
            </a:r>
            <a:endParaRPr b="0" i="0" spc="0" sz="1400" u="none" cap="none" strike="noStrike">
              <a:solidFill>
                <a:srgbClr val="000000"/>
              </a:solidFill>
              <a:latin typeface="Arial"/>
              <a:ea typeface="Arial"/>
              <a:cs typeface="Arial"/>
              <a:sym typeface="Arial"/>
            </a:endParaRPr>
          </a:p>
        </p:txBody>
      </p:sp>
      <p:sp>
        <p:nvSpPr>
          <p:cNvPr id="304" name="Google Shape;304;p9"/>
          <p:cNvSpPr/>
          <p:nvPr/>
        </p:nvSpPr>
        <p:spPr>
          <a:xfrm>
            <a:off x="612648" y="2286000"/>
            <a:ext cx="2517600" cy="17373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5" name="Google Shape;305;p9"/>
          <p:cNvSpPr txBox="1"/>
          <p:nvPr/>
        </p:nvSpPr>
        <p:spPr>
          <a:xfrm>
            <a:off x="777240" y="2395728"/>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THE STORY</a:t>
            </a:r>
            <a:endParaRPr b="0" i="0" spc="0" sz="1400" u="none" cap="none" strike="noStrike">
              <a:solidFill>
                <a:srgbClr val="000000"/>
              </a:solidFill>
              <a:latin typeface="Arial"/>
              <a:ea typeface="Arial"/>
              <a:cs typeface="Arial"/>
              <a:sym typeface="Arial"/>
            </a:endParaRPr>
          </a:p>
        </p:txBody>
      </p:sp>
      <p:sp>
        <p:nvSpPr>
          <p:cNvPr id="306" name="Google Shape;306;p9"/>
          <p:cNvSpPr txBox="1"/>
          <p:nvPr/>
        </p:nvSpPr>
        <p:spPr>
          <a:xfrm>
            <a:off x="777240" y="2606040"/>
            <a:ext cx="2188500" cy="372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Do planets with shorter years run hotter?</a:t>
            </a:r>
            <a:endParaRPr b="0" i="0" spc="0" sz="1400" u="none" cap="none" strike="noStrike">
              <a:solidFill>
                <a:srgbClr val="000000"/>
              </a:solidFill>
              <a:latin typeface="Arial"/>
              <a:ea typeface="Arial"/>
              <a:cs typeface="Arial"/>
              <a:sym typeface="Arial"/>
            </a:endParaRPr>
          </a:p>
        </p:txBody>
      </p:sp>
      <p:sp>
        <p:nvSpPr>
          <p:cNvPr id="307" name="Google Shape;307;p9"/>
          <p:cNvSpPr/>
          <p:nvPr/>
        </p:nvSpPr>
        <p:spPr>
          <a:xfrm>
            <a:off x="722376" y="3090672"/>
            <a:ext cx="2298300" cy="8412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8" name="Google Shape;308;p9"/>
          <p:cNvSpPr txBox="1"/>
          <p:nvPr/>
        </p:nvSpPr>
        <p:spPr>
          <a:xfrm>
            <a:off x="868680" y="315468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1" i="0" lang="en" spc="0" sz="900" u="none" cap="none" strike="noStrike">
                <a:solidFill>
                  <a:srgbClr val="E8A93A"/>
                </a:solidFill>
                <a:latin typeface="Inter"/>
                <a:ea typeface="Inter"/>
                <a:cs typeface="Inter"/>
                <a:sym typeface="Inter"/>
              </a:rPr>
              <a:t>THE TOOL</a:t>
            </a:r>
            <a:endParaRPr b="0" i="0" spc="0" sz="1400" u="none" cap="none" strike="noStrike">
              <a:solidFill>
                <a:srgbClr val="000000"/>
              </a:solidFill>
              <a:latin typeface="Arial"/>
              <a:ea typeface="Arial"/>
              <a:cs typeface="Arial"/>
              <a:sym typeface="Arial"/>
            </a:endParaRPr>
          </a:p>
        </p:txBody>
      </p:sp>
      <p:sp>
        <p:nvSpPr>
          <p:cNvPr id="309" name="Google Shape;309;p9"/>
          <p:cNvSpPr txBox="1"/>
          <p:nvPr/>
        </p:nvSpPr>
        <p:spPr>
          <a:xfrm>
            <a:off x="868680" y="3355848"/>
            <a:ext cx="20604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plt.</a:t>
            </a:r>
            <a:r>
              <a:rPr b="1" i="0" lang="en" spc="0" sz="950" u="none" cap="none" strike="noStrike">
                <a:solidFill>
                  <a:srgbClr val="E8A93A"/>
                </a:solidFill>
                <a:latin typeface="Courier New"/>
                <a:ea typeface="Courier New"/>
                <a:cs typeface="Courier New"/>
                <a:sym typeface="Courier New"/>
              </a:rPr>
              <a:t>scatter</a:t>
            </a:r>
            <a:r>
              <a:rPr b="0" i="0" lang="en" spc="0" sz="950" u="none" cap="none" strike="noStrike">
                <a:solidFill>
                  <a:srgbClr val="F6F4EF"/>
                </a:solidFill>
                <a:latin typeface="Courier New"/>
                <a:ea typeface="Courier New"/>
                <a:cs typeface="Courier New"/>
                <a:sym typeface="Courier New"/>
              </a:rPr>
              <a:t>(period, temp)</a:t>
            </a:r>
            <a:endParaRPr b="0" i="0" spc="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ax.</a:t>
            </a:r>
            <a:r>
              <a:rPr b="1" i="0" lang="en" spc="0" sz="950" u="none" cap="none" strike="noStrike">
                <a:solidFill>
                  <a:srgbClr val="E8A93A"/>
                </a:solidFill>
                <a:latin typeface="Courier New"/>
                <a:ea typeface="Courier New"/>
                <a:cs typeface="Courier New"/>
                <a:sym typeface="Courier New"/>
              </a:rPr>
              <a:t>set</a:t>
            </a:r>
            <a:r>
              <a:rPr b="0" i="0" lang="en" spc="0" sz="950" u="none" cap="none" strike="noStrike">
                <a:solidFill>
                  <a:srgbClr val="F6F4EF"/>
                </a:solidFill>
                <a:latin typeface="Courier New"/>
                <a:ea typeface="Courier New"/>
                <a:cs typeface="Courier New"/>
                <a:sym typeface="Courier New"/>
              </a:rPr>
              <a:t>(xscale="log")</a:t>
            </a:r>
            <a:endParaRPr b="0" i="0" spc="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 r = -0.68</a:t>
            </a:r>
            <a:endParaRPr b="0" i="0" spc="0" sz="1400" u="none" cap="none" strike="noStrike">
              <a:solidFill>
                <a:srgbClr val="000000"/>
              </a:solidFill>
              <a:latin typeface="Arial"/>
              <a:ea typeface="Arial"/>
              <a:cs typeface="Arial"/>
              <a:sym typeface="Arial"/>
            </a:endParaRPr>
          </a:p>
        </p:txBody>
      </p:sp>
      <p:sp>
        <p:nvSpPr>
          <p:cNvPr id="310" name="Google Shape;310;p9"/>
          <p:cNvSpPr/>
          <p:nvPr/>
        </p:nvSpPr>
        <p:spPr>
          <a:xfrm>
            <a:off x="3313176" y="2286000"/>
            <a:ext cx="2517600" cy="17373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1" name="Google Shape;311;p9"/>
          <p:cNvSpPr txBox="1"/>
          <p:nvPr/>
        </p:nvSpPr>
        <p:spPr>
          <a:xfrm>
            <a:off x="3477768" y="2395728"/>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THE STORY</a:t>
            </a:r>
            <a:endParaRPr b="0" i="0" spc="0" sz="1400" u="none" cap="none" strike="noStrike">
              <a:solidFill>
                <a:srgbClr val="000000"/>
              </a:solidFill>
              <a:latin typeface="Arial"/>
              <a:ea typeface="Arial"/>
              <a:cs typeface="Arial"/>
              <a:sym typeface="Arial"/>
            </a:endParaRPr>
          </a:p>
        </p:txBody>
      </p:sp>
      <p:sp>
        <p:nvSpPr>
          <p:cNvPr id="312" name="Google Shape;312;p9"/>
          <p:cNvSpPr txBox="1"/>
          <p:nvPr/>
        </p:nvSpPr>
        <p:spPr>
          <a:xfrm>
            <a:off x="3477768" y="2606040"/>
            <a:ext cx="2188500" cy="372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How hot is a typical hot Jupiter?</a:t>
            </a:r>
            <a:endParaRPr b="0" i="0" spc="0" sz="1400" u="none" cap="none" strike="noStrike">
              <a:solidFill>
                <a:srgbClr val="000000"/>
              </a:solidFill>
              <a:latin typeface="Arial"/>
              <a:ea typeface="Arial"/>
              <a:cs typeface="Arial"/>
              <a:sym typeface="Arial"/>
            </a:endParaRPr>
          </a:p>
        </p:txBody>
      </p:sp>
      <p:sp>
        <p:nvSpPr>
          <p:cNvPr id="313" name="Google Shape;313;p9"/>
          <p:cNvSpPr/>
          <p:nvPr/>
        </p:nvSpPr>
        <p:spPr>
          <a:xfrm>
            <a:off x="3422904" y="3090672"/>
            <a:ext cx="2298300" cy="8412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4" name="Google Shape;314;p9"/>
          <p:cNvSpPr txBox="1"/>
          <p:nvPr/>
        </p:nvSpPr>
        <p:spPr>
          <a:xfrm>
            <a:off x="3569208" y="315468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1" i="0" lang="en" spc="0" sz="900" u="none" cap="none" strike="noStrike">
                <a:solidFill>
                  <a:srgbClr val="E8A93A"/>
                </a:solidFill>
                <a:latin typeface="Inter"/>
                <a:ea typeface="Inter"/>
                <a:cs typeface="Inter"/>
                <a:sym typeface="Inter"/>
              </a:rPr>
              <a:t>THE TOOL</a:t>
            </a:r>
            <a:endParaRPr b="0" i="0" spc="0" sz="1400" u="none" cap="none" strike="noStrike">
              <a:solidFill>
                <a:srgbClr val="000000"/>
              </a:solidFill>
              <a:latin typeface="Arial"/>
              <a:ea typeface="Arial"/>
              <a:cs typeface="Arial"/>
              <a:sym typeface="Arial"/>
            </a:endParaRPr>
          </a:p>
        </p:txBody>
      </p:sp>
      <p:sp>
        <p:nvSpPr>
          <p:cNvPr id="315" name="Google Shape;315;p9"/>
          <p:cNvSpPr txBox="1"/>
          <p:nvPr/>
        </p:nvSpPr>
        <p:spPr>
          <a:xfrm>
            <a:off x="3569208" y="3355848"/>
            <a:ext cx="20604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hj["eq_temp_k"].</a:t>
            </a:r>
            <a:r>
              <a:rPr b="1" i="0" lang="en" spc="0" sz="950" u="none" cap="none" strike="noStrike">
                <a:solidFill>
                  <a:srgbClr val="E8A93A"/>
                </a:solidFill>
                <a:latin typeface="Courier New"/>
                <a:ea typeface="Courier New"/>
                <a:cs typeface="Courier New"/>
                <a:sym typeface="Courier New"/>
              </a:rPr>
              <a:t>median</a:t>
            </a:r>
            <a:r>
              <a:rPr b="0" i="0" lang="en" spc="0" sz="950" u="none" cap="none" strike="noStrike">
                <a:solidFill>
                  <a:srgbClr val="F6F4EF"/>
                </a:solidFill>
                <a:latin typeface="Courier New"/>
                <a:ea typeface="Courier New"/>
                <a:cs typeface="Courier New"/>
                <a:sym typeface="Courier New"/>
              </a:rPr>
              <a:t>()</a:t>
            </a:r>
            <a:endParaRPr b="0" i="0" spc="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 1,460 K</a:t>
            </a:r>
            <a:endParaRPr b="0" i="0" spc="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a:t>
            </a:r>
            <a:r>
              <a:rPr b="1" i="0" lang="en" spc="0" sz="950" u="none" cap="none" strike="noStrike">
                <a:solidFill>
                  <a:srgbClr val="E8A93A"/>
                </a:solidFill>
                <a:latin typeface="Courier New"/>
                <a:ea typeface="Courier New"/>
                <a:cs typeface="Courier New"/>
                <a:sym typeface="Courier New"/>
              </a:rPr>
              <a:t>nlargest</a:t>
            </a:r>
            <a:r>
              <a:rPr b="0" i="0" lang="en" spc="0" sz="950" u="none" cap="none" strike="noStrike">
                <a:solidFill>
                  <a:srgbClr val="F6F4EF"/>
                </a:solidFill>
                <a:latin typeface="Courier New"/>
                <a:ea typeface="Courier New"/>
                <a:cs typeface="Courier New"/>
                <a:sym typeface="Courier New"/>
              </a:rPr>
              <a:t>(1, "eq_temp_k")</a:t>
            </a:r>
            <a:endParaRPr b="0" i="0" spc="0" sz="1400" u="none" cap="none" strike="noStrike">
              <a:solidFill>
                <a:srgbClr val="000000"/>
              </a:solidFill>
              <a:latin typeface="Arial"/>
              <a:ea typeface="Arial"/>
              <a:cs typeface="Arial"/>
              <a:sym typeface="Arial"/>
            </a:endParaRPr>
          </a:p>
        </p:txBody>
      </p:sp>
      <p:sp>
        <p:nvSpPr>
          <p:cNvPr id="316" name="Google Shape;316;p9"/>
          <p:cNvSpPr/>
          <p:nvPr/>
        </p:nvSpPr>
        <p:spPr>
          <a:xfrm>
            <a:off x="6013704" y="2286000"/>
            <a:ext cx="2517600" cy="17373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7" name="Google Shape;317;p9"/>
          <p:cNvSpPr txBox="1"/>
          <p:nvPr/>
        </p:nvSpPr>
        <p:spPr>
          <a:xfrm>
            <a:off x="6178296" y="2395728"/>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THE STORY</a:t>
            </a:r>
            <a:endParaRPr b="0" i="0" spc="0" sz="1400" u="none" cap="none" strike="noStrike">
              <a:solidFill>
                <a:srgbClr val="000000"/>
              </a:solidFill>
              <a:latin typeface="Arial"/>
              <a:ea typeface="Arial"/>
              <a:cs typeface="Arial"/>
              <a:sym typeface="Arial"/>
            </a:endParaRPr>
          </a:p>
        </p:txBody>
      </p:sp>
      <p:sp>
        <p:nvSpPr>
          <p:cNvPr id="318" name="Google Shape;318;p9"/>
          <p:cNvSpPr txBox="1"/>
          <p:nvPr/>
        </p:nvSpPr>
        <p:spPr>
          <a:xfrm>
            <a:off x="6178296" y="2606040"/>
            <a:ext cx="2188500" cy="372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Which columns carry the same information?</a:t>
            </a:r>
            <a:endParaRPr b="0" i="0" spc="0" sz="1400" u="none" cap="none" strike="noStrike">
              <a:solidFill>
                <a:srgbClr val="000000"/>
              </a:solidFill>
              <a:latin typeface="Arial"/>
              <a:ea typeface="Arial"/>
              <a:cs typeface="Arial"/>
              <a:sym typeface="Arial"/>
            </a:endParaRPr>
          </a:p>
        </p:txBody>
      </p:sp>
      <p:sp>
        <p:nvSpPr>
          <p:cNvPr id="319" name="Google Shape;319;p9"/>
          <p:cNvSpPr/>
          <p:nvPr/>
        </p:nvSpPr>
        <p:spPr>
          <a:xfrm>
            <a:off x="6123432" y="3090672"/>
            <a:ext cx="2298300" cy="841200"/>
          </a:xfrm>
          <a:prstGeom prst="roundRect">
            <a:avLst>
              <a:gd fmla="val 10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0" name="Google Shape;320;p9"/>
          <p:cNvSpPr txBox="1"/>
          <p:nvPr/>
        </p:nvSpPr>
        <p:spPr>
          <a:xfrm>
            <a:off x="6269736" y="3154680"/>
            <a:ext cx="22860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1" i="0" lang="en" spc="0" sz="900" u="none" cap="none" strike="noStrike">
                <a:solidFill>
                  <a:srgbClr val="E8A93A"/>
                </a:solidFill>
                <a:latin typeface="Inter"/>
                <a:ea typeface="Inter"/>
                <a:cs typeface="Inter"/>
                <a:sym typeface="Inter"/>
              </a:rPr>
              <a:t>THE TOOL</a:t>
            </a:r>
            <a:endParaRPr b="0" i="0" spc="0" sz="1400" u="none" cap="none" strike="noStrike">
              <a:solidFill>
                <a:srgbClr val="000000"/>
              </a:solidFill>
              <a:latin typeface="Arial"/>
              <a:ea typeface="Arial"/>
              <a:cs typeface="Arial"/>
              <a:sym typeface="Arial"/>
            </a:endParaRPr>
          </a:p>
        </p:txBody>
      </p:sp>
      <p:sp>
        <p:nvSpPr>
          <p:cNvPr id="321" name="Google Shape;321;p9"/>
          <p:cNvSpPr txBox="1"/>
          <p:nvPr/>
        </p:nvSpPr>
        <p:spPr>
          <a:xfrm>
            <a:off x="6269736" y="3355848"/>
            <a:ext cx="20604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sns.</a:t>
            </a:r>
            <a:r>
              <a:rPr b="1" i="0" lang="en" spc="0" sz="950" u="none" cap="none" strike="noStrike">
                <a:solidFill>
                  <a:srgbClr val="E8A93A"/>
                </a:solidFill>
                <a:latin typeface="Courier New"/>
                <a:ea typeface="Courier New"/>
                <a:cs typeface="Courier New"/>
                <a:sym typeface="Courier New"/>
              </a:rPr>
              <a:t>heatmap</a:t>
            </a:r>
            <a:r>
              <a:rPr b="0" i="0" lang="en" spc="0" sz="950" u="none" cap="none" strike="noStrike">
                <a:solidFill>
                  <a:srgbClr val="F6F4EF"/>
                </a:solidFill>
                <a:latin typeface="Courier New"/>
                <a:ea typeface="Courier New"/>
                <a:cs typeface="Courier New"/>
                <a:sym typeface="Courier New"/>
              </a:rPr>
              <a:t>(logs.</a:t>
            </a:r>
            <a:r>
              <a:rPr b="1" i="0" lang="en" spc="0" sz="950" u="none" cap="none" strike="noStrike">
                <a:solidFill>
                  <a:srgbClr val="E8A93A"/>
                </a:solidFill>
                <a:latin typeface="Courier New"/>
                <a:ea typeface="Courier New"/>
                <a:cs typeface="Courier New"/>
                <a:sym typeface="Courier New"/>
              </a:rPr>
              <a:t>corr</a:t>
            </a:r>
            <a:r>
              <a:rPr b="0" i="0" lang="en" spc="0" sz="950" u="none" cap="none" strike="noStrike">
                <a:solidFill>
                  <a:srgbClr val="F6F4EF"/>
                </a:solidFill>
                <a:latin typeface="Courier New"/>
                <a:ea typeface="Courier New"/>
                <a:cs typeface="Courier New"/>
                <a:sym typeface="Courier New"/>
              </a:rPr>
              <a:t>(),</a:t>
            </a:r>
            <a:endParaRPr b="0" i="0" spc="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 xml:space="preserve">            annot=True)</a:t>
            </a:r>
            <a:endParaRPr b="0" i="0" spc="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950"/>
              <a:buFont typeface="Arial"/>
              <a:buNone/>
            </a:pPr>
            <a:r>
              <a:rPr b="0" i="0" lang="en" spc="0" sz="950" u="none" cap="none" strike="noStrike">
                <a:solidFill>
                  <a:srgbClr val="F6F4EF"/>
                </a:solidFill>
                <a:latin typeface="Courier New"/>
                <a:ea typeface="Courier New"/>
                <a:cs typeface="Courier New"/>
                <a:sym typeface="Courier New"/>
              </a:rPr>
              <a:t># period vs orbit: 0.99</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EE6"/>
            </a:gs>
            <a:gs pos="100000">
              <a:srgbClr val="E0E3FD"/>
            </a:gs>
          </a:gsLst>
          <a:path path="circle">
            <a:fillToRect b="0%" l="0%" r="100%" t="100%"/>
          </a:path>
          <a:tileRect b="-100%" l="-100%" r="0%" t="0%"/>
        </a:gradFill>
      </p:bgPr>
    </p:bg>
    <p:spTree>
      <p:nvGrpSpPr>
        <p:cNvPr id="256" name="Shape 256"/>
        <p:cNvGrpSpPr/>
        <p:nvPr/>
      </p:nvGrpSpPr>
      <p:grpSpPr>
        <a:xfrm>
          <a:off x="0" y="0"/>
          <a:ext cx="0" cy="0"/>
          <a:chOff x="0" y="0"/>
          <a:chExt cx="0" cy="0"/>
        </a:xfrm>
      </p:grpSpPr>
      <p:pic>
        <p:nvPicPr>
          <p:cNvPr descr="image.png" id="257" name="Google Shape;257;p8"/>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258" name="Google Shape;258;p8"/>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SECTION 6 · DRAWING INSIGHTS</a:t>
            </a:r>
            <a:endParaRPr b="0" i="0" spc="0" sz="1400" u="none" cap="none" strike="noStrike">
              <a:solidFill>
                <a:srgbClr val="000000"/>
              </a:solidFill>
              <a:latin typeface="Arial"/>
              <a:ea typeface="Arial"/>
              <a:cs typeface="Arial"/>
              <a:sym typeface="Arial"/>
            </a:endParaRPr>
          </a:p>
        </p:txBody>
      </p:sp>
      <p:sp>
        <p:nvSpPr>
          <p:cNvPr id="259" name="Google Shape;259;p8"/>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 spc="0" sz="2700" u="none" cap="none" strike="noStrike">
                <a:solidFill>
                  <a:srgbClr val="1D1B24"/>
                </a:solidFill>
                <a:latin typeface="Space Grotesk"/>
                <a:ea typeface="Space Grotesk"/>
                <a:cs typeface="Space Grotesk"/>
                <a:sym typeface="Space Grotesk"/>
              </a:rPr>
              <a:t>What we learned today</a:t>
            </a:r>
            <a:endParaRPr b="0" i="0" spc="0" sz="1400" u="none" cap="none" strike="noStrike">
              <a:solidFill>
                <a:srgbClr val="000000"/>
              </a:solidFill>
              <a:latin typeface="Arial"/>
              <a:ea typeface="Arial"/>
              <a:cs typeface="Arial"/>
              <a:sym typeface="Arial"/>
            </a:endParaRPr>
          </a:p>
        </p:txBody>
      </p:sp>
      <p:sp>
        <p:nvSpPr>
          <p:cNvPr id="260" name="Google Shape;260;p8"/>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0" i="0" lang="en" spc="0" sz="900" u="none" cap="none" strike="noStrike">
                <a:solidFill>
                  <a:srgbClr val="625D6E"/>
                </a:solidFill>
                <a:latin typeface="Inter"/>
                <a:ea typeface="Inter"/>
                <a:cs typeface="Inter"/>
                <a:sym typeface="Inter"/>
              </a:rPr>
              <a:t>Data Science Bootcamp · Fall 2026</a:t>
            </a:r>
            <a:endParaRPr b="0" i="0" spc="0" sz="1400" u="none" cap="none" strike="noStrike">
              <a:solidFill>
                <a:srgbClr val="000000"/>
              </a:solidFill>
              <a:latin typeface="Arial"/>
              <a:ea typeface="Arial"/>
              <a:cs typeface="Arial"/>
              <a:sym typeface="Arial"/>
            </a:endParaRPr>
          </a:p>
        </p:txBody>
      </p:sp>
      <p:sp>
        <p:nvSpPr>
          <p:cNvPr id="261" name="Google Shape;261;p8"/>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Clr>
                <a:srgbClr val="000000"/>
              </a:buClr>
              <a:buSzPts val="900"/>
              <a:buFont typeface="Arial"/>
              <a:buNone/>
            </a:pPr>
            <a:fld id="{00000000-1234-1234-1234-123412341234}" type="slidenum">
              <a:rPr b="0" i="0" lang="en" spc="0" sz="900" u="none" cap="none" strike="noStrike">
                <a:solidFill>
                  <a:srgbClr val="625D6E"/>
                </a:solidFill>
                <a:latin typeface="Inter"/>
                <a:ea typeface="Inter"/>
                <a:cs typeface="Inter"/>
                <a:sym typeface="Inter"/>
              </a:rPr>
              <a:t>‹#›</a:t>
            </a:fld>
            <a:endParaRPr b="0" i="0" spc="0" sz="1400" u="none" cap="none" strike="noStrike">
              <a:solidFill>
                <a:srgbClr val="000000"/>
              </a:solidFill>
              <a:latin typeface="Arial"/>
              <a:ea typeface="Arial"/>
              <a:cs typeface="Arial"/>
              <a:sym typeface="Arial"/>
            </a:endParaRPr>
          </a:p>
        </p:txBody>
      </p:sp>
      <p:sp>
        <p:nvSpPr>
          <p:cNvPr id="262" name="Google Shape;262;p8"/>
          <p:cNvSpPr txBox="1"/>
          <p:nvPr/>
        </p:nvSpPr>
        <p:spPr>
          <a:xfrm>
            <a:off x="630936" y="12435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5A2D8C"/>
                </a:solidFill>
                <a:latin typeface="Inter"/>
                <a:ea typeface="Inter"/>
                <a:cs typeface="Inter"/>
                <a:sym typeface="Inter"/>
              </a:rPr>
              <a:t>THE INSIGHT</a:t>
            </a:r>
            <a:endParaRPr b="0" i="0" spc="0" sz="1400" u="none" cap="none" strike="noStrike">
              <a:solidFill>
                <a:srgbClr val="000000"/>
              </a:solidFill>
              <a:latin typeface="Arial"/>
              <a:ea typeface="Arial"/>
              <a:cs typeface="Arial"/>
              <a:sym typeface="Arial"/>
            </a:endParaRPr>
          </a:p>
        </p:txBody>
      </p:sp>
      <p:sp>
        <p:nvSpPr>
          <p:cNvPr id="263" name="Google Shape;263;p8"/>
          <p:cNvSpPr txBox="1"/>
          <p:nvPr/>
        </p:nvSpPr>
        <p:spPr>
          <a:xfrm>
            <a:off x="4700016" y="1243584"/>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351C75"/>
                </a:solidFill>
                <a:latin typeface="Inter"/>
                <a:ea typeface="Inter"/>
                <a:cs typeface="Inter"/>
                <a:sym typeface="Inter"/>
              </a:rPr>
              <a:t>THE EVIDENCE</a:t>
            </a:r>
            <a:endParaRPr b="0" i="0" spc="0" sz="1400" u="none" cap="none" strike="noStrike">
              <a:solidFill>
                <a:srgbClr val="000000"/>
              </a:solidFill>
              <a:latin typeface="Arial"/>
              <a:ea typeface="Arial"/>
              <a:cs typeface="Arial"/>
              <a:sym typeface="Arial"/>
            </a:endParaRPr>
          </a:p>
        </p:txBody>
      </p:sp>
      <p:sp>
        <p:nvSpPr>
          <p:cNvPr id="264" name="Google Shape;264;p8"/>
          <p:cNvSpPr/>
          <p:nvPr/>
        </p:nvSpPr>
        <p:spPr>
          <a:xfrm>
            <a:off x="612648" y="1481328"/>
            <a:ext cx="3612000" cy="5121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5" name="Google Shape;265;p8"/>
          <p:cNvSpPr txBox="1"/>
          <p:nvPr/>
        </p:nvSpPr>
        <p:spPr>
          <a:xfrm>
            <a:off x="777215" y="1636778"/>
            <a:ext cx="3282600" cy="1692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Most exoplanets have never been seen</a:t>
            </a:r>
            <a:endParaRPr b="0" i="0" spc="0" sz="1400" u="none" cap="none" strike="noStrike">
              <a:solidFill>
                <a:srgbClr val="000000"/>
              </a:solidFill>
              <a:latin typeface="Arial"/>
              <a:ea typeface="Arial"/>
              <a:cs typeface="Arial"/>
              <a:sym typeface="Arial"/>
            </a:endParaRPr>
          </a:p>
        </p:txBody>
      </p:sp>
      <p:sp>
        <p:nvSpPr>
          <p:cNvPr id="266" name="Google Shape;266;p8"/>
          <p:cNvSpPr/>
          <p:nvPr/>
        </p:nvSpPr>
        <p:spPr>
          <a:xfrm>
            <a:off x="4306824" y="1636776"/>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7" name="Google Shape;267;p8"/>
          <p:cNvSpPr/>
          <p:nvPr/>
        </p:nvSpPr>
        <p:spPr>
          <a:xfrm>
            <a:off x="4681728" y="1481328"/>
            <a:ext cx="3849600" cy="5121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8" name="Google Shape;268;p8"/>
          <p:cNvSpPr txBox="1"/>
          <p:nvPr/>
        </p:nvSpPr>
        <p:spPr>
          <a:xfrm>
            <a:off x="4846320" y="1539431"/>
            <a:ext cx="3520500" cy="3540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 xml:space="preserve">only </a:t>
            </a:r>
            <a:r>
              <a:rPr b="1" i="0" lang="en" spc="0" sz="1000" u="none" cap="none" strike="noStrike">
                <a:solidFill>
                  <a:srgbClr val="E8A93A"/>
                </a:solidFill>
                <a:latin typeface="Courier New"/>
                <a:ea typeface="Courier New"/>
                <a:cs typeface="Courier New"/>
                <a:sym typeface="Courier New"/>
              </a:rPr>
              <a:t>1.5%</a:t>
            </a:r>
            <a:r>
              <a:rPr b="0" i="0" lang="en" spc="0" sz="1000" u="none" cap="none" strike="noStrike">
                <a:solidFill>
                  <a:srgbClr val="F6F4EF"/>
                </a:solidFill>
                <a:latin typeface="Courier New"/>
                <a:ea typeface="Courier New"/>
                <a:cs typeface="Courier New"/>
                <a:sym typeface="Courier New"/>
              </a:rPr>
              <a:t xml:space="preserve"> were photographed (imaging)</a:t>
            </a:r>
            <a:endParaRPr b="0" i="0" spc="0" sz="1400" u="none" cap="none" strike="noStrike">
              <a:solidFill>
                <a:srgbClr val="000000"/>
              </a:solidFill>
              <a:latin typeface="Arial"/>
              <a:ea typeface="Arial"/>
              <a:cs typeface="Arial"/>
              <a:sym typeface="Arial"/>
            </a:endParaRPr>
          </a:p>
        </p:txBody>
      </p:sp>
      <p:sp>
        <p:nvSpPr>
          <p:cNvPr id="269" name="Google Shape;269;p8"/>
          <p:cNvSpPr/>
          <p:nvPr/>
        </p:nvSpPr>
        <p:spPr>
          <a:xfrm>
            <a:off x="612648" y="2066544"/>
            <a:ext cx="3612000" cy="5121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0" name="Google Shape;270;p8"/>
          <p:cNvSpPr txBox="1"/>
          <p:nvPr/>
        </p:nvSpPr>
        <p:spPr>
          <a:xfrm>
            <a:off x="777215" y="2221994"/>
            <a:ext cx="3282600" cy="1692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Missing values depend on the discovery method</a:t>
            </a:r>
            <a:endParaRPr b="0" i="0" spc="0" sz="1400" u="none" cap="none" strike="noStrike">
              <a:solidFill>
                <a:srgbClr val="000000"/>
              </a:solidFill>
              <a:latin typeface="Arial"/>
              <a:ea typeface="Arial"/>
              <a:cs typeface="Arial"/>
              <a:sym typeface="Arial"/>
            </a:endParaRPr>
          </a:p>
        </p:txBody>
      </p:sp>
      <p:sp>
        <p:nvSpPr>
          <p:cNvPr id="271" name="Google Shape;271;p8"/>
          <p:cNvSpPr/>
          <p:nvPr/>
        </p:nvSpPr>
        <p:spPr>
          <a:xfrm>
            <a:off x="4306824" y="2221992"/>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2" name="Google Shape;272;p8"/>
          <p:cNvSpPr/>
          <p:nvPr/>
        </p:nvSpPr>
        <p:spPr>
          <a:xfrm>
            <a:off x="4681728" y="2066544"/>
            <a:ext cx="3849600" cy="5121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3" name="Google Shape;273;p8"/>
          <p:cNvSpPr txBox="1"/>
          <p:nvPr/>
        </p:nvSpPr>
        <p:spPr>
          <a:xfrm>
            <a:off x="4846320" y="2146436"/>
            <a:ext cx="3520500" cy="3540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 xml:space="preserve">temperature missing: </a:t>
            </a:r>
            <a:r>
              <a:rPr b="1" i="0" lang="en" spc="0" sz="1000" u="none" cap="none" strike="noStrike">
                <a:solidFill>
                  <a:srgbClr val="E8A93A"/>
                </a:solidFill>
                <a:latin typeface="Courier New"/>
                <a:ea typeface="Courier New"/>
                <a:cs typeface="Courier New"/>
                <a:sym typeface="Courier New"/>
              </a:rPr>
              <a:t>5%</a:t>
            </a:r>
            <a:r>
              <a:rPr b="0" i="0" lang="en" spc="0" sz="1000" u="none" cap="none" strike="noStrike">
                <a:solidFill>
                  <a:srgbClr val="F6F4EF"/>
                </a:solidFill>
                <a:latin typeface="Courier New"/>
                <a:ea typeface="Courier New"/>
                <a:cs typeface="Courier New"/>
                <a:sym typeface="Courier New"/>
              </a:rPr>
              <a:t xml:space="preserve"> of transit,</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1" i="0" lang="en" spc="0" sz="1000" u="none" cap="none" strike="noStrike">
                <a:solidFill>
                  <a:srgbClr val="E8A93A"/>
                </a:solidFill>
                <a:latin typeface="Courier New"/>
                <a:ea typeface="Courier New"/>
                <a:cs typeface="Courier New"/>
                <a:sym typeface="Courier New"/>
              </a:rPr>
              <a:t>98%</a:t>
            </a:r>
            <a:r>
              <a:rPr b="0" i="0" lang="en" spc="0" sz="1000" u="none" cap="none" strike="noStrike">
                <a:solidFill>
                  <a:srgbClr val="F6F4EF"/>
                </a:solidFill>
                <a:latin typeface="Courier New"/>
                <a:ea typeface="Courier New"/>
                <a:cs typeface="Courier New"/>
                <a:sym typeface="Courier New"/>
              </a:rPr>
              <a:t xml:space="preserve"> of microlensing planets</a:t>
            </a:r>
            <a:endParaRPr b="0" i="0" spc="0" sz="1400" u="none" cap="none" strike="noStrike">
              <a:solidFill>
                <a:srgbClr val="000000"/>
              </a:solidFill>
              <a:latin typeface="Arial"/>
              <a:ea typeface="Arial"/>
              <a:cs typeface="Arial"/>
              <a:sym typeface="Arial"/>
            </a:endParaRPr>
          </a:p>
        </p:txBody>
      </p:sp>
      <p:sp>
        <p:nvSpPr>
          <p:cNvPr id="274" name="Google Shape;274;p8"/>
          <p:cNvSpPr/>
          <p:nvPr/>
        </p:nvSpPr>
        <p:spPr>
          <a:xfrm>
            <a:off x="612648" y="2651760"/>
            <a:ext cx="3612000" cy="5121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5" name="Google Shape;275;p8"/>
          <p:cNvSpPr txBox="1"/>
          <p:nvPr/>
        </p:nvSpPr>
        <p:spPr>
          <a:xfrm>
            <a:off x="777215" y="2741844"/>
            <a:ext cx="3282600" cy="381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Most known planets finish a year in days</a:t>
            </a:r>
            <a:endParaRPr b="0" i="0" spc="0" sz="1400" u="none" cap="none" strike="noStrike">
              <a:solidFill>
                <a:srgbClr val="000000"/>
              </a:solidFill>
              <a:latin typeface="Arial"/>
              <a:ea typeface="Arial"/>
              <a:cs typeface="Arial"/>
              <a:sym typeface="Arial"/>
            </a:endParaRPr>
          </a:p>
        </p:txBody>
      </p:sp>
      <p:sp>
        <p:nvSpPr>
          <p:cNvPr id="276" name="Google Shape;276;p8"/>
          <p:cNvSpPr/>
          <p:nvPr/>
        </p:nvSpPr>
        <p:spPr>
          <a:xfrm>
            <a:off x="4306824" y="2807208"/>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7" name="Google Shape;277;p8"/>
          <p:cNvSpPr/>
          <p:nvPr/>
        </p:nvSpPr>
        <p:spPr>
          <a:xfrm>
            <a:off x="4681728" y="2651760"/>
            <a:ext cx="3849600" cy="5121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8" name="Google Shape;278;p8"/>
          <p:cNvSpPr txBox="1"/>
          <p:nvPr/>
        </p:nvSpPr>
        <p:spPr>
          <a:xfrm>
            <a:off x="4846320" y="2724389"/>
            <a:ext cx="3520500" cy="3540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 xml:space="preserve">median year </a:t>
            </a:r>
            <a:r>
              <a:rPr b="1" i="0" lang="en" spc="0" sz="1000" u="none" cap="none" strike="noStrike">
                <a:solidFill>
                  <a:srgbClr val="E8A93A"/>
                </a:solidFill>
                <a:latin typeface="Courier New"/>
                <a:ea typeface="Courier New"/>
                <a:cs typeface="Courier New"/>
                <a:sym typeface="Courier New"/>
              </a:rPr>
              <a:t>10.7</a:t>
            </a:r>
            <a:r>
              <a:rPr b="0" i="0" lang="en" spc="0" sz="1000" u="none" cap="none" strike="noStrike">
                <a:solidFill>
                  <a:srgbClr val="F6F4EF"/>
                </a:solidFill>
                <a:latin typeface="Courier New"/>
                <a:ea typeface="Courier New"/>
                <a:cs typeface="Courier New"/>
                <a:sym typeface="Courier New"/>
              </a:rPr>
              <a:t xml:space="preserve"> days; </a:t>
            </a:r>
            <a:r>
              <a:rPr b="1" i="0" lang="en" spc="0" sz="1000" u="none" cap="none" strike="noStrike">
                <a:solidFill>
                  <a:srgbClr val="E8A93A"/>
                </a:solidFill>
                <a:latin typeface="Courier New"/>
                <a:ea typeface="Courier New"/>
                <a:cs typeface="Courier New"/>
                <a:sym typeface="Courier New"/>
              </a:rPr>
              <a:t>83%</a:t>
            </a:r>
            <a:r>
              <a:rPr b="0" i="0" lang="en" spc="0" sz="1000" u="none" cap="none" strike="noStrike">
                <a:solidFill>
                  <a:srgbClr val="F6F4EF"/>
                </a:solidFill>
                <a:latin typeface="Courier New"/>
                <a:ea typeface="Courier New"/>
                <a:cs typeface="Courier New"/>
                <a:sym typeface="Courier New"/>
              </a:rPr>
              <a:t xml:space="preserve"> shorter</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than Mercury's 88-day year</a:t>
            </a:r>
            <a:endParaRPr b="0" i="0" spc="0" sz="1400" u="none" cap="none" strike="noStrike">
              <a:solidFill>
                <a:srgbClr val="000000"/>
              </a:solidFill>
              <a:latin typeface="Arial"/>
              <a:ea typeface="Arial"/>
              <a:cs typeface="Arial"/>
              <a:sym typeface="Arial"/>
            </a:endParaRPr>
          </a:p>
        </p:txBody>
      </p:sp>
      <p:sp>
        <p:nvSpPr>
          <p:cNvPr id="279" name="Google Shape;279;p8"/>
          <p:cNvSpPr/>
          <p:nvPr/>
        </p:nvSpPr>
        <p:spPr>
          <a:xfrm>
            <a:off x="612648" y="3236976"/>
            <a:ext cx="3612000" cy="7680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0" name="Google Shape;280;p8"/>
          <p:cNvSpPr txBox="1"/>
          <p:nvPr/>
        </p:nvSpPr>
        <p:spPr>
          <a:xfrm>
            <a:off x="777215" y="3414215"/>
            <a:ext cx="3282600" cy="381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Closer orbits mean hotter planets</a:t>
            </a:r>
            <a:endParaRPr b="0" i="0" spc="0" sz="1400" u="none" cap="none" strike="noStrike">
              <a:solidFill>
                <a:srgbClr val="000000"/>
              </a:solidFill>
              <a:latin typeface="Arial"/>
              <a:ea typeface="Arial"/>
              <a:cs typeface="Arial"/>
              <a:sym typeface="Arial"/>
            </a:endParaRPr>
          </a:p>
        </p:txBody>
      </p:sp>
      <p:sp>
        <p:nvSpPr>
          <p:cNvPr id="281" name="Google Shape;281;p8"/>
          <p:cNvSpPr/>
          <p:nvPr/>
        </p:nvSpPr>
        <p:spPr>
          <a:xfrm>
            <a:off x="4306824" y="3520440"/>
            <a:ext cx="292500" cy="201300"/>
          </a:xfrm>
          <a:prstGeom prst="rightArrow">
            <a:avLst>
              <a:gd fmla="val 50000" name="adj1"/>
              <a:gd fmla="val 50000" name="adj2"/>
            </a:avLst>
          </a:prstGeom>
          <a:solidFill>
            <a:srgbClr val="5A2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2" name="Google Shape;282;p8"/>
          <p:cNvSpPr/>
          <p:nvPr/>
        </p:nvSpPr>
        <p:spPr>
          <a:xfrm>
            <a:off x="4681728" y="3236976"/>
            <a:ext cx="3849600" cy="7680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3" name="Google Shape;283;p8"/>
          <p:cNvSpPr txBox="1"/>
          <p:nvPr/>
        </p:nvSpPr>
        <p:spPr>
          <a:xfrm>
            <a:off x="4846320" y="3338657"/>
            <a:ext cx="3520500" cy="5541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 xml:space="preserve">r = </a:t>
            </a:r>
            <a:r>
              <a:rPr b="1" i="0" lang="en" spc="0" sz="1000" u="none" cap="none" strike="noStrike">
                <a:solidFill>
                  <a:srgbClr val="E8A93A"/>
                </a:solidFill>
                <a:latin typeface="Courier New"/>
                <a:ea typeface="Courier New"/>
                <a:cs typeface="Courier New"/>
                <a:sym typeface="Courier New"/>
              </a:rPr>
              <a:t>-0.68</a:t>
            </a:r>
            <a:r>
              <a:rPr b="0" i="0" lang="en" spc="0" sz="1000" u="none" cap="none" strike="noStrike">
                <a:solidFill>
                  <a:srgbClr val="F6F4EF"/>
                </a:solidFill>
                <a:latin typeface="Courier New"/>
                <a:ea typeface="Courier New"/>
                <a:cs typeface="Courier New"/>
                <a:sym typeface="Courier New"/>
              </a:rPr>
              <a:t xml:space="preserve">; </a:t>
            </a:r>
            <a:r>
              <a:rPr b="1" i="0" lang="en" spc="0" sz="1000" u="none" cap="none" strike="noStrike">
                <a:solidFill>
                  <a:srgbClr val="E8A93A"/>
                </a:solidFill>
                <a:latin typeface="Courier New"/>
                <a:ea typeface="Courier New"/>
                <a:cs typeface="Courier New"/>
                <a:sym typeface="Courier New"/>
              </a:rPr>
              <a:t>739</a:t>
            </a:r>
            <a:r>
              <a:rPr b="0" i="0" lang="en" spc="0" sz="1000" u="none" cap="none" strike="noStrike">
                <a:solidFill>
                  <a:srgbClr val="F6F4EF"/>
                </a:solidFill>
                <a:latin typeface="Courier New"/>
                <a:ea typeface="Courier New"/>
                <a:cs typeface="Courier New"/>
                <a:sym typeface="Courier New"/>
              </a:rPr>
              <a:t xml:space="preserve"> hot Jupiters with a</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00"/>
              <a:buFont typeface="Arial"/>
              <a:buNone/>
            </a:pPr>
            <a:r>
              <a:rPr b="0" i="0" lang="en" spc="0" sz="1000" u="none" cap="none" strike="noStrike">
                <a:solidFill>
                  <a:srgbClr val="F6F4EF"/>
                </a:solidFill>
                <a:latin typeface="Courier New"/>
                <a:ea typeface="Courier New"/>
                <a:cs typeface="Courier New"/>
                <a:sym typeface="Courier New"/>
              </a:rPr>
              <a:t xml:space="preserve">median of </a:t>
            </a:r>
            <a:r>
              <a:rPr b="1" i="0" lang="en" spc="0" sz="1000" u="none" cap="none" strike="noStrike">
                <a:solidFill>
                  <a:srgbClr val="E8A93A"/>
                </a:solidFill>
                <a:latin typeface="Courier New"/>
                <a:ea typeface="Courier New"/>
                <a:cs typeface="Courier New"/>
                <a:sym typeface="Courier New"/>
              </a:rPr>
              <a:t>1,460 K</a:t>
            </a:r>
            <a:r>
              <a:rPr b="0" i="0" lang="en" spc="0" sz="1000" u="none" cap="none" strike="noStrike">
                <a:solidFill>
                  <a:srgbClr val="F6F4EF"/>
                </a:solidFill>
                <a:latin typeface="Courier New"/>
                <a:ea typeface="Courier New"/>
                <a:cs typeface="Courier New"/>
                <a:sym typeface="Courier New"/>
              </a:rPr>
              <a:t xml:space="preserve"> and a </a:t>
            </a:r>
            <a:r>
              <a:rPr b="1" i="0" lang="en" spc="0" sz="1000" u="none" cap="none" strike="noStrike">
                <a:solidFill>
                  <a:srgbClr val="E8A93A"/>
                </a:solidFill>
                <a:latin typeface="Courier New"/>
                <a:ea typeface="Courier New"/>
                <a:cs typeface="Courier New"/>
                <a:sym typeface="Courier New"/>
              </a:rPr>
              <a:t>3.5</a:t>
            </a:r>
            <a:r>
              <a:rPr b="0" i="0" lang="en" spc="0" sz="1000" u="none" cap="none" strike="noStrike">
                <a:solidFill>
                  <a:srgbClr val="F6F4EF"/>
                </a:solidFill>
                <a:latin typeface="Courier New"/>
                <a:ea typeface="Courier New"/>
                <a:cs typeface="Courier New"/>
                <a:sym typeface="Courier New"/>
              </a:rPr>
              <a:t>-day year</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326" name="Shape 326"/>
        <p:cNvGrpSpPr/>
        <p:nvPr/>
      </p:nvGrpSpPr>
      <p:grpSpPr>
        <a:xfrm>
          <a:off x="0" y="0"/>
          <a:ext cx="0" cy="0"/>
          <a:chOff x="0" y="0"/>
          <a:chExt cx="0" cy="0"/>
        </a:xfrm>
      </p:grpSpPr>
      <p:sp>
        <p:nvSpPr>
          <p:cNvPr id="327" name="Google Shape;327;p10"/>
          <p:cNvSpPr/>
          <p:nvPr/>
        </p:nvSpPr>
        <p:spPr>
          <a:xfrm>
            <a:off x="609591" y="609591"/>
            <a:ext cx="8162564" cy="39623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2700"/>
              <a:buFont typeface="Space Grotesk"/>
              <a:buNone/>
            </a:pPr>
            <a:r>
              <a:rPr b="1" i="0" lang="en" spc="0" sz="2700" u="none" cap="none" strike="noStrike">
                <a:solidFill>
                  <a:schemeClr val="dk1"/>
                </a:solidFill>
                <a:latin typeface="Space Grotesk"/>
                <a:ea typeface="Space Grotesk"/>
                <a:cs typeface="Space Grotesk"/>
                <a:sym typeface="Space Grotesk"/>
              </a:rPr>
              <a:t>Before next week</a:t>
            </a:r>
            <a:endParaRPr b="0" i="0" spc="0" sz="2700" u="none" cap="none" strike="noStrike">
              <a:solidFill>
                <a:schemeClr val="dk1"/>
              </a:solidFill>
              <a:latin typeface="Calibri"/>
              <a:ea typeface="Calibri"/>
              <a:cs typeface="Calibri"/>
              <a:sym typeface="Calibri"/>
            </a:endParaRPr>
          </a:p>
        </p:txBody>
      </p:sp>
      <p:cxnSp>
        <p:nvCxnSpPr>
          <p:cNvPr id="328" name="Google Shape;328;p10"/>
          <p:cNvCxnSpPr/>
          <p:nvPr/>
        </p:nvCxnSpPr>
        <p:spPr>
          <a:xfrm>
            <a:off x="609591" y="2145767"/>
            <a:ext cx="2540031" cy="0"/>
          </a:xfrm>
          <a:prstGeom prst="straightConnector1">
            <a:avLst/>
          </a:prstGeom>
          <a:noFill/>
          <a:ln cap="flat" cmpd="sng" w="25400">
            <a:solidFill>
              <a:srgbClr val="FDFCFA"/>
            </a:solidFill>
            <a:prstDash val="solid"/>
            <a:round/>
            <a:headEnd len="sm" w="sm" type="none"/>
            <a:tailEnd len="sm" w="sm" type="none"/>
          </a:ln>
        </p:spPr>
      </p:cxnSp>
      <p:sp>
        <p:nvSpPr>
          <p:cNvPr id="329" name="Google Shape;329;p10"/>
          <p:cNvSpPr/>
          <p:nvPr/>
        </p:nvSpPr>
        <p:spPr>
          <a:xfrm>
            <a:off x="609591" y="2306464"/>
            <a:ext cx="2616232"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500" u="none" cap="none" strike="noStrike">
                <a:solidFill>
                  <a:srgbClr val="3D3947"/>
                </a:solidFill>
                <a:latin typeface="Space Grotesk"/>
                <a:ea typeface="Space Grotesk"/>
                <a:cs typeface="Space Grotesk"/>
                <a:sym typeface="Space Grotesk"/>
              </a:rPr>
              <a:t>Take-home</a:t>
            </a:r>
            <a:endParaRPr b="0" i="0" spc="0" sz="1500" u="none" cap="none" strike="noStrike">
              <a:solidFill>
                <a:srgbClr val="3D3947"/>
              </a:solidFill>
              <a:latin typeface="Calibri"/>
              <a:ea typeface="Calibri"/>
              <a:cs typeface="Calibri"/>
              <a:sym typeface="Calibri"/>
            </a:endParaRPr>
          </a:p>
        </p:txBody>
      </p:sp>
      <p:sp>
        <p:nvSpPr>
          <p:cNvPr id="330" name="Google Shape;330;p10"/>
          <p:cNvSpPr/>
          <p:nvPr/>
        </p:nvSpPr>
        <p:spPr>
          <a:xfrm>
            <a:off x="609600" y="2611213"/>
            <a:ext cx="2616300" cy="1226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Exercises 1 to 4 in today's notebook. Submit on Brightspace within one week, by 11:59 PM.</a:t>
            </a:r>
            <a:endParaRPr b="0" i="0" spc="0" sz="1100" u="none" cap="none" strike="noStrike">
              <a:solidFill>
                <a:srgbClr val="3D3947"/>
              </a:solidFill>
              <a:latin typeface="Calibri"/>
              <a:ea typeface="Calibri"/>
              <a:cs typeface="Calibri"/>
              <a:sym typeface="Calibri"/>
            </a:endParaRPr>
          </a:p>
        </p:txBody>
      </p:sp>
      <p:cxnSp>
        <p:nvCxnSpPr>
          <p:cNvPr id="331" name="Google Shape;331;p10"/>
          <p:cNvCxnSpPr/>
          <p:nvPr/>
        </p:nvCxnSpPr>
        <p:spPr>
          <a:xfrm>
            <a:off x="3301985" y="2145767"/>
            <a:ext cx="2540031" cy="0"/>
          </a:xfrm>
          <a:prstGeom prst="straightConnector1">
            <a:avLst/>
          </a:prstGeom>
          <a:noFill/>
          <a:ln cap="flat" cmpd="sng" w="25400">
            <a:solidFill>
              <a:srgbClr val="FDFCFA"/>
            </a:solidFill>
            <a:prstDash val="solid"/>
            <a:round/>
            <a:headEnd len="sm" w="sm" type="none"/>
            <a:tailEnd len="sm" w="sm" type="none"/>
          </a:ln>
        </p:spPr>
      </p:cxnSp>
      <p:sp>
        <p:nvSpPr>
          <p:cNvPr id="332" name="Google Shape;332;p10"/>
          <p:cNvSpPr/>
          <p:nvPr/>
        </p:nvSpPr>
        <p:spPr>
          <a:xfrm>
            <a:off x="3301985" y="2306464"/>
            <a:ext cx="2616232"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500" u="none" cap="none" strike="noStrike">
                <a:solidFill>
                  <a:srgbClr val="3D3947"/>
                </a:solidFill>
                <a:latin typeface="Space Grotesk"/>
                <a:ea typeface="Space Grotesk"/>
                <a:cs typeface="Space Grotesk"/>
                <a:sym typeface="Space Grotesk"/>
              </a:rPr>
              <a:t>Feedback form</a:t>
            </a:r>
            <a:endParaRPr b="0" i="0" spc="0" sz="1500" u="none" cap="none" strike="noStrike">
              <a:solidFill>
                <a:srgbClr val="3D3947"/>
              </a:solidFill>
              <a:latin typeface="Calibri"/>
              <a:ea typeface="Calibri"/>
              <a:cs typeface="Calibri"/>
              <a:sym typeface="Calibri"/>
            </a:endParaRPr>
          </a:p>
        </p:txBody>
      </p:sp>
      <p:sp>
        <p:nvSpPr>
          <p:cNvPr id="333" name="Google Shape;333;p10"/>
          <p:cNvSpPr/>
          <p:nvPr/>
        </p:nvSpPr>
        <p:spPr>
          <a:xfrm>
            <a:off x="3301987" y="2611213"/>
            <a:ext cx="2616300" cy="830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Fill it out after today's session. It counts toward your credential.</a:t>
            </a:r>
            <a:endParaRPr b="0" i="0" spc="0" sz="1100" u="none" cap="none" strike="noStrike">
              <a:solidFill>
                <a:srgbClr val="3D3947"/>
              </a:solidFill>
              <a:latin typeface="Calibri"/>
              <a:ea typeface="Calibri"/>
              <a:cs typeface="Calibri"/>
              <a:sym typeface="Calibri"/>
            </a:endParaRPr>
          </a:p>
        </p:txBody>
      </p:sp>
      <p:cxnSp>
        <p:nvCxnSpPr>
          <p:cNvPr id="334" name="Google Shape;334;p10"/>
          <p:cNvCxnSpPr/>
          <p:nvPr/>
        </p:nvCxnSpPr>
        <p:spPr>
          <a:xfrm>
            <a:off x="5994378" y="2145767"/>
            <a:ext cx="2540031" cy="0"/>
          </a:xfrm>
          <a:prstGeom prst="straightConnector1">
            <a:avLst/>
          </a:prstGeom>
          <a:noFill/>
          <a:ln cap="flat" cmpd="sng" w="25400">
            <a:solidFill>
              <a:srgbClr val="FDFCFA"/>
            </a:solidFill>
            <a:prstDash val="solid"/>
            <a:round/>
            <a:headEnd len="sm" w="sm" type="none"/>
            <a:tailEnd len="sm" w="sm" type="none"/>
          </a:ln>
        </p:spPr>
      </p:cxnSp>
      <p:sp>
        <p:nvSpPr>
          <p:cNvPr id="335" name="Google Shape;335;p10"/>
          <p:cNvSpPr/>
          <p:nvPr/>
        </p:nvSpPr>
        <p:spPr>
          <a:xfrm>
            <a:off x="5994378" y="2306464"/>
            <a:ext cx="2616232"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500" u="none" cap="none" strike="noStrike">
                <a:solidFill>
                  <a:srgbClr val="3D3947"/>
                </a:solidFill>
                <a:latin typeface="Space Grotesk"/>
                <a:ea typeface="Space Grotesk"/>
                <a:cs typeface="Space Grotesk"/>
                <a:sym typeface="Space Grotesk"/>
              </a:rPr>
              <a:t>Week 4: SQL Fundamentals</a:t>
            </a:r>
            <a:endParaRPr b="0" i="0" spc="0" sz="1500" u="none" cap="none" strike="noStrike">
              <a:solidFill>
                <a:srgbClr val="3D3947"/>
              </a:solidFill>
              <a:latin typeface="Calibri"/>
              <a:ea typeface="Calibri"/>
              <a:cs typeface="Calibri"/>
              <a:sym typeface="Calibri"/>
            </a:endParaRPr>
          </a:p>
        </p:txBody>
      </p:sp>
      <p:sp>
        <p:nvSpPr>
          <p:cNvPr id="336" name="Google Shape;336;p10"/>
          <p:cNvSpPr/>
          <p:nvPr/>
        </p:nvSpPr>
        <p:spPr>
          <a:xfrm>
            <a:off x="5994374" y="2611213"/>
            <a:ext cx="2616300" cy="1226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Work with databases and get familiar with SQL basics!</a:t>
            </a:r>
            <a:endParaRPr b="0" i="0" spc="0" sz="1100" u="none" cap="none" strike="noStrike">
              <a:solidFill>
                <a:srgbClr val="3D3947"/>
              </a:solidFill>
              <a:latin typeface="Calibri"/>
              <a:ea typeface="Calibri"/>
              <a:cs typeface="Calibri"/>
              <a:sym typeface="Calibri"/>
            </a:endParaRPr>
          </a:p>
        </p:txBody>
      </p:sp>
      <p:pic>
        <p:nvPicPr>
          <p:cNvPr id="337" name="Google Shape;337;p10" title="NYUTandon_LongLogo_Black.png"/>
          <p:cNvPicPr preferRelativeResize="0"/>
          <p:nvPr/>
        </p:nvPicPr>
        <p:blipFill rotWithShape="1">
          <a:blip r:embed="rId3">
            <a:alphaModFix/>
          </a:blip>
          <a:srcRect b="0" l="0" r="0" t="0"/>
          <a:stretch/>
        </p:blipFill>
        <p:spPr>
          <a:xfrm>
            <a:off x="118474" y="96475"/>
            <a:ext cx="1826033" cy="287100"/>
          </a:xfrm>
          <a:prstGeom prst="rect">
            <a:avLst/>
          </a:prstGeom>
          <a:noFill/>
          <a:ln>
            <a:noFill/>
          </a:ln>
        </p:spPr>
      </p:pic>
      <p:sp>
        <p:nvSpPr>
          <p:cNvPr id="338" name="Google Shape;338;p10"/>
          <p:cNvSpPr/>
          <p:nvPr/>
        </p:nvSpPr>
        <p:spPr>
          <a:xfrm>
            <a:off x="118466" y="489124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700" u="none" cap="none" strike="noStrike">
                <a:solidFill>
                  <a:srgbClr val="625D6E"/>
                </a:solidFill>
                <a:latin typeface="Inter"/>
                <a:ea typeface="Inter"/>
                <a:cs typeface="Inter"/>
                <a:sym typeface="Inter"/>
              </a:rPr>
              <a:t>Data Science Bootcamp · Fall 2026</a:t>
            </a:r>
            <a:endParaRPr b="0" i="0" spc="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