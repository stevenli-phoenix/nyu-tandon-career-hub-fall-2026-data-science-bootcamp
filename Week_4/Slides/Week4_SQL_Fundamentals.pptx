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Lst>
  <p:notesMasterIdLst>
    <p:notesMasterId r:id="rId7"/>
  </p:notesMasterIdLst>
  <p:sldIdLst>
    <p:sldId id="256" r:id="rId8"/>
    <p:sldId id="257" r:id="rId9"/>
    <p:sldId id="258" r:id="rId10"/>
    <p:sldId id="259" r:id="rId11"/>
    <p:sldId id="260" r:id="rId12"/>
    <p:sldId id="267" r:id="rId26"/>
    <p:sldId id="268" r:id="rId27"/>
    <p:sldId id="269" r:id="rId28"/>
    <p:sldId id="270" r:id="rId29"/>
    <p:sldId id="271" r:id="rId30"/>
    <p:sldId id="272" r:id="rId31"/>
    <p:sldId id="273" r:id="rId32"/>
    <p:sldId id="274" r:id="rId33"/>
    <p:sldId id="275" r:id="rId34"/>
    <p:sldId id="276" r:id="rId35"/>
    <p:sldId id="265" r:id="rId17"/>
  </p:sldIdLst>
  <p:sldSz cy="5143500" cx="9144000"/>
  <p:notesSz cx="6858000" cy="9144000"/>
  <p:embeddedFontLst>
    <p:embeddedFont>
      <p:font typeface="Inter"/>
      <p:regular r:id="rId18"/>
      <p:bold r:id="rId19"/>
      <p:italic r:id="rId20"/>
      <p:boldItalic r:id="rId21"/>
    </p:embeddedFont>
    <p:embeddedFont>
      <p:font typeface="Space Grotesk"/>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4" roundtripDataSignature="AMtx7mgGskNizBXekm8Aofbtw+HdJgL4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7" Type="http://schemas.openxmlformats.org/officeDocument/2006/relationships/slide" Target="slides/slide12.xml"/><Relationship Id="rId18" Type="http://schemas.openxmlformats.org/officeDocument/2006/relationships/font" Target="fonts/Inter-regular.fntdata"/><Relationship Id="rId19" Type="http://schemas.openxmlformats.org/officeDocument/2006/relationships/font" Target="fonts/Inter-bold.fntdata"/><Relationship Id="rId20" Type="http://schemas.openxmlformats.org/officeDocument/2006/relationships/font" Target="fonts/Inter-italic.fntdata"/><Relationship Id="rId21" Type="http://schemas.openxmlformats.org/officeDocument/2006/relationships/font" Target="fonts/Inter-boldItalic.fntdata"/><Relationship Id="rId22" Type="http://schemas.openxmlformats.org/officeDocument/2006/relationships/font" Target="fonts/SpaceGrotesk-regular.fntdata"/><Relationship Id="rId23" Type="http://schemas.openxmlformats.org/officeDocument/2006/relationships/font" Target="fonts/SpaceGrotesk-bold.fntdata"/><Relationship Id="rId24" Type="http://customschemas.google.com/relationships/presentationmetadata" Target="metadata"/><Relationship Id="rId26" Type="http://schemas.openxmlformats.org/officeDocument/2006/relationships/slide" Target="slides/slide6.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D1B24"/>
                </a:solidFill>
                <a:latin typeface="Inter"/>
              </a:rPr>
              <a:t>Sets released per year (2017 in orange)</a:t>
            </a:r>
          </a:p>
        </c:rich>
      </c:tx>
      <c:layout/>
      <c:overlay val="0"/>
    </c:title>
    <c:autoTitleDeleted val="0"/>
    <c:plotArea>
      <c:barChart>
        <c:barDir val="col"/>
        <c:grouping val="clustered"/>
        <c:ser>
          <c:idx val="0"/>
          <c:order val="0"/>
          <c:tx>
            <c:strRef>
              <c:f>Sheet1!$B$1</c:f>
              <c:strCache>
                <c:ptCount val="1"/>
                <c:pt idx="0">
                  <c:v>Sets released</c:v>
                </c:pt>
              </c:strCache>
            </c:strRef>
          </c:tx>
          <c:spPr>
            <a:solidFill>
              <a:srgbClr val="5A2D8C"/>
            </a:solidFill>
          </c:spPr>
          <c:dPt>
            <c:idx val="67"/>
            <c:spPr>
              <a:solidFill>
                <a:srgbClr val="E8A93A"/>
              </a:solidFill>
            </c:spPr>
          </c:dPt>
          <c:cat>
            <c:strRef>
              <c:f>Sheet1!$A$2:$A$69</c:f>
              <c:strCache>
                <c:ptCount val="68"/>
                <c:pt idx="0">
                  <c:v>1950</c:v>
                </c:pt>
                <c:pt idx="1">
                  <c:v>1951</c:v>
                </c:pt>
                <c:pt idx="2">
                  <c:v>1952</c:v>
                </c:pt>
                <c:pt idx="3">
                  <c:v>1953</c:v>
                </c:pt>
                <c:pt idx="4">
                  <c:v>1954</c:v>
                </c:pt>
                <c:pt idx="5">
                  <c:v>1955</c:v>
                </c:pt>
                <c:pt idx="6">
                  <c:v>1956</c:v>
                </c:pt>
                <c:pt idx="7">
                  <c:v>1957</c:v>
                </c:pt>
                <c:pt idx="8">
                  <c:v>1958</c:v>
                </c:pt>
                <c:pt idx="9">
                  <c:v>1959</c:v>
                </c:pt>
                <c:pt idx="10">
                  <c:v>1960</c:v>
                </c:pt>
                <c:pt idx="11">
                  <c:v>1961</c:v>
                </c:pt>
                <c:pt idx="12">
                  <c:v>1962</c:v>
                </c:pt>
                <c:pt idx="13">
                  <c:v>1963</c:v>
                </c:pt>
                <c:pt idx="14">
                  <c:v>1964</c:v>
                </c:pt>
                <c:pt idx="15">
                  <c:v>1965</c:v>
                </c:pt>
                <c:pt idx="16">
                  <c:v>1966</c:v>
                </c:pt>
                <c:pt idx="17">
                  <c:v>1967</c:v>
                </c:pt>
                <c:pt idx="18">
                  <c:v>1968</c:v>
                </c:pt>
                <c:pt idx="19">
                  <c:v>1969</c:v>
                </c:pt>
                <c:pt idx="20">
                  <c:v>1970</c:v>
                </c:pt>
                <c:pt idx="21">
                  <c:v>1971</c:v>
                </c:pt>
                <c:pt idx="22">
                  <c:v>1972</c:v>
                </c:pt>
                <c:pt idx="23">
                  <c:v>1973</c:v>
                </c:pt>
                <c:pt idx="24">
                  <c:v>1974</c:v>
                </c:pt>
                <c:pt idx="25">
                  <c:v>1975</c:v>
                </c:pt>
                <c:pt idx="26">
                  <c:v>1976</c:v>
                </c:pt>
                <c:pt idx="27">
                  <c:v>1977</c:v>
                </c:pt>
                <c:pt idx="28">
                  <c:v>1978</c:v>
                </c:pt>
                <c:pt idx="29">
                  <c:v>1979</c:v>
                </c:pt>
                <c:pt idx="30">
                  <c:v>1980</c:v>
                </c:pt>
                <c:pt idx="31">
                  <c:v>1981</c:v>
                </c:pt>
                <c:pt idx="32">
                  <c:v>1982</c:v>
                </c:pt>
                <c:pt idx="33">
                  <c:v>1983</c:v>
                </c:pt>
                <c:pt idx="34">
                  <c:v>1984</c:v>
                </c:pt>
                <c:pt idx="35">
                  <c:v>1985</c:v>
                </c:pt>
                <c:pt idx="36">
                  <c:v>1986</c:v>
                </c:pt>
                <c:pt idx="37">
                  <c:v>1987</c:v>
                </c:pt>
                <c:pt idx="38">
                  <c:v>1988</c:v>
                </c:pt>
                <c:pt idx="39">
                  <c:v>1989</c:v>
                </c:pt>
                <c:pt idx="40">
                  <c:v>1990</c:v>
                </c:pt>
                <c:pt idx="41">
                  <c:v>1991</c:v>
                </c:pt>
                <c:pt idx="42">
                  <c:v>1992</c:v>
                </c:pt>
                <c:pt idx="43">
                  <c:v>1993</c:v>
                </c:pt>
                <c:pt idx="44">
                  <c:v>1994</c:v>
                </c:pt>
                <c:pt idx="45">
                  <c:v>1995</c:v>
                </c:pt>
                <c:pt idx="46">
                  <c:v>1996</c:v>
                </c:pt>
                <c:pt idx="47">
                  <c:v>1997</c:v>
                </c:pt>
                <c:pt idx="48">
                  <c:v>1998</c:v>
                </c:pt>
                <c:pt idx="49">
                  <c:v>1999</c:v>
                </c:pt>
                <c:pt idx="50">
                  <c:v>2000</c:v>
                </c:pt>
                <c:pt idx="51">
                  <c:v>2001</c:v>
                </c:pt>
                <c:pt idx="52">
                  <c:v>2002</c:v>
                </c:pt>
                <c:pt idx="53">
                  <c:v>2003</c:v>
                </c:pt>
                <c:pt idx="54">
                  <c:v>2004</c:v>
                </c:pt>
                <c:pt idx="55">
                  <c:v>2005</c:v>
                </c:pt>
                <c:pt idx="56">
                  <c:v>2006</c:v>
                </c:pt>
                <c:pt idx="57">
                  <c:v>2007</c:v>
                </c:pt>
                <c:pt idx="58">
                  <c:v>2008</c:v>
                </c:pt>
                <c:pt idx="59">
                  <c:v>2009</c:v>
                </c:pt>
                <c:pt idx="60">
                  <c:v>2010</c:v>
                </c:pt>
                <c:pt idx="61">
                  <c:v>2011</c:v>
                </c:pt>
                <c:pt idx="62">
                  <c:v>2012</c:v>
                </c:pt>
                <c:pt idx="63">
                  <c:v>2013</c:v>
                </c:pt>
                <c:pt idx="64">
                  <c:v>2014</c:v>
                </c:pt>
                <c:pt idx="65">
                  <c:v>2015</c:v>
                </c:pt>
                <c:pt idx="66">
                  <c:v>2016</c:v>
                </c:pt>
                <c:pt idx="67">
                  <c:v>2017</c:v>
                </c:pt>
              </c:strCache>
            </c:strRef>
          </c:cat>
          <c:val>
            <c:numRef>
              <c:f>Sheet1!$B$2:$B$69</c:f>
              <c:numCache>
                <c:formatCode>General</c:formatCode>
                <c:ptCount val="68"/>
                <c:pt idx="0">
                  <c:v>7</c:v>
                </c:pt>
                <c:pt idx="1">
                  <c:v>0</c:v>
                </c:pt>
                <c:pt idx="2">
                  <c:v>0</c:v>
                </c:pt>
                <c:pt idx="3">
                  <c:v>4</c:v>
                </c:pt>
                <c:pt idx="4">
                  <c:v>14</c:v>
                </c:pt>
                <c:pt idx="5">
                  <c:v>28</c:v>
                </c:pt>
                <c:pt idx="6">
                  <c:v>12</c:v>
                </c:pt>
                <c:pt idx="7">
                  <c:v>21</c:v>
                </c:pt>
                <c:pt idx="8">
                  <c:v>42</c:v>
                </c:pt>
                <c:pt idx="9">
                  <c:v>4</c:v>
                </c:pt>
                <c:pt idx="10">
                  <c:v>3</c:v>
                </c:pt>
                <c:pt idx="11">
                  <c:v>17</c:v>
                </c:pt>
                <c:pt idx="12">
                  <c:v>40</c:v>
                </c:pt>
                <c:pt idx="13">
                  <c:v>18</c:v>
                </c:pt>
                <c:pt idx="14">
                  <c:v>11</c:v>
                </c:pt>
                <c:pt idx="15">
                  <c:v>10</c:v>
                </c:pt>
                <c:pt idx="16">
                  <c:v>89</c:v>
                </c:pt>
                <c:pt idx="17">
                  <c:v>21</c:v>
                </c:pt>
                <c:pt idx="18">
                  <c:v>25</c:v>
                </c:pt>
                <c:pt idx="19">
                  <c:v>69</c:v>
                </c:pt>
                <c:pt idx="20">
                  <c:v>29</c:v>
                </c:pt>
                <c:pt idx="21">
                  <c:v>45</c:v>
                </c:pt>
                <c:pt idx="22">
                  <c:v>38</c:v>
                </c:pt>
                <c:pt idx="23">
                  <c:v>67</c:v>
                </c:pt>
                <c:pt idx="24">
                  <c:v>39</c:v>
                </c:pt>
                <c:pt idx="25">
                  <c:v>31</c:v>
                </c:pt>
                <c:pt idx="26">
                  <c:v>68</c:v>
                </c:pt>
                <c:pt idx="27">
                  <c:v>92</c:v>
                </c:pt>
                <c:pt idx="28">
                  <c:v>73</c:v>
                </c:pt>
                <c:pt idx="29">
                  <c:v>82</c:v>
                </c:pt>
                <c:pt idx="30">
                  <c:v>88</c:v>
                </c:pt>
                <c:pt idx="31">
                  <c:v>79</c:v>
                </c:pt>
                <c:pt idx="32">
                  <c:v>76</c:v>
                </c:pt>
                <c:pt idx="33">
                  <c:v>57</c:v>
                </c:pt>
                <c:pt idx="34">
                  <c:v>76</c:v>
                </c:pt>
                <c:pt idx="35">
                  <c:v>139</c:v>
                </c:pt>
                <c:pt idx="36">
                  <c:v>123</c:v>
                </c:pt>
                <c:pt idx="37">
                  <c:v>209</c:v>
                </c:pt>
                <c:pt idx="38">
                  <c:v>68</c:v>
                </c:pt>
                <c:pt idx="39">
                  <c:v>115</c:v>
                </c:pt>
                <c:pt idx="40">
                  <c:v>85</c:v>
                </c:pt>
                <c:pt idx="41">
                  <c:v>107</c:v>
                </c:pt>
                <c:pt idx="42">
                  <c:v>115</c:v>
                </c:pt>
                <c:pt idx="43">
                  <c:v>111</c:v>
                </c:pt>
                <c:pt idx="44">
                  <c:v>128</c:v>
                </c:pt>
                <c:pt idx="45">
                  <c:v>128</c:v>
                </c:pt>
                <c:pt idx="46">
                  <c:v>144</c:v>
                </c:pt>
                <c:pt idx="47">
                  <c:v>192</c:v>
                </c:pt>
                <c:pt idx="48">
                  <c:v>325</c:v>
                </c:pt>
                <c:pt idx="49">
                  <c:v>300</c:v>
                </c:pt>
                <c:pt idx="50">
                  <c:v>327</c:v>
                </c:pt>
                <c:pt idx="51">
                  <c:v>339</c:v>
                </c:pt>
                <c:pt idx="52">
                  <c:v>447</c:v>
                </c:pt>
                <c:pt idx="53">
                  <c:v>415</c:v>
                </c:pt>
                <c:pt idx="54">
                  <c:v>371</c:v>
                </c:pt>
                <c:pt idx="55">
                  <c:v>330</c:v>
                </c:pt>
                <c:pt idx="56">
                  <c:v>283</c:v>
                </c:pt>
                <c:pt idx="57">
                  <c:v>321</c:v>
                </c:pt>
                <c:pt idx="58">
                  <c:v>349</c:v>
                </c:pt>
                <c:pt idx="59">
                  <c:v>402</c:v>
                </c:pt>
                <c:pt idx="60">
                  <c:v>444</c:v>
                </c:pt>
                <c:pt idx="61">
                  <c:v>503</c:v>
                </c:pt>
                <c:pt idx="62">
                  <c:v>615</c:v>
                </c:pt>
                <c:pt idx="63">
                  <c:v>593</c:v>
                </c:pt>
                <c:pt idx="64">
                  <c:v>713</c:v>
                </c:pt>
                <c:pt idx="65">
                  <c:v>665</c:v>
                </c:pt>
                <c:pt idx="66">
                  <c:v>596</c:v>
                </c:pt>
                <c:pt idx="67">
                  <c:v>296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DDD8E3"/>
            </a:solidFill>
          </a:ln>
        </c:spPr>
        <c:txPr>
          <a:bodyPr/>
          <a:lstStyle/>
          <a:p>
            <a:pPr>
              <a:defRPr sz="900">
                <a:solidFill>
                  <a:srgbClr val="625D6E"/>
                </a:solidFill>
                <a:latin typeface="Inter"/>
              </a:defRPr>
            </a:pPr>
          </a:p>
        </c:txPr>
        <c:crossAx val="-2113994440"/>
        <c:crosses val="autoZero"/>
        <c:auto val="1"/>
        <c:lblAlgn val="ctr"/>
        <c:lblOffset val="100"/>
        <c:tickLblSkip val="4"/>
        <c:noMultiLvlLbl val="0"/>
      </c:catAx>
      <c:valAx>
        <c:axId val="-2113994440"/>
        <c:scaling/>
        <c:delete val="0"/>
        <c:axPos val="l"/>
        <c:majorGridlines>
          <c:spPr>
            <a:ln>
              <a:solidFill>
                <a:srgbClr val="ECE8F0"/>
              </a:solidFill>
            </a:ln>
          </c:spPr>
        </c:majorGridlines>
        <c:majorTickMark val="out"/>
        <c:minorTickMark val="none"/>
        <c:tickLblPos val="nextTo"/>
        <c:spPr>
          <a:ln>
            <a:solidFill>
              <a:srgbClr val="DDD8E3"/>
            </a:solidFill>
          </a:ln>
        </c:spPr>
        <c:txPr>
          <a:bodyPr/>
          <a:lstStyle/>
          <a:p>
            <a:pPr>
              <a:defRPr sz="900">
                <a:solidFill>
                  <a:srgbClr val="625D6E"/>
                </a:solidFill>
                <a:latin typeface="Inter"/>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1D1B24"/>
                </a:solidFill>
                <a:latin typeface="Inter"/>
              </a:rPr>
              <a:t>Parts per set, top 8 (gray: not a single model)</a:t>
            </a:r>
          </a:p>
        </c:rich>
      </c:tx>
      <c:layout/>
      <c:overlay val="0"/>
    </c:title>
    <c:autoTitleDeleted val="0"/>
    <c:plotArea>
      <c:barChart>
        <c:barDir val="bar"/>
        <c:grouping val="clustered"/>
        <c:varyColors val="0"/>
        <c:ser>
          <c:idx val="0"/>
          <c:order val="0"/>
          <c:tx>
            <c:strRef>
              <c:f>Sheet1!$B$1</c:f>
              <c:strCache>
                <c:ptCount val="1"/>
                <c:pt idx="0">
                  <c:v>s</c:v>
                </c:pt>
              </c:strCache>
            </c:strRef>
          </c:tx>
          <c:dPt>
            <c:idx val="0"/>
            <c:spPr>
              <a:solidFill>
                <a:srgbClr val="5A2D8C"/>
              </a:solidFill>
            </c:spPr>
          </c:dPt>
          <c:dPt>
            <c:idx val="1"/>
            <c:spPr>
              <a:solidFill>
                <a:srgbClr val="C9C4D1"/>
              </a:solidFill>
            </c:spPr>
          </c:dPt>
          <c:dPt>
            <c:idx val="2"/>
            <c:spPr>
              <a:solidFill>
                <a:srgbClr val="C9C4D1"/>
              </a:solidFill>
            </c:spPr>
          </c:dPt>
          <c:dPt>
            <c:idx val="3"/>
            <c:spPr>
              <a:solidFill>
                <a:srgbClr val="5A2D8C"/>
              </a:solidFill>
            </c:spPr>
          </c:dPt>
          <c:dPt>
            <c:idx val="4"/>
            <c:spPr>
              <a:solidFill>
                <a:srgbClr val="5A2D8C"/>
              </a:solidFill>
            </c:spPr>
          </c:dPt>
          <c:dPt>
            <c:idx val="5"/>
            <c:spPr>
              <a:solidFill>
                <a:srgbClr val="C9C4D1"/>
              </a:solidFill>
            </c:spPr>
          </c:dPt>
          <c:dPt>
            <c:idx val="6"/>
            <c:spPr>
              <a:solidFill>
                <a:srgbClr val="5A2D8C"/>
              </a:solidFill>
            </c:spPr>
          </c:dPt>
          <c:dPt>
            <c:idx val="7"/>
            <c:spPr>
              <a:solidFill>
                <a:srgbClr val="5A2D8C"/>
              </a:solidFill>
            </c:spPr>
          </c:dPt>
          <c:cat>
            <c:strRef>
              <c:f>Sheet1!$A$2:$A$9</c:f>
              <c:strCache>
                <c:ptCount val="8"/>
                <c:pt idx="0">
                  <c:v>Taj Mahal (2008)</c:v>
                </c:pt>
                <c:pt idx="1">
                  <c:v>Star Wars / M&amp;M Mosaic (2005)</c:v>
                </c:pt>
                <c:pt idx="2">
                  <c:v>Window Exploration Bag (2010)</c:v>
                </c:pt>
                <c:pt idx="3">
                  <c:v>Millennium Falcon UCS (2007)</c:v>
                </c:pt>
                <c:pt idx="4">
                  <c:v>Firehouse Headquarters (2016)</c:v>
                </c:pt>
                <c:pt idx="5">
                  <c:v>Personalised Mosaic (2016)</c:v>
                </c:pt>
                <c:pt idx="6">
                  <c:v>Tower Bridge (2010)</c:v>
                </c:pt>
                <c:pt idx="7">
                  <c:v>Big Ben (2016)</c:v>
                </c:pt>
              </c:strCache>
            </c:strRef>
          </c:cat>
          <c:val>
            <c:numRef>
              <c:f>Sheet1!$B$2:$B$9</c:f>
              <c:numCache>
                <c:formatCode>General</c:formatCode>
                <c:ptCount val="8"/>
                <c:pt idx="0">
                  <c:v>5922</c:v>
                </c:pt>
                <c:pt idx="1">
                  <c:v>5461</c:v>
                </c:pt>
                <c:pt idx="2">
                  <c:v>5200</c:v>
                </c:pt>
                <c:pt idx="3">
                  <c:v>5195</c:v>
                </c:pt>
                <c:pt idx="4">
                  <c:v>4640</c:v>
                </c:pt>
                <c:pt idx="5">
                  <c:v>4501</c:v>
                </c:pt>
                <c:pt idx="6">
                  <c:v>4295</c:v>
                </c:pt>
                <c:pt idx="7">
                  <c:v>4166</c:v>
                </c:pt>
              </c:numCache>
            </c:numRef>
          </c:val>
        </c:ser>
        <c:dLbls>
          <c:numFmt formatCode="#,##0" sourceLinked="0"/>
          <c:txPr>
            <a:bodyPr/>
            <a:lstStyle/>
            <a:p>
              <a:pPr>
                <a:defRPr sz="850">
                  <a:solidFill>
                    <a:srgbClr val="3D3947"/>
                  </a:solidFill>
                  <a:latin typeface="Inter"/>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DD8E3"/>
            </a:solidFill>
          </a:ln>
        </c:spPr>
        <c:txPr>
          <a:bodyPr/>
          <a:lstStyle/>
          <a:p>
            <a:pPr>
              <a:defRPr sz="900">
                <a:solidFill>
                  <a:srgbClr val="3D3947"/>
                </a:solidFill>
              </a:defRPr>
            </a:pPr>
          </a:p>
        </c:txPr>
        <c:crossAx val="-2113994440"/>
        <c:crosses val="autoZero"/>
        <c:auto val="1"/>
        <c:lblAlgn val="ctr"/>
        <c:lblOffset val="100"/>
        <c:noMultiLvlLbl val="0"/>
      </c:catAx>
      <c:valAx>
        <c:axId val="-2113994440"/>
        <c:scaling>
          <c:max val="6987.96"/>
          <c:min val="0.0"/>
        </c:scaling>
        <c:delete/>
        <c:axPos val="b"/>
        <c:majorTickMark val="out"/>
        <c:minorTickMark val="none"/>
        <c:tickLblPos val="nextTo"/>
        <c:txPr>
          <a:bodyPr/>
          <a:lstStyle/>
          <a:p>
            <a:pPr>
              <a:defRPr sz="800"/>
            </a:pPr>
          </a:p>
        </c:txPr>
        <c:crossAx val="-2068027336"/>
        <c:crosses val="autoZero"/>
      </c:valAx>
    </c:plotArea>
    <c:dispBlanksAs val="gap"/>
  </c:chart>
  <c:txPr>
    <a:bodyPr/>
    <a:lstStyle/>
    <a:p>
      <a:pPr>
        <a:defRPr sz="900">
          <a:solidFill>
            <a:srgbClr val="3D3947"/>
          </a:solidFill>
          <a:latin typeface="Inte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1D1B24"/>
                </a:solidFill>
                <a:latin typeface="Inter"/>
              </a:rPr>
              <a:t>Average parts per set, by decade</a:t>
            </a:r>
          </a:p>
        </c:rich>
      </c:tx>
      <c:layout/>
      <c:overlay val="0"/>
    </c:title>
    <c:autoTitleDeleted val="0"/>
    <c:plotArea>
      <c:barChart>
        <c:barDir val="col"/>
        <c:grouping val="clustered"/>
        <c:varyColors val="0"/>
        <c:ser>
          <c:idx val="0"/>
          <c:order val="0"/>
          <c:tx>
            <c:strRef>
              <c:f>Sheet1!$B$1</c:f>
              <c:strCache>
                <c:ptCount val="1"/>
                <c:pt idx="0">
                  <c:v>s</c:v>
                </c:pt>
              </c:strCache>
            </c:strRef>
          </c:tx>
          <c:dPt>
            <c:idx val="0"/>
            <c:spPr>
              <a:solidFill>
                <a:srgbClr val="5A2D8C"/>
              </a:solidFill>
            </c:spPr>
          </c:dPt>
          <c:dPt>
            <c:idx val="1"/>
            <c:spPr>
              <a:solidFill>
                <a:srgbClr val="5A2D8C"/>
              </a:solidFill>
            </c:spPr>
          </c:dPt>
          <c:dPt>
            <c:idx val="2"/>
            <c:spPr>
              <a:solidFill>
                <a:srgbClr val="5A2D8C"/>
              </a:solidFill>
            </c:spPr>
          </c:dPt>
          <c:dPt>
            <c:idx val="3"/>
            <c:spPr>
              <a:solidFill>
                <a:srgbClr val="5A2D8C"/>
              </a:solidFill>
            </c:spPr>
          </c:dPt>
          <c:dPt>
            <c:idx val="4"/>
            <c:spPr>
              <a:solidFill>
                <a:srgbClr val="5A2D8C"/>
              </a:solidFill>
            </c:spPr>
          </c:dPt>
          <c:dPt>
            <c:idx val="5"/>
            <c:spPr>
              <a:solidFill>
                <a:srgbClr val="5A2D8C"/>
              </a:solidFill>
            </c:spPr>
          </c:dPt>
          <c:dPt>
            <c:idx val="6"/>
            <c:spPr>
              <a:solidFill>
                <a:srgbClr val="5A2D8C"/>
              </a:solidFill>
            </c:spPr>
          </c:dPt>
          <c:cat>
            <c:strRef>
              <c:f>Sheet1!$A$2:$A$8</c:f>
              <c:strCache>
                <c:ptCount val="7"/>
                <c:pt idx="0">
                  <c:v>1950s</c:v>
                </c:pt>
                <c:pt idx="1">
                  <c:v>1960s</c:v>
                </c:pt>
                <c:pt idx="2">
                  <c:v>1970s</c:v>
                </c:pt>
                <c:pt idx="3">
                  <c:v>1980s</c:v>
                </c:pt>
                <c:pt idx="4">
                  <c:v>1990s</c:v>
                </c:pt>
                <c:pt idx="5">
                  <c:v>2000s</c:v>
                </c:pt>
                <c:pt idx="6">
                  <c:v>2010s</c:v>
                </c:pt>
              </c:strCache>
            </c:strRef>
          </c:cat>
          <c:val>
            <c:numRef>
              <c:f>Sheet1!$B$2:$B$8</c:f>
              <c:numCache>
                <c:formatCode>General</c:formatCode>
                <c:ptCount val="7"/>
                <c:pt idx="0">
                  <c:v>33.3</c:v>
                </c:pt>
                <c:pt idx="1">
                  <c:v>69.0</c:v>
                </c:pt>
                <c:pt idx="2">
                  <c:v>113.4</c:v>
                </c:pt>
                <c:pt idx="3">
                  <c:v>101.6</c:v>
                </c:pt>
                <c:pt idx="4">
                  <c:v>144.3</c:v>
                </c:pt>
                <c:pt idx="5">
                  <c:v>169.5</c:v>
                </c:pt>
                <c:pt idx="6">
                  <c:v>193.6</c:v>
                </c:pt>
              </c:numCache>
            </c:numRef>
          </c:val>
        </c:ser>
        <c:dLbls>
          <c:numFmt formatCode="0" sourceLinked="0"/>
          <c:txPr>
            <a:bodyPr/>
            <a:lstStyle/>
            <a:p>
              <a:pPr>
                <a:defRPr sz="850">
                  <a:solidFill>
                    <a:srgbClr val="3D3947"/>
                  </a:solidFill>
                  <a:latin typeface="Inter"/>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DD8E3"/>
            </a:solidFill>
          </a:ln>
        </c:spPr>
        <c:txPr>
          <a:bodyPr/>
          <a:lstStyle/>
          <a:p>
            <a:pPr>
              <a:defRPr sz="900">
                <a:solidFill>
                  <a:srgbClr val="3D3947"/>
                </a:solidFill>
              </a:defRPr>
            </a:pPr>
          </a:p>
        </c:txPr>
        <c:crossAx val="-2113994440"/>
        <c:crosses val="autoZero"/>
        <c:auto val="1"/>
        <c:lblAlgn val="ctr"/>
        <c:lblOffset val="100"/>
        <c:noMultiLvlLbl val="0"/>
      </c:catAx>
      <c:valAx>
        <c:axId val="-2113994440"/>
        <c:scaling>
          <c:max val="228.44799999999998"/>
          <c:min val="0.0"/>
        </c:scaling>
        <c:delete/>
        <c:axPos val="l"/>
        <c:majorTickMark val="out"/>
        <c:minorTickMark val="none"/>
        <c:tickLblPos val="nextTo"/>
        <c:txPr>
          <a:bodyPr/>
          <a:lstStyle/>
          <a:p>
            <a:pPr>
              <a:defRPr sz="800"/>
            </a:pPr>
          </a:p>
        </c:txPr>
        <c:crossAx val="-2068027336"/>
        <c:crosses val="autoZero"/>
      </c:valAx>
    </c:plotArea>
    <c:dispBlanksAs val="gap"/>
  </c:chart>
  <c:txPr>
    <a:bodyPr/>
    <a:lstStyle/>
    <a:p>
      <a:pPr>
        <a:defRPr sz="900">
          <a:solidFill>
            <a:srgbClr val="3D3947"/>
          </a:solidFill>
          <a:latin typeface="Inte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1D1B24"/>
                </a:solidFill>
                <a:latin typeface="Inter"/>
              </a:rPr>
              <a:t>Sets by size category</a:t>
            </a:r>
          </a:p>
        </c:rich>
      </c:tx>
      <c:layout/>
      <c:overlay val="0"/>
    </c:title>
    <c:autoTitleDeleted val="0"/>
    <c:plotArea>
      <c:barChart>
        <c:barDir val="col"/>
        <c:grouping val="clustered"/>
        <c:varyColors val="0"/>
        <c:ser>
          <c:idx val="0"/>
          <c:order val="0"/>
          <c:tx>
            <c:strRef>
              <c:f>Sheet1!$B$1</c:f>
              <c:strCache>
                <c:ptCount val="1"/>
                <c:pt idx="0">
                  <c:v>s</c:v>
                </c:pt>
              </c:strCache>
            </c:strRef>
          </c:tx>
          <c:dPt>
            <c:idx val="0"/>
            <c:spPr>
              <a:solidFill>
                <a:srgbClr val="C9C4D1"/>
              </a:solidFill>
            </c:spPr>
          </c:dPt>
          <c:dPt>
            <c:idx val="1"/>
            <c:spPr>
              <a:solidFill>
                <a:srgbClr val="5A2D8C"/>
              </a:solidFill>
            </c:spPr>
          </c:dPt>
          <c:dPt>
            <c:idx val="2"/>
            <c:spPr>
              <a:solidFill>
                <a:srgbClr val="5A2D8C"/>
              </a:solidFill>
            </c:spPr>
          </c:dPt>
          <c:dPt>
            <c:idx val="3"/>
            <c:spPr>
              <a:solidFill>
                <a:srgbClr val="5A2D8C"/>
              </a:solidFill>
            </c:spPr>
          </c:dPt>
          <c:dPt>
            <c:idx val="4"/>
            <c:spPr>
              <a:solidFill>
                <a:srgbClr val="5A2D8C"/>
              </a:solidFill>
            </c:spPr>
          </c:dPt>
          <c:cat>
            <c:strRef>
              <c:f>Sheet1!$A$2:$A$6</c:f>
              <c:strCache>
                <c:ptCount val="5"/>
                <c:pt idx="0">
                  <c:v>0 parts</c:v>
                </c:pt>
                <c:pt idx="1">
                  <c:v>1 to 99</c:v>
                </c:pt>
                <c:pt idx="2">
                  <c:v>100 to 499</c:v>
                </c:pt>
                <c:pt idx="3">
                  <c:v>500 to 999</c:v>
                </c:pt>
                <c:pt idx="4">
                  <c:v>1,000+</c:v>
                </c:pt>
              </c:strCache>
            </c:strRef>
          </c:cat>
          <c:val>
            <c:numRef>
              <c:f>Sheet1!$B$2:$B$6</c:f>
              <c:numCache>
                <c:formatCode>General</c:formatCode>
                <c:ptCount val="5"/>
                <c:pt idx="0">
                  <c:v>473</c:v>
                </c:pt>
                <c:pt idx="1">
                  <c:v>7241</c:v>
                </c:pt>
                <c:pt idx="2">
                  <c:v>2948</c:v>
                </c:pt>
                <c:pt idx="3">
                  <c:v>723</c:v>
                </c:pt>
                <c:pt idx="4">
                  <c:v>288</c:v>
                </c:pt>
              </c:numCache>
            </c:numRef>
          </c:val>
        </c:ser>
        <c:dLbls>
          <c:numFmt formatCode="#,##0" sourceLinked="0"/>
          <c:txPr>
            <a:bodyPr/>
            <a:lstStyle/>
            <a:p>
              <a:pPr>
                <a:defRPr sz="850">
                  <a:solidFill>
                    <a:srgbClr val="3D3947"/>
                  </a:solidFill>
                  <a:latin typeface="Inter"/>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DD8E3"/>
            </a:solidFill>
          </a:ln>
        </c:spPr>
        <c:txPr>
          <a:bodyPr/>
          <a:lstStyle/>
          <a:p>
            <a:pPr>
              <a:defRPr sz="900">
                <a:solidFill>
                  <a:srgbClr val="3D3947"/>
                </a:solidFill>
              </a:defRPr>
            </a:pPr>
          </a:p>
        </c:txPr>
        <c:crossAx val="-2113994440"/>
        <c:crosses val="autoZero"/>
        <c:auto val="1"/>
        <c:lblAlgn val="ctr"/>
        <c:lblOffset val="100"/>
        <c:noMultiLvlLbl val="0"/>
      </c:catAx>
      <c:valAx>
        <c:axId val="-2113994440"/>
        <c:scaling>
          <c:max val="8544.38"/>
          <c:min val="0.0"/>
        </c:scaling>
        <c:delete/>
        <c:axPos val="l"/>
        <c:majorTickMark val="out"/>
        <c:minorTickMark val="none"/>
        <c:tickLblPos val="nextTo"/>
        <c:txPr>
          <a:bodyPr/>
          <a:lstStyle/>
          <a:p>
            <a:pPr>
              <a:defRPr sz="800"/>
            </a:pPr>
          </a:p>
        </c:txPr>
        <c:crossAx val="-2068027336"/>
        <c:crosses val="autoZero"/>
      </c:valAx>
    </c:plotArea>
    <c:dispBlanksAs val="gap"/>
  </c:chart>
  <c:txPr>
    <a:bodyPr/>
    <a:lstStyle/>
    <a:p>
      <a:pPr>
        <a:defRPr sz="900">
          <a:solidFill>
            <a:srgbClr val="3D3947"/>
          </a:solidFill>
          <a:latin typeface="Inte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1D1B24"/>
                </a:solidFill>
                <a:latin typeface="Inter"/>
              </a:rPr>
              <a:t>Sets per theme (gray: spare bricks)</a:t>
            </a:r>
          </a:p>
        </c:rich>
      </c:tx>
      <c:layout/>
      <c:overlay val="0"/>
    </c:title>
    <c:autoTitleDeleted val="0"/>
    <c:plotArea>
      <c:barChart>
        <c:barDir val="bar"/>
        <c:grouping val="clustered"/>
        <c:varyColors val="0"/>
        <c:ser>
          <c:idx val="0"/>
          <c:order val="0"/>
          <c:tx>
            <c:strRef>
              <c:f>Sheet1!$B$1</c:f>
              <c:strCache>
                <c:ptCount val="1"/>
                <c:pt idx="0">
                  <c:v>s</c:v>
                </c:pt>
              </c:strCache>
            </c:strRef>
          </c:tx>
          <c:dPt>
            <c:idx val="0"/>
            <c:spPr>
              <a:solidFill>
                <a:srgbClr val="C9C4D1"/>
              </a:solidFill>
            </c:spPr>
          </c:dPt>
          <c:dPt>
            <c:idx val="1"/>
            <c:spPr>
              <a:solidFill>
                <a:srgbClr val="5A2D8C"/>
              </a:solidFill>
            </c:spPr>
          </c:dPt>
          <c:dPt>
            <c:idx val="2"/>
            <c:spPr>
              <a:solidFill>
                <a:srgbClr val="5A2D8C"/>
              </a:solidFill>
            </c:spPr>
          </c:dPt>
          <c:dPt>
            <c:idx val="3"/>
            <c:spPr>
              <a:solidFill>
                <a:srgbClr val="5A2D8C"/>
              </a:solidFill>
            </c:spPr>
          </c:dPt>
          <c:dPt>
            <c:idx val="4"/>
            <c:spPr>
              <a:solidFill>
                <a:srgbClr val="5A2D8C"/>
              </a:solidFill>
            </c:spPr>
          </c:dPt>
          <c:dPt>
            <c:idx val="5"/>
            <c:spPr>
              <a:solidFill>
                <a:srgbClr val="5A2D8C"/>
              </a:solidFill>
            </c:spPr>
          </c:dPt>
          <c:cat>
            <c:strRef>
              <c:f>Sheet1!$A$2:$A$7</c:f>
              <c:strCache>
                <c:ptCount val="6"/>
                <c:pt idx="0">
                  <c:v>Supplemental</c:v>
                </c:pt>
                <c:pt idx="1">
                  <c:v>Technic</c:v>
                </c:pt>
                <c:pt idx="2">
                  <c:v>City</c:v>
                </c:pt>
                <c:pt idx="3">
                  <c:v>Friends</c:v>
                </c:pt>
                <c:pt idx="4">
                  <c:v>Basic Set</c:v>
                </c:pt>
                <c:pt idx="5">
                  <c:v>Creator</c:v>
                </c:pt>
              </c:strCache>
            </c:strRef>
          </c:cat>
          <c:val>
            <c:numRef>
              <c:f>Sheet1!$B$2:$B$7</c:f>
              <c:numCache>
                <c:formatCode>General</c:formatCode>
                <c:ptCount val="6"/>
                <c:pt idx="0">
                  <c:v>496</c:v>
                </c:pt>
                <c:pt idx="1">
                  <c:v>435</c:v>
                </c:pt>
                <c:pt idx="2">
                  <c:v>287</c:v>
                </c:pt>
                <c:pt idx="3">
                  <c:v>269</c:v>
                </c:pt>
                <c:pt idx="4">
                  <c:v>257</c:v>
                </c:pt>
                <c:pt idx="5">
                  <c:v>249</c:v>
                </c:pt>
              </c:numCache>
            </c:numRef>
          </c:val>
        </c:ser>
        <c:dLbls>
          <c:numFmt formatCode="#,##0" sourceLinked="0"/>
          <c:txPr>
            <a:bodyPr/>
            <a:lstStyle/>
            <a:p>
              <a:pPr>
                <a:defRPr sz="850">
                  <a:solidFill>
                    <a:srgbClr val="3D3947"/>
                  </a:solidFill>
                  <a:latin typeface="Inter"/>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DDD8E3"/>
            </a:solidFill>
          </a:ln>
        </c:spPr>
        <c:txPr>
          <a:bodyPr/>
          <a:lstStyle/>
          <a:p>
            <a:pPr>
              <a:defRPr sz="900">
                <a:solidFill>
                  <a:srgbClr val="3D3947"/>
                </a:solidFill>
              </a:defRPr>
            </a:pPr>
          </a:p>
        </c:txPr>
        <c:crossAx val="-2113994440"/>
        <c:crosses val="autoZero"/>
        <c:auto val="1"/>
        <c:lblAlgn val="ctr"/>
        <c:lblOffset val="100"/>
        <c:noMultiLvlLbl val="0"/>
      </c:catAx>
      <c:valAx>
        <c:axId val="-2113994440"/>
        <c:scaling>
          <c:max val="585.28"/>
          <c:min val="0.0"/>
        </c:scaling>
        <c:delete/>
        <c:axPos val="b"/>
        <c:majorTickMark val="out"/>
        <c:minorTickMark val="none"/>
        <c:tickLblPos val="nextTo"/>
        <c:txPr>
          <a:bodyPr/>
          <a:lstStyle/>
          <a:p>
            <a:pPr>
              <a:defRPr sz="800"/>
            </a:pPr>
          </a:p>
        </c:txPr>
        <c:crossAx val="-2068027336"/>
        <c:crosses val="autoZero"/>
      </c:valAx>
    </c:plotArea>
    <c:dispBlanksAs val="gap"/>
  </c:chart>
  <c:txPr>
    <a:bodyPr/>
    <a:lstStyle/>
    <a:p>
      <a:pPr>
        <a:defRPr sz="900">
          <a:solidFill>
            <a:srgbClr val="3D3947"/>
          </a:solidFill>
          <a:latin typeface="Inte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50" b="1">
                <a:solidFill>
                  <a:srgbClr val="1D1B24"/>
                </a:solidFill>
                <a:latin typeface="Inter"/>
              </a:rPr>
              <a:t>Pieces per color (thousands)</a:t>
            </a:r>
          </a:p>
        </c:rich>
      </c:tx>
      <c:layout/>
      <c:overlay val="0"/>
    </c:title>
    <c:autoTitleDeleted val="0"/>
    <c:plotArea>
      <c:barChart>
        <c:barDir val="bar"/>
        <c:grouping val="clustered"/>
        <c:varyColors val="0"/>
        <c:ser>
          <c:idx val="0"/>
          <c:order val="0"/>
          <c:tx>
            <c:strRef>
              <c:f>Sheet1!$B$1</c:f>
              <c:strCache>
                <c:ptCount val="1"/>
                <c:pt idx="0">
                  <c:v>s</c:v>
                </c:pt>
              </c:strCache>
            </c:strRef>
          </c:tx>
          <c:dPt>
            <c:idx val="0"/>
            <c:spPr>
              <a:solidFill>
                <a:srgbClr val="05131D"/>
              </a:solidFill>
            </c:spPr>
          </c:dPt>
          <c:dPt>
            <c:idx val="1"/>
            <c:spPr>
              <a:solidFill>
                <a:srgbClr val="FFFFFF"/>
              </a:solidFill>
              <a:ln w="9525">
                <a:solidFill>
                  <a:srgbClr val="9C96A8"/>
                </a:solidFill>
              </a:ln>
            </c:spPr>
          </c:dPt>
          <c:dPt>
            <c:idx val="2"/>
            <c:spPr>
              <a:solidFill>
                <a:srgbClr val="A0A5A9"/>
              </a:solidFill>
            </c:spPr>
          </c:dPt>
          <c:dPt>
            <c:idx val="3"/>
            <c:spPr>
              <a:solidFill>
                <a:srgbClr val="C91A09"/>
              </a:solidFill>
            </c:spPr>
          </c:dPt>
          <c:dPt>
            <c:idx val="4"/>
            <c:spPr>
              <a:solidFill>
                <a:srgbClr val="6C6E68"/>
              </a:solidFill>
            </c:spPr>
          </c:dPt>
          <c:dPt>
            <c:idx val="5"/>
            <c:spPr>
              <a:solidFill>
                <a:srgbClr val="F2CD37"/>
              </a:solidFill>
            </c:spPr>
          </c:dPt>
          <c:dPt>
            <c:idx val="6"/>
            <c:spPr>
              <a:solidFill>
                <a:srgbClr val="0055BF"/>
              </a:solidFill>
            </c:spPr>
          </c:dPt>
          <c:dPt>
            <c:idx val="7"/>
            <c:spPr>
              <a:solidFill>
                <a:srgbClr val="9BA19D"/>
              </a:solidFill>
            </c:spPr>
          </c:dPt>
          <c:cat>
            <c:strRef>
              <c:f>Sheet1!$A$2:$A$9</c:f>
              <c:strCache>
                <c:ptCount val="8"/>
                <c:pt idx="0">
                  <c:v>Black</c:v>
                </c:pt>
                <c:pt idx="1">
                  <c:v>White</c:v>
                </c:pt>
                <c:pt idx="2">
                  <c:v>Light Bluish Gray</c:v>
                </c:pt>
                <c:pt idx="3">
                  <c:v>Red</c:v>
                </c:pt>
                <c:pt idx="4">
                  <c:v>Dark Bluish Gray</c:v>
                </c:pt>
                <c:pt idx="5">
                  <c:v>Yellow</c:v>
                </c:pt>
                <c:pt idx="6">
                  <c:v>Blue</c:v>
                </c:pt>
                <c:pt idx="7">
                  <c:v>Light Gray</c:v>
                </c:pt>
              </c:strCache>
            </c:strRef>
          </c:cat>
          <c:val>
            <c:numRef>
              <c:f>Sheet1!$B$2:$B$9</c:f>
              <c:numCache>
                <c:formatCode>General</c:formatCode>
                <c:ptCount val="8"/>
                <c:pt idx="0">
                  <c:v>391.0</c:v>
                </c:pt>
                <c:pt idx="1">
                  <c:v>218.9</c:v>
                </c:pt>
                <c:pt idx="2">
                  <c:v>197.3</c:v>
                </c:pt>
                <c:pt idx="3">
                  <c:v>168.0</c:v>
                </c:pt>
                <c:pt idx="4">
                  <c:v>146.6</c:v>
                </c:pt>
                <c:pt idx="5">
                  <c:v>119.0</c:v>
                </c:pt>
                <c:pt idx="6">
                  <c:v>116.1</c:v>
                </c:pt>
                <c:pt idx="7">
                  <c:v>90.7</c:v>
                </c:pt>
              </c:numCache>
            </c:numRef>
          </c:val>
        </c:ser>
        <c:dLbls>
          <c:numFmt formatCode="0" sourceLinked="0"/>
          <c:txPr>
            <a:bodyPr/>
            <a:lstStyle/>
            <a:p>
              <a:pPr>
                <a:defRPr sz="850">
                  <a:solidFill>
                    <a:srgbClr val="3D3947"/>
                  </a:solidFill>
                  <a:latin typeface="Inter"/>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out"/>
        <c:minorTickMark val="none"/>
        <c:tickLblPos val="nextTo"/>
        <c:spPr>
          <a:ln>
            <a:solidFill>
              <a:srgbClr val="DDD8E3"/>
            </a:solidFill>
          </a:ln>
        </c:spPr>
        <c:txPr>
          <a:bodyPr/>
          <a:lstStyle/>
          <a:p>
            <a:pPr>
              <a:defRPr sz="850">
                <a:solidFill>
                  <a:srgbClr val="3D3947"/>
                </a:solidFill>
              </a:defRPr>
            </a:pPr>
          </a:p>
        </c:txPr>
        <c:crossAx val="-2113994440"/>
        <c:crosses val="autoZero"/>
        <c:auto val="1"/>
        <c:lblAlgn val="ctr"/>
        <c:lblOffset val="100"/>
        <c:noMultiLvlLbl val="0"/>
      </c:catAx>
      <c:valAx>
        <c:axId val="-2113994440"/>
        <c:scaling>
          <c:max val="461.38"/>
          <c:min val="0.0"/>
        </c:scaling>
        <c:delete/>
        <c:axPos val="b"/>
        <c:majorTickMark val="out"/>
        <c:minorTickMark val="none"/>
        <c:tickLblPos val="nextTo"/>
        <c:txPr>
          <a:bodyPr/>
          <a:lstStyle/>
          <a:p>
            <a:pPr>
              <a:defRPr sz="800"/>
            </a:pPr>
          </a:p>
        </c:txPr>
        <c:crossAx val="-2068027336"/>
        <c:crosses val="autoZero"/>
      </c:valAx>
    </c:plotArea>
    <c:dispBlanksAs val="gap"/>
  </c:chart>
  <c:txPr>
    <a:bodyPr/>
    <a:lstStyle/>
    <a:p>
      <a:pPr>
        <a:defRPr sz="850">
          <a:solidFill>
            <a:srgbClr val="3D3947"/>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Welcome to Week 4. Last week we explored one table with pandas. Real data usually lives in a database, spread across many connected tables, and SQL is how we ask it questions. Today's data: every LEGO set, theme, part and color. Same format as last week: predict, write the query, post in the Zoom chat.</a:t>
            </a:r>
          </a:p>
        </p:txBody>
      </p:sp>
      <p:sp>
        <p:nvSpPr>
          <p:cNvPr id="57" name="Google Shape;57;p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Quick reminder: log in to Zoom with your NYU SSO so attendance counts. Slides and the Colab notebook are on GitHub; the take-home is submitted on Brightspace.</a:t>
            </a:r>
          </a:p>
        </p:txBody>
      </p:sp>
      <p:sp>
        <p:nvSpPr>
          <p:cNvPr id="69" name="Google Shape;69;p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r>
              <a:t>SQL is the most requested skill in data job postings after Python. Almost every company keeps its data in a database, and SQL is the shared language for reading it: SQLite, PostgreSQL, BigQuery, Snowflake all speak it.</a:t>
            </a:r>
          </a:p>
        </p:txBody>
      </p:sp>
      <p:sp>
        <p:nvSpPr>
          <p:cNvPr id="92" name="Google Shape;92;p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Our dataset: the LEGO Database on Kaggle, collected by Rebrickable. Eight tables: sets, themes, parts, colors and the inventories that link them. The chart is sets released per year: from a handful in the 1950s to a peak of 713 in 2014. The orange bar, 2017, looks like a crash, but the snapshot was taken during 2017. Keep that in mind: it comes back in Data Story 2.</a:t>
            </a:r>
          </a:p>
        </p:txBody>
      </p:sp>
      <p:sp>
        <p:nvSpPr>
          <p:cNvPr id="101" name="Google Shape;101;p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r>
              <a:t>Same routine as last week. Predict: post a guess in the chat before running. Your turn: write the query in the empty cell and post your answer. Hints and answers are hidden in collapsible tags. Insights stay hidden until you have posted your own. Every query goes inside run(""" ... """).</a:t>
            </a:r>
          </a:p>
        </p:txBody>
      </p:sp>
      <p:sp>
        <p:nvSpPr>
          <p:cNvPr id="113" name="Google Shape;113;p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r>
              <a:t>Take-home: Exercises 1 to 6 in the notebook, due on Brightspace within one week. Exercise 6 is your own LEGO question with at least one JOIN and one GROUP BY. Please fill out the feedback form. Next week: mid-program project presentations.</a:t>
            </a:r>
          </a:p>
        </p:txBody>
      </p:sp>
      <p:sp>
        <p:nvSpPr>
          <p:cNvPr id="325" name="Google Shape;325;p1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Five short parts. Each starts with one slide, then we switch to the notebook and write the queries. Four Data Stories run through it. Exercises at the end of each section are the take-home.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1. A relational database splits data into tables that point to each other. Each table has a primary key, one unique value per row, like set_num. A foreign key, like theme_id, points to the primary key of another table. The arrows on the map go from the foreign key to the key it points to. Why split? The theme name Sculptures is stored once, and 23 sets just store its id. SQL is declarative: you say what you want, the database works out how. Switch to the notebook: Section 1, load the tables.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2. Every query starts with SELECT, which columns, and FROM, which table. WHERE then keeps only the rows that pass a test. On the left: purple columns are selected, orange rows pass the filter. Only 4 sets have more than 5,000 parts. The toolkit chips are the operators we use today. LIKE uses % for any characters. NULL means unknown, so nothing equals it: always IS NULL. Ask: how many sets have more than 5,000 parts? Then notebook Section 2, Your turn 1 to 3.</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Data Story 1. ORDER BY sorts, DESC puts the largest first, and LIMIT keeps the top rows: that is every top N question. Before showing the chart, ask for guesses in the chat. The Taj Mahal wins with 5,922 parts. But read the rows: the gray bars are a promotional mosaic, a classroom bag of bricks and a custom mosaic. A sorted list is only the start. Notebook: Data Story 1 and Your turn 4, the 1980s.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3. Aggregates like COUNT and AVG turn many rows into one number. GROUP BY does it once per group, the same idea as groupby in pandas. Rule: every column in SELECT is either grouped or aggregated. Data Story 2: ask for a prediction first. Sets per decade went from 132 to 4,425, and the average set grew from 33 to 194 parts. But 2017 shows only 296 sets: the data was collected during 2017. Notebook: Data Story 2, Your turns 5 and 6.</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more tools. WHERE filters rows before they are grouped; HAVING filters the groups after they are counted, so any condition on COUNT or AVG goes in HAVING. Only six years have more than 500 sets, all from 2011 to 2016. CASE WHEN works like if, elif, else: it turns a number into a label. Most sets are small: 7,241 have fewer than 100 parts. Notebook: HAVING and CASE WHEN, then Exercises 3 and 4 for homework. Good moment for a short break.</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4. sets only stores a theme_id like 276. The name lives in themes. JOIN matches rows where s.theme_id equals t.id: follow the colors. Two sets can match the same theme. The aliases s and t say which table each column comes from, since both tables have a name column. A plain JOIN drops rows with no match, like the Fire theme. LEFT JOIN keeps every row of the left table and fills the gaps with NULL: that is how we find the 39 themes with no sets. Notebook: Section 4, INNER JOIN, then Data Story 3.</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Data Story 3: JOIN plus GROUP BY ranks the themes. Ask for guesses first. The winner, Supplemental, is packs of spare bricks, not a product line; Technic, City and Friends are the largest real lines. A ranking is only as good as its categories. Data Story 4: joining inventory_parts to colors. Black wins by far. The chart uses the rgb column, so every bar is its real LEGO color. In the notebook we then follow four tables to count colors per decade: 15 in the 1950s, 117 in the 2000s. Your turns 7 and 8.</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Section 5. We write SELECT first, but the database runs FROM first and SELECT fifth. That one fact explains the most common SQL error: a COUNT in WHERE. WITH, a common table expression, lets you name a step at the top and use it like a table, so a long query reads top to bottom like a script. Ask: what is wrong with the query on the right? Notebook: Section 5, Your turns 9 and 10.</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Wrap-up. Ask: which insight surprised you most? One sentence in the chat. Each insight is short and backed by a number from a query we wrote. Limitation: this snapshot ends in 2017 and counts sets, not sales, so it tells us what LEGO released, not what people bought.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8" name="Shape 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 name="Google Shape;41;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D3E4"/>
            </a:gs>
            <a:gs pos="100000">
              <a:srgbClr val="F7EAD2"/>
            </a:gs>
          </a:gsLst>
          <a:path path="circle">
            <a:fillToRect b="0%" l="0%" r="100%" t="100%"/>
          </a:path>
          <a:tileRect b="-100%" l="-100%" r="0%" t="0%"/>
        </a:gra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D3E4"/>
            </a:gs>
            <a:gs pos="100000">
              <a:srgbClr val="F7EAD2"/>
            </a:gs>
          </a:gsLst>
          <a:path path="circle">
            <a:fillToRect b="0%" l="0%" r="100%" t="100%"/>
          </a:path>
          <a:tileRect b="-100%" l="-100%" r="0%" t="0%"/>
        </a:gradFill>
      </p:bgPr>
    </p:bg>
    <p:spTree>
      <p:nvGrpSpPr>
        <p:cNvPr id="7" name="Shape 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D9D3E4"/>
            </a:gs>
            <a:gs pos="100000">
              <a:srgbClr val="F7EAD2"/>
            </a:gs>
          </a:gsLst>
          <a:path path="circle">
            <a:fillToRect b="0%" l="0%" r="100%" t="100%"/>
          </a:path>
          <a:tileRect b="-100%" l="-100%" r="0%" t="0%"/>
        </a:gra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pc="0" sz="2800" u="none" cap="none" strike="noStrike">
                <a:solidFill>
                  <a:schemeClr val="dk1"/>
                </a:solidFill>
                <a:latin typeface="Arial"/>
                <a:ea typeface="Arial"/>
                <a:cs typeface="Arial"/>
                <a:sym typeface="Arial"/>
              </a:defRPr>
            </a:lvl9pPr>
          </a:lstStyle>
          <a:p/>
        </p:txBody>
      </p:sp>
      <p:sp>
        <p:nvSpPr>
          <p:cNvPr id="11" name="Google Shape;11;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pc="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pc="0" sz="1400" u="none" cap="none" strike="noStrike">
                <a:solidFill>
                  <a:schemeClr val="dk2"/>
                </a:solidFill>
                <a:latin typeface="Arial"/>
                <a:ea typeface="Arial"/>
                <a:cs typeface="Arial"/>
                <a:sym typeface="Arial"/>
              </a:defRPr>
            </a:lvl9pPr>
          </a:lstStyle>
          <a:p/>
        </p:txBody>
      </p:sp>
      <p:sp>
        <p:nvSpPr>
          <p:cNvPr id="12" name="Google Shape;1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nyu.zoom.us" TargetMode="External"/><Relationship Id="rId4" Type="http://schemas.openxmlformats.org/officeDocument/2006/relationships/hyperlink" Target="https://brightspace.nyu.edu/d2l/home" TargetMode="External"/><Relationship Id="rId5" Type="http://schemas.openxmlformats.org/officeDocument/2006/relationships/hyperlink" Target="https://github.com/angelin-jacob/NYU-Tandon-Career-Hub-Fall-2026-Data-Science-Bootcamp" TargetMode="External"/><Relationship Id="rId6" Type="http://schemas.openxmlformats.org/officeDocument/2006/relationships/hyperlink" Target="mailto:datasciencebootcamp@nyu.edu" TargetMode="External"/><Relationship Id="rId7" Type="http://schemas.openxmlformats.org/officeDocument/2006/relationships/hyperlink" Target="https://nyu.joinhandshake.com/stu/appointme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kaggle.com/datasets/rtatman/lego-database" TargetMode="External"/><Relationship Id="rId6" Type="http://schemas.openxmlformats.org/officeDocument/2006/relationships/hyperlink" Target="https://rebrickable.com/downloads/" TargetMode="External"/><Relationship Id="rId7"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58" name="Shape 58"/>
        <p:cNvGrpSpPr/>
        <p:nvPr/>
      </p:nvGrpSpPr>
      <p:grpSpPr>
        <a:xfrm>
          <a:off x="0" y="0"/>
          <a:ext cx="0" cy="0"/>
          <a:chOff x="0" y="0"/>
          <a:chExt cx="0" cy="0"/>
        </a:xfrm>
      </p:grpSpPr>
      <p:sp>
        <p:nvSpPr>
          <p:cNvPr id="59" name="Google Shape;59;p1"/>
          <p:cNvSpPr/>
          <p:nvPr/>
        </p:nvSpPr>
        <p:spPr>
          <a:xfrm>
            <a:off x="609594" y="1680953"/>
            <a:ext cx="2920800" cy="291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A93A"/>
              </a:buClr>
              <a:buSzPts val="1100"/>
              <a:buFont typeface="Inter"/>
              <a:buNone/>
            </a:pPr>
            <a:r>
              <a:rPr b="1" i="0" lang="en" spc="0" sz="1100" u="none" cap="none" strike="noStrike">
                <a:solidFill>
                  <a:srgbClr val="5A2D8C"/>
                </a:solidFill>
                <a:latin typeface="Inter"/>
                <a:ea typeface="Inter"/>
                <a:cs typeface="Inter"/>
                <a:sym typeface="Inter"/>
              </a:rPr>
              <a:t>NYU TANDON CAREER HUB · FALL 2026</a:t>
            </a:r>
            <a:endParaRPr b="0" i="0" spc="0" sz="1100" u="none" cap="none" strike="noStrike">
              <a:solidFill>
                <a:srgbClr val="5A2D8C"/>
              </a:solidFill>
              <a:latin typeface="Calibri"/>
              <a:ea typeface="Calibri"/>
              <a:cs typeface="Calibri"/>
              <a:sym typeface="Calibri"/>
            </a:endParaRPr>
          </a:p>
        </p:txBody>
      </p:sp>
      <p:sp>
        <p:nvSpPr>
          <p:cNvPr id="60" name="Google Shape;60;p1"/>
          <p:cNvSpPr/>
          <p:nvPr/>
        </p:nvSpPr>
        <p:spPr>
          <a:xfrm>
            <a:off x="609591" y="2039364"/>
            <a:ext cx="7358062" cy="65910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6F4EF"/>
              </a:buClr>
              <a:buSzPts val="4800"/>
              <a:buFont typeface="Space Grotesk"/>
              <a:buNone/>
            </a:pPr>
            <a:r>
              <a:rPr b="1" i="0" lang="en" spc="0" sz="4800" u="none" cap="none" strike="noStrike">
                <a:solidFill>
                  <a:srgbClr val="351C75"/>
                </a:solidFill>
                <a:latin typeface="Space Grotesk"/>
                <a:ea typeface="Space Grotesk"/>
                <a:cs typeface="Space Grotesk"/>
                <a:sym typeface="Space Grotesk"/>
              </a:rPr>
              <a:t>Data Science Bootcamp</a:t>
            </a:r>
            <a:endParaRPr b="0" i="0" spc="0" sz="4800" u="none" cap="none" strike="noStrike">
              <a:solidFill>
                <a:srgbClr val="351C75"/>
              </a:solidFill>
              <a:latin typeface="Calibri"/>
              <a:ea typeface="Calibri"/>
              <a:cs typeface="Calibri"/>
              <a:sym typeface="Calibri"/>
            </a:endParaRPr>
          </a:p>
        </p:txBody>
      </p:sp>
      <p:sp>
        <p:nvSpPr>
          <p:cNvPr id="61" name="Google Shape;61;p1"/>
          <p:cNvSpPr/>
          <p:nvPr/>
        </p:nvSpPr>
        <p:spPr>
          <a:xfrm>
            <a:off x="609591" y="2831781"/>
            <a:ext cx="7863840" cy="29145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D3E4"/>
              </a:buClr>
              <a:buSzPts val="1700"/>
              <a:buFont typeface="Inter"/>
              <a:buNone/>
            </a:pPr>
            <a:r>
              <a:rPr b="0" i="0" lang="en" spc="0" sz="1700" u="none" cap="none" strike="noStrike">
                <a:solidFill>
                  <a:srgbClr val="20124D"/>
                </a:solidFill>
                <a:latin typeface="Inter"/>
                <a:ea typeface="Inter"/>
                <a:cs typeface="Inter"/>
                <a:sym typeface="Inter"/>
              </a:rPr>
              <a:t>Week 4 · SQL Fundamentals</a:t>
            </a:r>
            <a:endParaRPr b="0" i="0" spc="0" sz="1700" u="none" cap="none" strike="noStrike">
              <a:solidFill>
                <a:srgbClr val="20124D"/>
              </a:solidFill>
              <a:latin typeface="Calibri"/>
              <a:ea typeface="Calibri"/>
              <a:cs typeface="Calibri"/>
              <a:sym typeface="Calibri"/>
            </a:endParaRPr>
          </a:p>
        </p:txBody>
      </p:sp>
      <p:sp>
        <p:nvSpPr>
          <p:cNvPr id="62" name="Google Shape;62;p1"/>
          <p:cNvSpPr/>
          <p:nvPr/>
        </p:nvSpPr>
        <p:spPr>
          <a:xfrm>
            <a:off x="609604" y="4347275"/>
            <a:ext cx="2424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pc="0" sz="1100" u="none" cap="none" strike="noStrike">
                <a:solidFill>
                  <a:srgbClr val="1D1B24"/>
                </a:solidFill>
                <a:latin typeface="Inter"/>
                <a:ea typeface="Inter"/>
                <a:cs typeface="Inter"/>
                <a:sym typeface="Inter"/>
              </a:rPr>
              <a:t>Instructor: </a:t>
            </a:r>
            <a:r>
              <a:rPr b="1" i="0" lang="en" spc="0" sz="1100" u="none" cap="none" strike="noStrike">
                <a:solidFill>
                  <a:srgbClr val="1D1B24"/>
                </a:solidFill>
                <a:latin typeface="Inter"/>
                <a:ea typeface="Inter"/>
                <a:cs typeface="Inter"/>
                <a:sym typeface="Inter"/>
              </a:rPr>
              <a:t>Angelin Ann Jacob</a:t>
            </a:r>
            <a:endParaRPr b="0" i="0" spc="0" sz="1100" u="none" cap="none" strike="noStrike">
              <a:solidFill>
                <a:srgbClr val="1D1B24"/>
              </a:solidFill>
              <a:latin typeface="Calibri"/>
              <a:ea typeface="Calibri"/>
              <a:cs typeface="Calibri"/>
              <a:sym typeface="Calibri"/>
            </a:endParaRPr>
          </a:p>
        </p:txBody>
      </p:sp>
      <p:sp>
        <p:nvSpPr>
          <p:cNvPr id="63" name="Google Shape;63;p1"/>
          <p:cNvSpPr/>
          <p:nvPr/>
        </p:nvSpPr>
        <p:spPr>
          <a:xfrm>
            <a:off x="3407779" y="4347275"/>
            <a:ext cx="18693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pc="0" sz="1100" u="none" cap="none" strike="noStrike">
                <a:solidFill>
                  <a:srgbClr val="1D1B24"/>
                </a:solidFill>
                <a:latin typeface="Inter"/>
                <a:ea typeface="Inter"/>
                <a:cs typeface="Inter"/>
                <a:sym typeface="Inter"/>
              </a:rPr>
              <a:t>Section 1 · Tue Oct 20</a:t>
            </a:r>
            <a:endParaRPr b="0" i="0" spc="0" sz="1100" u="none" cap="none" strike="noStrike">
              <a:solidFill>
                <a:srgbClr val="1D1B24"/>
              </a:solidFill>
              <a:latin typeface="Calibri"/>
              <a:ea typeface="Calibri"/>
              <a:cs typeface="Calibri"/>
              <a:sym typeface="Calibri"/>
            </a:endParaRPr>
          </a:p>
        </p:txBody>
      </p:sp>
      <p:sp>
        <p:nvSpPr>
          <p:cNvPr id="64" name="Google Shape;64;p1"/>
          <p:cNvSpPr/>
          <p:nvPr/>
        </p:nvSpPr>
        <p:spPr>
          <a:xfrm>
            <a:off x="5665707" y="4347275"/>
            <a:ext cx="1845600" cy="205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B2C4"/>
              </a:buClr>
              <a:buSzPts val="1100"/>
              <a:buFont typeface="Inter"/>
              <a:buNone/>
            </a:pPr>
            <a:r>
              <a:rPr b="0" i="0" lang="en" spc="0" sz="1100" u="none" cap="none" strike="noStrike">
                <a:solidFill>
                  <a:srgbClr val="1D1B24"/>
                </a:solidFill>
                <a:latin typeface="Inter"/>
                <a:ea typeface="Inter"/>
                <a:cs typeface="Inter"/>
                <a:sym typeface="Inter"/>
              </a:rPr>
              <a:t>Section 2 · Thu Oct 22</a:t>
            </a:r>
            <a:endParaRPr b="0" i="0" spc="0" sz="1100" u="none" cap="none" strike="noStrike">
              <a:solidFill>
                <a:srgbClr val="1D1B24"/>
              </a:solidFill>
              <a:latin typeface="Calibri"/>
              <a:ea typeface="Calibri"/>
              <a:cs typeface="Calibri"/>
              <a:sym typeface="Calibri"/>
            </a:endParaRPr>
          </a:p>
        </p:txBody>
      </p:sp>
      <p:pic>
        <p:nvPicPr>
          <p:cNvPr id="65" name="Google Shape;65;p1"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70" name="Shape 70"/>
        <p:cNvGrpSpPr/>
        <p:nvPr/>
      </p:nvGrpSpPr>
      <p:grpSpPr>
        <a:xfrm>
          <a:off x="0" y="0"/>
          <a:ext cx="0" cy="0"/>
          <a:chOff x="0" y="0"/>
          <a:chExt cx="0" cy="0"/>
        </a:xfrm>
      </p:grpSpPr>
      <p:sp>
        <p:nvSpPr>
          <p:cNvPr id="71" name="Google Shape;71;p2"/>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1B24"/>
              </a:buClr>
              <a:buSzPts val="2700"/>
              <a:buFont typeface="Space Grotesk"/>
              <a:buNone/>
            </a:pPr>
            <a:r>
              <a:rPr b="1" i="0" lang="en" spc="0" sz="2700" u="none" cap="none" strike="noStrike">
                <a:solidFill>
                  <a:srgbClr val="1D1B24"/>
                </a:solidFill>
                <a:latin typeface="Space Grotesk"/>
                <a:ea typeface="Space Grotesk"/>
                <a:cs typeface="Space Grotesk"/>
                <a:sym typeface="Space Grotesk"/>
              </a:rPr>
              <a:t>Useful Links</a:t>
            </a:r>
            <a:endParaRPr b="0" i="0" spc="0" sz="2700" u="none" cap="none" strike="noStrike">
              <a:solidFill>
                <a:schemeClr val="dk1"/>
              </a:solidFill>
              <a:latin typeface="Calibri"/>
              <a:ea typeface="Calibri"/>
              <a:cs typeface="Calibri"/>
              <a:sym typeface="Calibri"/>
            </a:endParaRPr>
          </a:p>
        </p:txBody>
      </p:sp>
      <p:sp>
        <p:nvSpPr>
          <p:cNvPr id="72" name="Google Shape;72;p2"/>
          <p:cNvSpPr/>
          <p:nvPr/>
        </p:nvSpPr>
        <p:spPr>
          <a:xfrm>
            <a:off x="611972"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 name="Google Shape;73;p2"/>
          <p:cNvSpPr/>
          <p:nvPr/>
        </p:nvSpPr>
        <p:spPr>
          <a:xfrm>
            <a:off x="803067"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sng" cap="none" strike="noStrike">
                <a:solidFill>
                  <a:srgbClr val="351C75"/>
                </a:solidFill>
                <a:latin typeface="Space Grotesk"/>
                <a:ea typeface="Space Grotesk"/>
                <a:cs typeface="Space Grotesk"/>
                <a:sym typeface="Space Grotesk"/>
                <a:hlinkClick r:id="rId3">
                  <a:extLst>
                    <a:ext uri="{A12FA001-AC4F-418D-AE19-62706E023703}">
                      <ahyp:hlinkClr val="tx"/>
                    </a:ext>
                  </a:extLst>
                </a:hlinkClick>
              </a:rPr>
              <a:t>Zoom</a:t>
            </a:r>
            <a:endParaRPr b="0" i="0" spc="0" sz="1400" u="none" cap="none" strike="noStrike">
              <a:solidFill>
                <a:srgbClr val="351C75"/>
              </a:solidFill>
              <a:latin typeface="Calibri"/>
              <a:ea typeface="Calibri"/>
              <a:cs typeface="Calibri"/>
              <a:sym typeface="Calibri"/>
            </a:endParaRPr>
          </a:p>
        </p:txBody>
      </p:sp>
      <p:sp>
        <p:nvSpPr>
          <p:cNvPr id="74" name="Google Shape;74;p2"/>
          <p:cNvSpPr/>
          <p:nvPr/>
        </p:nvSpPr>
        <p:spPr>
          <a:xfrm>
            <a:off x="803067" y="1671665"/>
            <a:ext cx="2243826" cy="5389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All sessions are virtual. Use ONLY </a:t>
            </a:r>
            <a:r>
              <a:rPr b="1" i="0" lang="en" spc="0" sz="1000" u="none" cap="none" strike="noStrike">
                <a:solidFill>
                  <a:srgbClr val="1D1B24"/>
                </a:solidFill>
                <a:latin typeface="Inter"/>
                <a:ea typeface="Inter"/>
                <a:cs typeface="Inter"/>
                <a:sym typeface="Inter"/>
              </a:rPr>
              <a:t>your NYU SSO Login to be considered for attendance </a:t>
            </a:r>
            <a:endParaRPr b="1" i="0" spc="0" sz="1000" u="none" cap="none" strike="noStrike">
              <a:solidFill>
                <a:schemeClr val="dk1"/>
              </a:solidFill>
              <a:latin typeface="Calibri"/>
              <a:ea typeface="Calibri"/>
              <a:cs typeface="Calibri"/>
              <a:sym typeface="Calibri"/>
            </a:endParaRPr>
          </a:p>
        </p:txBody>
      </p:sp>
      <p:sp>
        <p:nvSpPr>
          <p:cNvPr id="75" name="Google Shape;75;p2"/>
          <p:cNvSpPr/>
          <p:nvPr/>
        </p:nvSpPr>
        <p:spPr>
          <a:xfrm>
            <a:off x="3291669"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 name="Google Shape;76;p2"/>
          <p:cNvSpPr/>
          <p:nvPr/>
        </p:nvSpPr>
        <p:spPr>
          <a:xfrm>
            <a:off x="3482765"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sng" cap="none" strike="noStrike">
                <a:solidFill>
                  <a:srgbClr val="351C75"/>
                </a:solidFill>
                <a:latin typeface="Space Grotesk"/>
                <a:ea typeface="Space Grotesk"/>
                <a:cs typeface="Space Grotesk"/>
                <a:sym typeface="Space Grotesk"/>
                <a:hlinkClick r:id="rId4">
                  <a:extLst>
                    <a:ext uri="{A12FA001-AC4F-418D-AE19-62706E023703}">
                      <ahyp:hlinkClr val="tx"/>
                    </a:ext>
                  </a:extLst>
                </a:hlinkClick>
              </a:rPr>
              <a:t>Brightspace</a:t>
            </a:r>
            <a:endParaRPr b="0" i="0" spc="0" sz="1400" u="none" cap="none" strike="noStrike">
              <a:solidFill>
                <a:srgbClr val="351C75"/>
              </a:solidFill>
              <a:latin typeface="Calibri"/>
              <a:ea typeface="Calibri"/>
              <a:cs typeface="Calibri"/>
              <a:sym typeface="Calibri"/>
            </a:endParaRPr>
          </a:p>
        </p:txBody>
      </p:sp>
      <p:sp>
        <p:nvSpPr>
          <p:cNvPr id="77" name="Google Shape;77;p2"/>
          <p:cNvSpPr/>
          <p:nvPr/>
        </p:nvSpPr>
        <p:spPr>
          <a:xfrm>
            <a:off x="3482765" y="1671665"/>
            <a:ext cx="2243826" cy="5389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Assignments, submissions and the discussion board, monitored Monday to Thursday.</a:t>
            </a:r>
            <a:endParaRPr b="0" i="0" spc="0" sz="1000" u="none" cap="none" strike="noStrike">
              <a:solidFill>
                <a:schemeClr val="dk1"/>
              </a:solidFill>
              <a:latin typeface="Calibri"/>
              <a:ea typeface="Calibri"/>
              <a:cs typeface="Calibri"/>
              <a:sym typeface="Calibri"/>
            </a:endParaRPr>
          </a:p>
        </p:txBody>
      </p:sp>
      <p:sp>
        <p:nvSpPr>
          <p:cNvPr id="78" name="Google Shape;78;p2"/>
          <p:cNvSpPr/>
          <p:nvPr/>
        </p:nvSpPr>
        <p:spPr>
          <a:xfrm>
            <a:off x="5971366" y="1217749"/>
            <a:ext cx="2560662" cy="1164887"/>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 name="Google Shape;79;p2"/>
          <p:cNvSpPr/>
          <p:nvPr/>
        </p:nvSpPr>
        <p:spPr>
          <a:xfrm>
            <a:off x="6162461" y="1408844"/>
            <a:ext cx="2243826" cy="2247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sng" cap="none" strike="noStrike">
                <a:solidFill>
                  <a:srgbClr val="351C75"/>
                </a:solidFill>
                <a:latin typeface="Space Grotesk"/>
                <a:ea typeface="Space Grotesk"/>
                <a:cs typeface="Space Grotesk"/>
                <a:sym typeface="Space Grotesk"/>
                <a:hlinkClick r:id="rId5">
                  <a:extLst>
                    <a:ext uri="{A12FA001-AC4F-418D-AE19-62706E023703}">
                      <ahyp:hlinkClr val="tx"/>
                    </a:ext>
                  </a:extLst>
                </a:hlinkClick>
              </a:rPr>
              <a:t>GitHub</a:t>
            </a:r>
            <a:endParaRPr b="0" i="0" spc="0" sz="1400" u="none" cap="none" strike="noStrike">
              <a:solidFill>
                <a:srgbClr val="351C75"/>
              </a:solidFill>
              <a:latin typeface="Calibri"/>
              <a:ea typeface="Calibri"/>
              <a:cs typeface="Calibri"/>
              <a:sym typeface="Calibri"/>
            </a:endParaRPr>
          </a:p>
        </p:txBody>
      </p:sp>
      <p:sp>
        <p:nvSpPr>
          <p:cNvPr id="80" name="Google Shape;80;p2"/>
          <p:cNvSpPr/>
          <p:nvPr/>
        </p:nvSpPr>
        <p:spPr>
          <a:xfrm>
            <a:off x="6162461" y="1671665"/>
            <a:ext cx="2243826" cy="36563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Slides and Colab notebooks for every session.</a:t>
            </a:r>
            <a:endParaRPr b="0" i="0" spc="0" sz="1000" u="none" cap="none" strike="noStrike">
              <a:solidFill>
                <a:schemeClr val="dk1"/>
              </a:solidFill>
              <a:latin typeface="Calibri"/>
              <a:ea typeface="Calibri"/>
              <a:cs typeface="Calibri"/>
              <a:sym typeface="Calibri"/>
            </a:endParaRPr>
          </a:p>
        </p:txBody>
      </p:sp>
      <p:sp>
        <p:nvSpPr>
          <p:cNvPr id="81" name="Google Shape;81;p2"/>
          <p:cNvSpPr/>
          <p:nvPr/>
        </p:nvSpPr>
        <p:spPr>
          <a:xfrm>
            <a:off x="2070697" y="2482496"/>
            <a:ext cx="2560800" cy="1164900"/>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 name="Google Shape;82;p2"/>
          <p:cNvSpPr/>
          <p:nvPr/>
        </p:nvSpPr>
        <p:spPr>
          <a:xfrm>
            <a:off x="2261792" y="2673591"/>
            <a:ext cx="22437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none" cap="none" strike="noStrike">
                <a:solidFill>
                  <a:srgbClr val="351C75"/>
                </a:solidFill>
                <a:latin typeface="Space Grotesk"/>
                <a:ea typeface="Space Grotesk"/>
                <a:cs typeface="Space Grotesk"/>
                <a:sym typeface="Space Grotesk"/>
              </a:rPr>
              <a:t>Email</a:t>
            </a:r>
            <a:endParaRPr b="0" i="0" spc="0" sz="1400" u="none" cap="none" strike="noStrike">
              <a:solidFill>
                <a:srgbClr val="351C75"/>
              </a:solidFill>
              <a:latin typeface="Calibri"/>
              <a:ea typeface="Calibri"/>
              <a:cs typeface="Calibri"/>
              <a:sym typeface="Calibri"/>
            </a:endParaRPr>
          </a:p>
        </p:txBody>
      </p:sp>
      <p:sp>
        <p:nvSpPr>
          <p:cNvPr id="83" name="Google Shape;83;p2"/>
          <p:cNvSpPr/>
          <p:nvPr/>
        </p:nvSpPr>
        <p:spPr>
          <a:xfrm>
            <a:off x="2261792" y="2936412"/>
            <a:ext cx="2243700" cy="5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sng" cap="none" strike="noStrike">
                <a:solidFill>
                  <a:schemeClr val="hlink"/>
                </a:solidFill>
                <a:latin typeface="Inter"/>
                <a:ea typeface="Inter"/>
                <a:cs typeface="Inter"/>
                <a:sym typeface="Inter"/>
                <a:hlinkClick r:id="rId6"/>
              </a:rPr>
              <a:t>datasciencebootcamp@nyu.edu</a:t>
            </a:r>
            <a:r>
              <a:rPr b="0" i="0" lang="en" spc="0" sz="1000" u="none" cap="none" strike="noStrike">
                <a:solidFill>
                  <a:srgbClr val="1D1B24"/>
                </a:solidFill>
                <a:latin typeface="Inter"/>
                <a:ea typeface="Inter"/>
                <a:cs typeface="Inter"/>
                <a:sym typeface="Inter"/>
              </a:rPr>
              <a:t> for questions, extensions and attendance approvals.</a:t>
            </a:r>
            <a:endParaRPr b="0" i="0" spc="0" sz="1000" u="none" cap="none" strike="noStrike">
              <a:solidFill>
                <a:schemeClr val="dk1"/>
              </a:solidFill>
              <a:latin typeface="Calibri"/>
              <a:ea typeface="Calibri"/>
              <a:cs typeface="Calibri"/>
              <a:sym typeface="Calibri"/>
            </a:endParaRPr>
          </a:p>
        </p:txBody>
      </p:sp>
      <p:sp>
        <p:nvSpPr>
          <p:cNvPr id="84" name="Google Shape;84;p2"/>
          <p:cNvSpPr/>
          <p:nvPr/>
        </p:nvSpPr>
        <p:spPr>
          <a:xfrm>
            <a:off x="4750394" y="2482496"/>
            <a:ext cx="2560800" cy="1164900"/>
          </a:xfrm>
          <a:prstGeom prst="roundRect">
            <a:avLst>
              <a:gd fmla="val 7972" name="adj"/>
            </a:avLst>
          </a:prstGeom>
          <a:solidFill>
            <a:srgbClr val="FDFCFA"/>
          </a:solidFill>
          <a:ln cap="flat" cmpd="sng" w="9525">
            <a:solidFill>
              <a:srgbClr val="DDD8E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 name="Google Shape;85;p2"/>
          <p:cNvSpPr/>
          <p:nvPr/>
        </p:nvSpPr>
        <p:spPr>
          <a:xfrm>
            <a:off x="4941490" y="2673591"/>
            <a:ext cx="22437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A2D8C"/>
              </a:buClr>
              <a:buSzPts val="1400"/>
              <a:buFont typeface="Space Grotesk"/>
              <a:buNone/>
            </a:pPr>
            <a:r>
              <a:rPr b="1" i="0" lang="en" spc="0" sz="1400" u="none" cap="none" strike="noStrike">
                <a:solidFill>
                  <a:srgbClr val="20124D"/>
                </a:solidFill>
                <a:latin typeface="Space Grotesk"/>
                <a:ea typeface="Space Grotesk"/>
                <a:cs typeface="Space Grotesk"/>
                <a:sym typeface="Space Grotesk"/>
              </a:rPr>
              <a:t>1:1 coaching</a:t>
            </a:r>
            <a:endParaRPr b="0" i="0" spc="0" sz="1400" u="none" cap="none" strike="noStrike">
              <a:solidFill>
                <a:srgbClr val="20124D"/>
              </a:solidFill>
              <a:latin typeface="Calibri"/>
              <a:ea typeface="Calibri"/>
              <a:cs typeface="Calibri"/>
              <a:sym typeface="Calibri"/>
            </a:endParaRPr>
          </a:p>
        </p:txBody>
      </p:sp>
      <p:sp>
        <p:nvSpPr>
          <p:cNvPr id="86" name="Google Shape;86;p2"/>
          <p:cNvSpPr/>
          <p:nvPr/>
        </p:nvSpPr>
        <p:spPr>
          <a:xfrm>
            <a:off x="4941490" y="2936412"/>
            <a:ext cx="2243700" cy="5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D1B24"/>
              </a:buClr>
              <a:buSzPts val="1000"/>
              <a:buFont typeface="Inter"/>
              <a:buNone/>
            </a:pPr>
            <a:r>
              <a:rPr b="0" i="0" lang="en" spc="0" sz="1000" u="none" cap="none" strike="noStrike">
                <a:solidFill>
                  <a:srgbClr val="1D1B24"/>
                </a:solidFill>
                <a:latin typeface="Inter"/>
                <a:ea typeface="Inter"/>
                <a:cs typeface="Inter"/>
                <a:sym typeface="Inter"/>
              </a:rPr>
              <a:t>Optional 30-minute technical interview prep. </a:t>
            </a:r>
            <a:r>
              <a:rPr b="0" i="0" lang="en" spc="0" sz="1000" u="sng" cap="none" strike="noStrike">
                <a:solidFill>
                  <a:schemeClr val="hlink"/>
                </a:solidFill>
                <a:latin typeface="Inter"/>
                <a:ea typeface="Inter"/>
                <a:cs typeface="Inter"/>
                <a:sym typeface="Inter"/>
                <a:hlinkClick r:id="rId7"/>
              </a:rPr>
              <a:t>Book it through Handshake.</a:t>
            </a:r>
            <a:endParaRPr b="0" i="0" spc="0" sz="1000" u="none" cap="none" strike="noStrike">
              <a:solidFill>
                <a:schemeClr val="dk1"/>
              </a:solidFill>
              <a:latin typeface="Calibri"/>
              <a:ea typeface="Calibri"/>
              <a:cs typeface="Calibri"/>
              <a:sym typeface="Calibri"/>
            </a:endParaRPr>
          </a:p>
        </p:txBody>
      </p:sp>
      <p:sp>
        <p:nvSpPr>
          <p:cNvPr id="87" name="Google Shape;87;p2"/>
          <p:cNvSpPr/>
          <p:nvPr/>
        </p:nvSpPr>
        <p:spPr>
          <a:xfrm>
            <a:off x="8399766" y="4678691"/>
            <a:ext cx="172696" cy="17908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2</a:t>
            </a:r>
            <a:endParaRPr b="0" i="0" spc="0" sz="900" u="none" cap="none" strike="noStrike">
              <a:solidFill>
                <a:schemeClr val="dk1"/>
              </a:solidFill>
              <a:latin typeface="Calibri"/>
              <a:ea typeface="Calibri"/>
              <a:cs typeface="Calibri"/>
              <a:sym typeface="Calibri"/>
            </a:endParaRPr>
          </a:p>
        </p:txBody>
      </p:sp>
      <p:sp>
        <p:nvSpPr>
          <p:cNvPr id="88" name="Google Shape;88;p2"/>
          <p:cNvSpPr/>
          <p:nvPr/>
        </p:nvSpPr>
        <p:spPr>
          <a:xfrm>
            <a:off x="609591" y="467869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Data Science Bootcamp · Fall 2026</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93" name="Shape 93"/>
        <p:cNvGrpSpPr/>
        <p:nvPr/>
      </p:nvGrpSpPr>
      <p:grpSpPr>
        <a:xfrm>
          <a:off x="0" y="0"/>
          <a:ext cx="0" cy="0"/>
          <a:chOff x="0" y="0"/>
          <a:chExt cx="0" cy="0"/>
        </a:xfrm>
      </p:grpSpPr>
      <p:sp>
        <p:nvSpPr>
          <p:cNvPr id="94" name="Google Shape;94;p3"/>
          <p:cNvSpPr/>
          <p:nvPr/>
        </p:nvSpPr>
        <p:spPr>
          <a:xfrm>
            <a:off x="609601" y="2089800"/>
            <a:ext cx="7841700" cy="1024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3600"/>
              <a:buFont typeface="Space Grotesk"/>
              <a:buNone/>
            </a:pPr>
            <a:r>
              <a:rPr b="1" i="0" lang="en" spc="0" sz="3400" u="none" cap="none" strike="noStrike">
                <a:solidFill>
                  <a:srgbClr val="3D3947"/>
                </a:solidFill>
                <a:latin typeface="Space Grotesk"/>
                <a:ea typeface="Space Grotesk"/>
                <a:cs typeface="Space Grotesk"/>
                <a:sym typeface="Space Grotesk"/>
              </a:rPr>
              <a:t>SQL Fundamentals</a:t>
            </a:r>
            <a:endParaRPr b="0" i="0" spc="0" sz="3600" u="none" cap="none" strike="noStrike">
              <a:solidFill>
                <a:srgbClr val="3D3947"/>
              </a:solidFill>
              <a:latin typeface="Calibri"/>
              <a:ea typeface="Calibri"/>
              <a:cs typeface="Calibri"/>
              <a:sym typeface="Calibri"/>
            </a:endParaRPr>
          </a:p>
        </p:txBody>
      </p:sp>
      <p:sp>
        <p:nvSpPr>
          <p:cNvPr id="95" name="Google Shape;95;p3"/>
          <p:cNvSpPr/>
          <p:nvPr/>
        </p:nvSpPr>
        <p:spPr>
          <a:xfrm>
            <a:off x="609591" y="467869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Data Science Bootcamp · Fall 2026</a:t>
            </a:r>
            <a:endParaRPr b="0" i="0" spc="0" sz="900" u="none" cap="none" strike="noStrike">
              <a:solidFill>
                <a:schemeClr val="dk1"/>
              </a:solidFill>
              <a:latin typeface="Calibri"/>
              <a:ea typeface="Calibri"/>
              <a:cs typeface="Calibri"/>
              <a:sym typeface="Calibri"/>
            </a:endParaRPr>
          </a:p>
        </p:txBody>
      </p:sp>
      <p:pic>
        <p:nvPicPr>
          <p:cNvPr id="96" name="Google Shape;96;p3"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97" name="Google Shape;97;p3"/>
          <p:cNvSpPr txBox="1"/>
          <p:nvPr/>
        </p:nvSpPr>
        <p:spPr>
          <a:xfrm>
            <a:off x="534550" y="2730100"/>
            <a:ext cx="71175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rgbClr val="000000"/>
              </a:buClr>
              <a:buSzPts val="900"/>
              <a:buFont typeface="Arial"/>
              <a:buNone/>
            </a:pPr>
            <a:r>
              <a:rPr b="1" i="0" lang="en" spc="0" sz="900" u="none" cap="none" strike="noStrike">
                <a:solidFill>
                  <a:srgbClr val="3D3947"/>
                </a:solidFill>
                <a:latin typeface="Space Grotesk"/>
                <a:ea typeface="Space Grotesk"/>
                <a:cs typeface="Space Grotesk"/>
                <a:sym typeface="Space Grotesk"/>
              </a:rPr>
              <a:t>Ask a database a question, get a table back!</a:t>
            </a:r>
            <a:endParaRPr b="1" i="0" spc="0" sz="900" u="none" cap="none" strike="noStrike">
              <a:solidFill>
                <a:srgbClr val="3D3947"/>
              </a:solidFill>
              <a:latin typeface="Space Grotesk"/>
              <a:ea typeface="Space Grotesk"/>
              <a:cs typeface="Space Grotesk"/>
              <a:sym typeface="Space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102" name="Shape 102"/>
        <p:cNvGrpSpPr/>
        <p:nvPr/>
      </p:nvGrpSpPr>
      <p:grpSpPr>
        <a:xfrm>
          <a:off x="0" y="0"/>
          <a:ext cx="0" cy="0"/>
          <a:chOff x="0" y="0"/>
          <a:chExt cx="0" cy="0"/>
        </a:xfrm>
      </p:grpSpPr>
      <p:sp>
        <p:nvSpPr>
          <p:cNvPr id="103" name="Google Shape;103;p4"/>
          <p:cNvSpPr/>
          <p:nvPr/>
        </p:nvSpPr>
        <p:spPr>
          <a:xfrm>
            <a:off x="8391627" y="4678691"/>
            <a:ext cx="180835" cy="17908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900" u="none" cap="none" strike="noStrike">
                <a:solidFill>
                  <a:srgbClr val="625D6E"/>
                </a:solidFill>
                <a:latin typeface="Inter"/>
                <a:ea typeface="Inter"/>
                <a:cs typeface="Inter"/>
                <a:sym typeface="Inter"/>
              </a:rPr>
              <a:t>4</a:t>
            </a:r>
            <a:endParaRPr b="0" i="0" spc="0" sz="900" u="none" cap="none" strike="noStrike">
              <a:solidFill>
                <a:srgbClr val="625D6E"/>
              </a:solidFill>
              <a:latin typeface="Inter"/>
              <a:ea typeface="Inter"/>
              <a:cs typeface="Inter"/>
              <a:sym typeface="Inter"/>
            </a:endParaRPr>
          </a:p>
        </p:txBody>
      </p:sp>
      <p:sp>
        <p:nvSpPr>
          <p:cNvPr id="104" name="Google Shape;104;p4"/>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700" u="none" cap="none" strike="noStrike">
                <a:solidFill>
                  <a:srgbClr val="625D6E"/>
                </a:solidFill>
                <a:latin typeface="Inter"/>
                <a:ea typeface="Inter"/>
                <a:cs typeface="Inter"/>
                <a:sym typeface="Inter"/>
              </a:rPr>
              <a:t>Data Science Bootcamp · Fall 2026</a:t>
            </a:r>
            <a:endParaRPr b="0" i="0" spc="0" sz="700" u="none" cap="none" strike="noStrike">
              <a:solidFill>
                <a:schemeClr val="dk1"/>
              </a:solidFill>
              <a:latin typeface="Calibri"/>
              <a:ea typeface="Calibri"/>
              <a:cs typeface="Calibri"/>
              <a:sym typeface="Calibri"/>
            </a:endParaRPr>
          </a:p>
        </p:txBody>
      </p:sp>
      <p:pic>
        <p:nvPicPr>
          <p:cNvPr id="105" name="Google Shape;105;p4"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107" name="Google Shape;107;p4"/>
          <p:cNvSpPr/>
          <p:nvPr/>
        </p:nvSpPr>
        <p:spPr>
          <a:xfrm>
            <a:off x="301752" y="777240"/>
            <a:ext cx="3200400" cy="9144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3600"/>
              <a:buFont typeface="Space Grotesk"/>
              <a:buNone/>
            </a:pPr>
            <a:r>
              <a:rPr b="1" i="0" lang="en" spc="0" sz="2800" u="none" cap="none" strike="noStrike">
                <a:solidFill>
                  <a:srgbClr val="3D3947"/>
                </a:solidFill>
                <a:latin typeface="Space Grotesk"/>
                <a:ea typeface="Space Grotesk"/>
                <a:cs typeface="Space Grotesk"/>
                <a:sym typeface="Space Grotesk"/>
              </a:rPr>
              <a:t>LEGO</a:t>
            </a:r>
            <a:endParaRPr b="0" i="0" spc="0" sz="3500" u="none" cap="none" strike="noStrike">
              <a:solidFill>
                <a:srgbClr val="3D3947"/>
              </a:solidFill>
              <a:latin typeface="Calibri"/>
              <a:ea typeface="Calibri"/>
              <a:cs typeface="Calibri"/>
              <a:sym typeface="Calibri"/>
            </a:endParaRPr>
          </a:p>
          <a:p>
            <a:pPr indent="0" lvl="0" marL="0" marR="0" rtl="0" algn="l">
              <a:lnSpc>
                <a:spcPct val="110000"/>
              </a:lnSpc>
              <a:spcBef>
                <a:spcPts val="0"/>
              </a:spcBef>
              <a:spcAft>
                <a:spcPts val="0"/>
              </a:spcAft>
              <a:buClr>
                <a:srgbClr val="F6F4EF"/>
              </a:buClr>
              <a:buSzPts val="3600"/>
              <a:buFont typeface="Space Grotesk"/>
              <a:buNone/>
            </a:pPr>
            <a:r>
              <a:rPr b="1" i="0" lang="en" spc="0" sz="2800" u="none" cap="none" strike="noStrike">
                <a:solidFill>
                  <a:srgbClr val="3D3947"/>
                </a:solidFill>
                <a:latin typeface="Space Grotesk"/>
                <a:ea typeface="Space Grotesk"/>
                <a:cs typeface="Space Grotesk"/>
                <a:sym typeface="Space Grotesk"/>
              </a:rPr>
              <a:t>Database</a:t>
            </a:r>
            <a:endParaRPr b="0" i="0" spc="0" sz="3500" u="none" cap="none" strike="noStrike">
              <a:solidFill>
                <a:srgbClr val="3D3947"/>
              </a:solidFill>
              <a:latin typeface="Calibri"/>
              <a:ea typeface="Calibri"/>
              <a:cs typeface="Calibri"/>
              <a:sym typeface="Calibri"/>
            </a:endParaRPr>
          </a:p>
        </p:txBody>
      </p:sp>
      <p:sp>
        <p:nvSpPr>
          <p:cNvPr id="108" name="Google Shape;108;p4"/>
          <p:cNvSpPr txBox="1"/>
          <p:nvPr/>
        </p:nvSpPr>
        <p:spPr>
          <a:xfrm>
            <a:off x="253350" y="1920240"/>
            <a:ext cx="3080100" cy="2377440"/>
          </a:xfrm>
          <a:prstGeom prst="rect">
            <a:avLst/>
          </a:prstGeom>
          <a:noFill/>
          <a:ln>
            <a:noFill/>
          </a:ln>
        </p:spPr>
        <p:txBody>
          <a:bodyPr anchorCtr="0" anchor="t" bIns="91425" lIns="91425" spcFirstLastPara="1" rIns="91425" wrap="square" tIns="91425">
            <a:spAutoFit/>
          </a:bodyPr>
          <a:lstStyle/>
          <a:p>
            <a:pPr indent="0" lvl="0" marL="0" marR="0" rtl="0" algn="l">
              <a:lnSpc>
                <a:spcPct val="110000"/>
              </a:lnSpc>
              <a:spcBef>
                <a:spcPts val="0"/>
              </a:spcBef>
              <a:spcAft>
                <a:spcPts val="0"/>
              </a:spcAft>
              <a:buClr>
                <a:schemeClr val="dk1"/>
              </a:buClr>
              <a:buSzPts val="1100"/>
              <a:buFont typeface="Arial"/>
              <a:buNone/>
            </a:pPr>
            <a:r>
              <a:rPr b="1" i="0" lang="en" spc="0" sz="900" u="sng" cap="none" strike="noStrike">
                <a:solidFill>
                  <a:schemeClr val="hlink"/>
                </a:solidFill>
                <a:latin typeface="Space Grotesk"/>
                <a:ea typeface="Space Grotesk"/>
                <a:cs typeface="Space Grotesk"/>
                <a:sym typeface="Space Grotesk"/>
                <a:hlinkClick r:id="rId5"/>
              </a:rPr>
              <a:t>kaggle.com/datasets/rtatman/lego-database</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Dataset name: </a:t>
            </a:r>
            <a:r>
              <a:rPr b="1" i="0" lang="en" spc="0" sz="900" u="none" cap="none" strike="noStrike">
                <a:solidFill>
                  <a:srgbClr val="3D3947"/>
                </a:solidFill>
                <a:latin typeface="Space Grotesk"/>
                <a:ea typeface="Space Grotesk"/>
                <a:cs typeface="Space Grotesk"/>
                <a:sym typeface="Space Grotesk"/>
              </a:rPr>
              <a:t>LEGO Database, 8 connected tables (Kaggle, Rachael Tatman)</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Data Provided By: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Rebrickable, a community catalog of every official LEGO set</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Size: </a:t>
            </a:r>
            <a:r>
              <a:rPr b="1" i="0" lang="en" spc="0" sz="900" u="none" cap="none" strike="noStrike">
                <a:solidFill>
                  <a:srgbClr val="3D3947"/>
                </a:solidFill>
                <a:latin typeface="Space Grotesk"/>
                <a:ea typeface="Space Grotesk"/>
                <a:cs typeface="Space Grotesk"/>
                <a:sym typeface="Space Grotesk"/>
              </a:rPr>
              <a:t>11,673 sets, 614 themes, 135 colors, 580,251 part rows, 1950 to 2017</a:t>
            </a:r>
            <a:endParaRPr b="1" i="0" spc="0" sz="900" u="none" cap="none" strike="noStrike">
              <a:solidFill>
                <a:srgbClr val="3D3947"/>
              </a:solidFill>
              <a:latin typeface="Space Grotesk"/>
              <a:ea typeface="Space Grotesk"/>
              <a:cs typeface="Space Grotesk"/>
              <a:sym typeface="Space Grotesk"/>
            </a:endParaRPr>
          </a:p>
          <a:p>
            <a:pPr indent="0" lvl="0" marL="0" marR="0" rtl="0" algn="l">
              <a:lnSpc>
                <a:spcPct val="110000"/>
              </a:lnSpc>
              <a:spcBef>
                <a:spcPts val="0"/>
              </a:spcBef>
              <a:spcAft>
                <a:spcPts val="0"/>
              </a:spcAft>
              <a:buClr>
                <a:schemeClr val="dk1"/>
              </a:buClr>
              <a:buSzPts val="1100"/>
              <a:buFont typeface="Arial"/>
              <a:buNone/>
            </a:pPr>
            <a:r>
              <a:rPr b="1" i="0" lang="en" spc="0" sz="900" u="none" cap="none" strike="noStrike">
                <a:solidFill>
                  <a:srgbClr val="3D3947"/>
                </a:solidFill>
                <a:latin typeface="Space Grotesk"/>
                <a:ea typeface="Space Grotesk"/>
                <a:cs typeface="Space Grotesk"/>
                <a:sym typeface="Space Grotesk"/>
              </a:rPr>
              <a:t xml:space="preserve">Visit: </a:t>
            </a:r>
            <a:r>
              <a:rPr b="1" i="0" lang="en" spc="0" sz="900" u="sng" cap="none" strike="noStrike">
                <a:solidFill>
                  <a:schemeClr val="hlink"/>
                </a:solidFill>
                <a:latin typeface="Space Grotesk"/>
                <a:ea typeface="Space Grotesk"/>
                <a:cs typeface="Space Grotesk"/>
                <a:sym typeface="Space Grotesk"/>
                <a:hlinkClick r:id="rId6"/>
              </a:rPr>
              <a:t>rebrickable.com/downloads</a:t>
            </a:r>
            <a:endParaRPr b="1" i="0" spc="0" sz="900" u="none" cap="none" strike="noStrike">
              <a:solidFill>
                <a:srgbClr val="3D3947"/>
              </a:solidFill>
              <a:latin typeface="Space Grotesk"/>
              <a:ea typeface="Space Grotesk"/>
              <a:cs typeface="Space Grotesk"/>
              <a:sym typeface="Space Grotesk"/>
            </a:endParaRPr>
          </a:p>
        </p:txBody>
      </p:sp>
      <p:sp>
        <p:nvSpPr>
          <p:cNvPr id="109" name="Google Shape;109;p4"/>
          <p:cNvSpPr/>
          <p:nvPr/>
        </p:nvSpPr>
        <p:spPr>
          <a:xfrm>
            <a:off x="167925" y="576500"/>
            <a:ext cx="3402900" cy="3990300"/>
          </a:xfrm>
          <a:prstGeom prst="roundRect">
            <a:avLst>
              <a:gd fmla="val 10280" name="adj"/>
            </a:avLst>
          </a:prstGeom>
          <a:no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0" name="Week3 shape 900"/>
          <p:cNvSpPr/>
          <p:nvPr/>
        </p:nvSpPr>
        <p:spPr>
          <a:xfrm>
            <a:off x="3779325" y="576600"/>
            <a:ext cx="4793149" cy="3990299"/>
          </a:xfrm>
          <a:prstGeom prst="roundRect">
            <a:avLst>
              <a:gd fmla="val 10280" name="adj"/>
            </a:avLst>
          </a:prstGeom>
          <a:solidFill>
            <a:srgbClr val="FDFCFA"/>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aphicFrame>
        <p:nvGraphicFramePr>
          <p:cNvPr id="901" name="Discoveries per year chart"/>
          <p:cNvGraphicFramePr>
            <a:graphicFrameLocks noGrp="1"/>
          </p:cNvGraphicFramePr>
          <p:nvPr/>
        </p:nvGraphicFramePr>
        <p:xfrm>
          <a:off x="3916485" y="686328"/>
          <a:ext cx="4518829" cy="3770843"/>
        </p:xfrm>
        <a:graphic>
          <a:graphicData uri="http://schemas.openxmlformats.org/drawingml/2006/chart">
            <c:chart r:id="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114" name="Shape 114"/>
        <p:cNvGrpSpPr/>
        <p:nvPr/>
      </p:nvGrpSpPr>
      <p:grpSpPr>
        <a:xfrm>
          <a:off x="0" y="0"/>
          <a:ext cx="0" cy="0"/>
          <a:chOff x="0" y="0"/>
          <a:chExt cx="0" cy="0"/>
        </a:xfrm>
      </p:grpSpPr>
      <p:pic>
        <p:nvPicPr>
          <p:cNvPr descr="image.png" id="115" name="Google Shape;115;p5"/>
          <p:cNvPicPr preferRelativeResize="0"/>
          <p:nvPr/>
        </p:nvPicPr>
        <p:blipFill rotWithShape="1">
          <a:blip r:embed="rId3">
            <a:alphaModFix/>
          </a:blip>
          <a:srcRect b="0" l="0" r="0" t="0"/>
          <a:stretch/>
        </p:blipFill>
        <p:spPr>
          <a:xfrm>
            <a:off x="118872" y="100584"/>
            <a:ext cx="1828803" cy="283464"/>
          </a:xfrm>
          <a:prstGeom prst="rect">
            <a:avLst/>
          </a:prstGeom>
          <a:noFill/>
          <a:ln>
            <a:noFill/>
          </a:ln>
        </p:spPr>
      </p:pic>
      <p:sp>
        <p:nvSpPr>
          <p:cNvPr id="116" name="Google Shape;116;p5"/>
          <p:cNvSpPr txBox="1"/>
          <p:nvPr/>
        </p:nvSpPr>
        <p:spPr>
          <a:xfrm>
            <a:off x="612648" y="475488"/>
            <a:ext cx="59436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073763"/>
                </a:solidFill>
                <a:latin typeface="Inter"/>
                <a:ea typeface="Inter"/>
                <a:cs typeface="Inter"/>
                <a:sym typeface="Inter"/>
              </a:rPr>
              <a:t>HOW TO READ TODAY'S SESSION</a:t>
            </a:r>
            <a:endParaRPr b="0" i="0" spc="0" sz="1400" u="none" cap="none" strike="noStrike">
              <a:solidFill>
                <a:srgbClr val="073763"/>
              </a:solidFill>
              <a:latin typeface="Arial"/>
              <a:ea typeface="Arial"/>
              <a:cs typeface="Arial"/>
              <a:sym typeface="Arial"/>
            </a:endParaRPr>
          </a:p>
        </p:txBody>
      </p:sp>
      <p:sp>
        <p:nvSpPr>
          <p:cNvPr id="117" name="Google Shape;117;p5"/>
          <p:cNvSpPr txBox="1"/>
          <p:nvPr/>
        </p:nvSpPr>
        <p:spPr>
          <a:xfrm>
            <a:off x="612648" y="694944"/>
            <a:ext cx="7918800" cy="415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2700"/>
              <a:buFont typeface="Arial"/>
              <a:buNone/>
            </a:pPr>
            <a:r>
              <a:rPr b="1" i="0" lang="en" spc="0" sz="2700" u="none" cap="none" strike="noStrike">
                <a:solidFill>
                  <a:srgbClr val="1D1B24"/>
                </a:solidFill>
                <a:latin typeface="Space Grotesk"/>
                <a:ea typeface="Space Grotesk"/>
                <a:cs typeface="Space Grotesk"/>
                <a:sym typeface="Space Grotesk"/>
              </a:rPr>
              <a:t>Predict, code, share</a:t>
            </a:r>
            <a:endParaRPr b="0" i="0" spc="0" sz="1400" u="none" cap="none" strike="noStrike">
              <a:solidFill>
                <a:srgbClr val="000000"/>
              </a:solidFill>
              <a:latin typeface="Arial"/>
              <a:ea typeface="Arial"/>
              <a:cs typeface="Arial"/>
              <a:sym typeface="Arial"/>
            </a:endParaRPr>
          </a:p>
        </p:txBody>
      </p:sp>
      <p:sp>
        <p:nvSpPr>
          <p:cNvPr id="118" name="Google Shape;118;p5"/>
          <p:cNvSpPr txBox="1"/>
          <p:nvPr/>
        </p:nvSpPr>
        <p:spPr>
          <a:xfrm>
            <a:off x="612648" y="4681728"/>
            <a:ext cx="3657600" cy="1386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900"/>
              <a:buFont typeface="Arial"/>
              <a:buNone/>
            </a:pPr>
            <a:r>
              <a:rPr b="0" i="0" lang="en" spc="0" sz="900" u="none" cap="none" strike="noStrike">
                <a:solidFill>
                  <a:srgbClr val="625D6E"/>
                </a:solidFill>
                <a:latin typeface="Inter"/>
                <a:ea typeface="Inter"/>
                <a:cs typeface="Inter"/>
                <a:sym typeface="Inter"/>
              </a:rPr>
              <a:t>Data Science Bootcamp · Fall 2026</a:t>
            </a:r>
            <a:endParaRPr b="0" i="0" spc="0" sz="1400" u="none" cap="none" strike="noStrike">
              <a:solidFill>
                <a:srgbClr val="000000"/>
              </a:solidFill>
              <a:latin typeface="Arial"/>
              <a:ea typeface="Arial"/>
              <a:cs typeface="Arial"/>
              <a:sym typeface="Arial"/>
            </a:endParaRPr>
          </a:p>
        </p:txBody>
      </p:sp>
      <p:sp>
        <p:nvSpPr>
          <p:cNvPr id="119" name="Google Shape;119;p5"/>
          <p:cNvSpPr txBox="1"/>
          <p:nvPr/>
        </p:nvSpPr>
        <p:spPr>
          <a:xfrm>
            <a:off x="8119872" y="4681728"/>
            <a:ext cx="457200" cy="13860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Clr>
                <a:srgbClr val="000000"/>
              </a:buClr>
              <a:buSzPts val="900"/>
              <a:buFont typeface="Arial"/>
              <a:buNone/>
            </a:pPr>
            <a:fld id="{00000000-1234-1234-1234-123412341234}" type="slidenum">
              <a:rPr b="0" i="0" lang="en" spc="0" sz="900" u="none" cap="none" strike="noStrike">
                <a:solidFill>
                  <a:srgbClr val="625D6E"/>
                </a:solidFill>
                <a:latin typeface="Inter"/>
                <a:ea typeface="Inter"/>
                <a:cs typeface="Inter"/>
                <a:sym typeface="Inter"/>
              </a:rPr>
              <a:t>‹#›</a:t>
            </a:fld>
            <a:endParaRPr b="0" i="0" spc="0" sz="1400" u="none" cap="none" strike="noStrike">
              <a:solidFill>
                <a:srgbClr val="000000"/>
              </a:solidFill>
              <a:latin typeface="Arial"/>
              <a:ea typeface="Arial"/>
              <a:cs typeface="Arial"/>
              <a:sym typeface="Arial"/>
            </a:endParaRPr>
          </a:p>
        </p:txBody>
      </p:sp>
      <p:sp>
        <p:nvSpPr>
          <p:cNvPr id="120" name="Google Shape;120;p5"/>
          <p:cNvSpPr/>
          <p:nvPr/>
        </p:nvSpPr>
        <p:spPr>
          <a:xfrm>
            <a:off x="612648" y="1298448"/>
            <a:ext cx="3684900" cy="18288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 name="Google Shape;121;p5"/>
          <p:cNvSpPr txBox="1"/>
          <p:nvPr/>
        </p:nvSpPr>
        <p:spPr>
          <a:xfrm>
            <a:off x="813816" y="146303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073763"/>
                </a:solidFill>
                <a:latin typeface="Inter"/>
                <a:ea typeface="Inter"/>
                <a:cs typeface="Inter"/>
                <a:sym typeface="Inter"/>
              </a:rPr>
              <a:t>PREDICT</a:t>
            </a:r>
            <a:endParaRPr b="0" i="0" spc="0" sz="1400" u="none" cap="none" strike="noStrike">
              <a:solidFill>
                <a:srgbClr val="073763"/>
              </a:solidFill>
              <a:latin typeface="Arial"/>
              <a:ea typeface="Arial"/>
              <a:cs typeface="Arial"/>
              <a:sym typeface="Arial"/>
            </a:endParaRPr>
          </a:p>
        </p:txBody>
      </p:sp>
      <p:sp>
        <p:nvSpPr>
          <p:cNvPr id="122" name="Google Shape;122;p5"/>
          <p:cNvSpPr txBox="1"/>
          <p:nvPr/>
        </p:nvSpPr>
        <p:spPr>
          <a:xfrm>
            <a:off x="813816" y="1709928"/>
            <a:ext cx="3282600" cy="215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400"/>
              <a:buFont typeface="Arial"/>
              <a:buNone/>
            </a:pPr>
            <a:r>
              <a:rPr b="1" i="0" lang="en" spc="0" sz="1400" u="none" cap="none" strike="noStrike">
                <a:solidFill>
                  <a:srgbClr val="073763"/>
                </a:solidFill>
                <a:latin typeface="Space Grotesk"/>
                <a:ea typeface="Space Grotesk"/>
                <a:cs typeface="Space Grotesk"/>
                <a:sym typeface="Space Grotesk"/>
              </a:rPr>
              <a:t>Guess before you run</a:t>
            </a:r>
            <a:endParaRPr b="0" i="0" spc="0" sz="1400" u="none" cap="none" strike="noStrike">
              <a:solidFill>
                <a:srgbClr val="073763"/>
              </a:solidFill>
              <a:latin typeface="Arial"/>
              <a:ea typeface="Arial"/>
              <a:cs typeface="Arial"/>
              <a:sym typeface="Arial"/>
            </a:endParaRPr>
          </a:p>
        </p:txBody>
      </p:sp>
      <p:sp>
        <p:nvSpPr>
          <p:cNvPr id="123" name="Google Shape;123;p5"/>
          <p:cNvSpPr txBox="1"/>
          <p:nvPr/>
        </p:nvSpPr>
        <p:spPr>
          <a:xfrm>
            <a:off x="813816" y="2048255"/>
            <a:ext cx="3282600" cy="660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100"/>
              <a:buFont typeface="Arial"/>
              <a:buNone/>
            </a:pPr>
            <a:r>
              <a:rPr b="0" i="0" lang="en" spc="0" sz="1100" u="none" cap="none" strike="noStrike">
                <a:solidFill>
                  <a:srgbClr val="1D1B24"/>
                </a:solidFill>
                <a:latin typeface="Inter"/>
                <a:ea typeface="Inter"/>
                <a:cs typeface="Inter"/>
                <a:sym typeface="Inter"/>
              </a:rPr>
              <a:t>Post your guess in the Zoom chat, then run the cell and compare.</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100"/>
              <a:buFont typeface="Arial"/>
              <a:buNone/>
            </a:pPr>
            <a:r>
              <a:rPr b="0" i="1" lang="en" spc="0" sz="1100" u="none" cap="none" strike="noStrike">
                <a:solidFill>
                  <a:srgbClr val="1D1B24"/>
                </a:solidFill>
                <a:latin typeface="Inter"/>
                <a:ea typeface="Inter"/>
                <a:cs typeface="Inter"/>
                <a:sym typeface="Inter"/>
              </a:rPr>
              <a:t>How many sets have more than 5,000 parts? Which theme has the most sets?</a:t>
            </a:r>
            <a:endParaRPr b="0" i="0" spc="0" sz="1400" u="none" cap="none" strike="noStrike">
              <a:solidFill>
                <a:srgbClr val="000000"/>
              </a:solidFill>
              <a:latin typeface="Arial"/>
              <a:ea typeface="Arial"/>
              <a:cs typeface="Arial"/>
              <a:sym typeface="Arial"/>
            </a:endParaRPr>
          </a:p>
        </p:txBody>
      </p:sp>
      <p:sp>
        <p:nvSpPr>
          <p:cNvPr id="124" name="Google Shape;124;p5"/>
          <p:cNvSpPr/>
          <p:nvPr/>
        </p:nvSpPr>
        <p:spPr>
          <a:xfrm>
            <a:off x="4846320" y="1298448"/>
            <a:ext cx="3684900" cy="1828800"/>
          </a:xfrm>
          <a:prstGeom prst="roundRect">
            <a:avLst>
              <a:gd fmla="val 8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0AD47"/>
              </a:solidFill>
              <a:latin typeface="Arial"/>
              <a:ea typeface="Arial"/>
              <a:cs typeface="Arial"/>
              <a:sym typeface="Arial"/>
            </a:endParaRPr>
          </a:p>
        </p:txBody>
      </p:sp>
      <p:sp>
        <p:nvSpPr>
          <p:cNvPr id="125" name="Google Shape;125;p5"/>
          <p:cNvSpPr txBox="1"/>
          <p:nvPr/>
        </p:nvSpPr>
        <p:spPr>
          <a:xfrm>
            <a:off x="5047488" y="1463039"/>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FFC000"/>
                </a:solidFill>
                <a:latin typeface="Inter"/>
                <a:ea typeface="Inter"/>
                <a:cs typeface="Inter"/>
                <a:sym typeface="Inter"/>
              </a:rPr>
              <a:t>YOUR TURN</a:t>
            </a:r>
            <a:endParaRPr b="0" i="0" spc="0" sz="1400" u="none" cap="none" strike="noStrike">
              <a:solidFill>
                <a:srgbClr val="FFC000"/>
              </a:solidFill>
              <a:latin typeface="Arial"/>
              <a:ea typeface="Arial"/>
              <a:cs typeface="Arial"/>
              <a:sym typeface="Arial"/>
            </a:endParaRPr>
          </a:p>
        </p:txBody>
      </p:sp>
      <p:sp>
        <p:nvSpPr>
          <p:cNvPr id="126" name="Google Shape;126;p5"/>
          <p:cNvSpPr txBox="1"/>
          <p:nvPr/>
        </p:nvSpPr>
        <p:spPr>
          <a:xfrm>
            <a:off x="5047488" y="1709928"/>
            <a:ext cx="3282600" cy="215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400"/>
              <a:buFont typeface="Arial"/>
              <a:buNone/>
            </a:pPr>
            <a:r>
              <a:rPr b="1" i="0" lang="en" spc="0" sz="1400" u="none" cap="none" strike="noStrike">
                <a:solidFill>
                  <a:srgbClr val="F6F4EF"/>
                </a:solidFill>
                <a:latin typeface="Space Grotesk"/>
                <a:ea typeface="Space Grotesk"/>
                <a:cs typeface="Space Grotesk"/>
                <a:sym typeface="Space Grotesk"/>
              </a:rPr>
              <a:t>Write the query, then share</a:t>
            </a:r>
            <a:endParaRPr b="0" i="0" spc="0" sz="1400" u="none" cap="none" strike="noStrike">
              <a:solidFill>
                <a:srgbClr val="000000"/>
              </a:solidFill>
              <a:latin typeface="Arial"/>
              <a:ea typeface="Arial"/>
              <a:cs typeface="Arial"/>
              <a:sym typeface="Arial"/>
            </a:endParaRPr>
          </a:p>
        </p:txBody>
      </p:sp>
      <p:sp>
        <p:nvSpPr>
          <p:cNvPr id="127" name="Google Shape;127;p5"/>
          <p:cNvSpPr txBox="1"/>
          <p:nvPr/>
        </p:nvSpPr>
        <p:spPr>
          <a:xfrm>
            <a:off x="5047488" y="2048255"/>
            <a:ext cx="3282600" cy="169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100"/>
              <a:buFont typeface="Arial"/>
              <a:buNone/>
            </a:pPr>
            <a:r>
              <a:rPr b="0" i="0" lang="en" spc="0" sz="1100" u="none" cap="none" strike="noStrike">
                <a:solidFill>
                  <a:srgbClr val="F6F4EF"/>
                </a:solidFill>
                <a:latin typeface="Inter"/>
                <a:ea typeface="Inter"/>
                <a:cs typeface="Inter"/>
                <a:sym typeface="Inter"/>
              </a:rPr>
              <a:t>Post your answer in the Zoom chat.</a:t>
            </a:r>
            <a:endParaRPr b="0" i="0" spc="0" sz="1400" u="none" cap="none" strike="noStrike">
              <a:solidFill>
                <a:srgbClr val="000000"/>
              </a:solidFill>
              <a:latin typeface="Arial"/>
              <a:ea typeface="Arial"/>
              <a:cs typeface="Arial"/>
              <a:sym typeface="Arial"/>
            </a:endParaRPr>
          </a:p>
        </p:txBody>
      </p:sp>
      <p:sp>
        <p:nvSpPr>
          <p:cNvPr id="128" name="Google Shape;128;p5"/>
          <p:cNvSpPr txBox="1"/>
          <p:nvPr/>
        </p:nvSpPr>
        <p:spPr>
          <a:xfrm>
            <a:off x="5047488" y="2441448"/>
            <a:ext cx="3282600" cy="37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050"/>
              <a:buFont typeface="Arial"/>
              <a:buNone/>
            </a:pPr>
            <a:r>
              <a:rPr b="1" i="0" lang="en" spc="0" sz="1050" u="none" cap="none" strike="noStrike">
                <a:solidFill>
                  <a:srgbClr val="E8A93A"/>
                </a:solidFill>
                <a:latin typeface="Courier New"/>
                <a:ea typeface="Courier New"/>
                <a:cs typeface="Courier New"/>
                <a:sym typeface="Courier New"/>
              </a:rPr>
              <a:t>Hint</a:t>
            </a:r>
            <a:r>
              <a:rPr b="0" i="0" lang="en" spc="0" sz="1050" u="none" cap="none" strike="noStrike">
                <a:solidFill>
                  <a:srgbClr val="F6F4EF"/>
                </a:solidFill>
                <a:latin typeface="Courier New"/>
                <a:ea typeface="Courier New"/>
                <a:cs typeface="Courier New"/>
                <a:sym typeface="Courier New"/>
              </a:rPr>
              <a:t xml:space="preserve">    open it if you are stuck</a:t>
            </a:r>
            <a:endParaRPr b="0" i="0" spc="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050"/>
              <a:buFont typeface="Arial"/>
              <a:buNone/>
            </a:pPr>
            <a:r>
              <a:rPr b="1" i="0" lang="en" spc="0" sz="1050" u="none" cap="none" strike="noStrike">
                <a:solidFill>
                  <a:srgbClr val="E8A93A"/>
                </a:solidFill>
                <a:latin typeface="Courier New"/>
                <a:ea typeface="Courier New"/>
                <a:cs typeface="Courier New"/>
                <a:sym typeface="Courier New"/>
              </a:rPr>
              <a:t>Answer</a:t>
            </a:r>
            <a:r>
              <a:rPr b="0" i="0" lang="en" spc="0" sz="1050" u="none" cap="none" strike="noStrike">
                <a:solidFill>
                  <a:srgbClr val="F6F4EF"/>
                </a:solidFill>
                <a:latin typeface="Courier New"/>
                <a:ea typeface="Courier New"/>
                <a:cs typeface="Courier New"/>
                <a:sym typeface="Courier New"/>
              </a:rPr>
              <a:t xml:space="preserve">  open it only to check</a:t>
            </a:r>
            <a:endParaRPr b="0" i="0" spc="0" sz="1400" u="none" cap="none" strike="noStrike">
              <a:solidFill>
                <a:srgbClr val="000000"/>
              </a:solidFill>
              <a:latin typeface="Arial"/>
              <a:ea typeface="Arial"/>
              <a:cs typeface="Arial"/>
              <a:sym typeface="Arial"/>
            </a:endParaRPr>
          </a:p>
        </p:txBody>
      </p:sp>
      <p:sp>
        <p:nvSpPr>
          <p:cNvPr id="129" name="Google Shape;129;p5"/>
          <p:cNvSpPr/>
          <p:nvPr/>
        </p:nvSpPr>
        <p:spPr>
          <a:xfrm>
            <a:off x="612648" y="3337560"/>
            <a:ext cx="7918800" cy="1097400"/>
          </a:xfrm>
          <a:prstGeom prst="roundRect">
            <a:avLst>
              <a:gd fmla="val 8000" name="adj"/>
            </a:avLst>
          </a:prstGeom>
          <a:solidFill>
            <a:srgbClr val="FDFCFA"/>
          </a:solidFill>
          <a:ln cap="flat" cmpd="sng" w="9525">
            <a:solidFill>
              <a:srgbClr val="DDD8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 name="Google Shape;130;p5"/>
          <p:cNvSpPr txBox="1"/>
          <p:nvPr/>
        </p:nvSpPr>
        <p:spPr>
          <a:xfrm>
            <a:off x="813816" y="3465576"/>
            <a:ext cx="22860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000"/>
              <a:buFont typeface="Arial"/>
              <a:buNone/>
            </a:pPr>
            <a:r>
              <a:rPr b="1" i="0" lang="en" spc="0" sz="1000" u="none" cap="none" strike="noStrike">
                <a:solidFill>
                  <a:srgbClr val="073763"/>
                </a:solidFill>
                <a:latin typeface="Inter"/>
                <a:ea typeface="Inter"/>
                <a:cs typeface="Inter"/>
                <a:sym typeface="Inter"/>
              </a:rPr>
              <a:t>EXAMPLE</a:t>
            </a:r>
            <a:endParaRPr b="0" i="0" spc="0" sz="1400" u="none" cap="none" strike="noStrike">
              <a:solidFill>
                <a:srgbClr val="073763"/>
              </a:solidFill>
              <a:latin typeface="Arial"/>
              <a:ea typeface="Arial"/>
              <a:cs typeface="Arial"/>
              <a:sym typeface="Arial"/>
            </a:endParaRPr>
          </a:p>
        </p:txBody>
      </p:sp>
      <p:sp>
        <p:nvSpPr>
          <p:cNvPr id="131" name="Google Shape;131;p5"/>
          <p:cNvSpPr txBox="1"/>
          <p:nvPr/>
        </p:nvSpPr>
        <p:spPr>
          <a:xfrm>
            <a:off x="867091" y="3828408"/>
            <a:ext cx="3154800" cy="16920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Clr>
                <a:srgbClr val="000000"/>
              </a:buClr>
              <a:buSzPts val="1100"/>
              <a:buFont typeface="Arial"/>
              <a:buNone/>
            </a:pPr>
            <a:r>
              <a:rPr b="1" i="0" lang="en" spc="0" sz="1100" u="none" cap="none" strike="noStrike">
                <a:solidFill>
                  <a:srgbClr val="073763"/>
                </a:solidFill>
                <a:latin typeface="Inter"/>
                <a:ea typeface="Inter"/>
                <a:cs typeface="Inter"/>
                <a:sym typeface="Inter"/>
              </a:rPr>
              <a:t xml:space="preserve">Story: </a:t>
            </a:r>
            <a:r>
              <a:rPr b="0" i="0" lang="en" spc="0" sz="1100" u="none" cap="none" strike="noStrike">
                <a:solidFill>
                  <a:srgbClr val="073763"/>
                </a:solidFill>
                <a:latin typeface="Inter"/>
                <a:ea typeface="Inter"/>
                <a:cs typeface="Inter"/>
                <a:sym typeface="Inter"/>
              </a:rPr>
              <a:t>Which set has the most parts?</a:t>
            </a:r>
            <a:endParaRPr b="0" i="0" spc="0" sz="1400" u="none" cap="none" strike="noStrike">
              <a:solidFill>
                <a:srgbClr val="073763"/>
              </a:solidFill>
              <a:latin typeface="Arial"/>
              <a:ea typeface="Arial"/>
              <a:cs typeface="Arial"/>
              <a:sym typeface="Arial"/>
            </a:endParaRPr>
          </a:p>
        </p:txBody>
      </p:sp>
      <p:sp>
        <p:nvSpPr>
          <p:cNvPr id="132" name="Google Shape;132;p5"/>
          <p:cNvSpPr/>
          <p:nvPr/>
        </p:nvSpPr>
        <p:spPr>
          <a:xfrm>
            <a:off x="4149679" y="3803837"/>
            <a:ext cx="292500" cy="201300"/>
          </a:xfrm>
          <a:prstGeom prst="rightArrow">
            <a:avLst>
              <a:gd fmla="val 50000" name="adj1"/>
              <a:gd fmla="val 50000" name="adj2"/>
            </a:avLst>
          </a:prstGeom>
          <a:noFill/>
          <a:ln cap="flat" cmpd="sng" w="9525">
            <a:solidFill>
              <a:srgbClr val="44546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73763"/>
              </a:solidFill>
              <a:latin typeface="Arial"/>
              <a:ea typeface="Arial"/>
              <a:cs typeface="Arial"/>
              <a:sym typeface="Arial"/>
            </a:endParaRPr>
          </a:p>
        </p:txBody>
      </p:sp>
      <p:sp>
        <p:nvSpPr>
          <p:cNvPr id="133" name="Google Shape;133;p5"/>
          <p:cNvSpPr/>
          <p:nvPr/>
        </p:nvSpPr>
        <p:spPr>
          <a:xfrm>
            <a:off x="4846325" y="3566150"/>
            <a:ext cx="3502200" cy="685800"/>
          </a:xfrm>
          <a:prstGeom prst="roundRect">
            <a:avLst>
              <a:gd fmla="val 14000" name="adj"/>
            </a:avLst>
          </a:prstGeom>
          <a:solidFill>
            <a:srgbClr val="1D1B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70AD47"/>
              </a:solidFill>
              <a:latin typeface="Arial"/>
              <a:ea typeface="Arial"/>
              <a:cs typeface="Arial"/>
              <a:sym typeface="Arial"/>
            </a:endParaRPr>
          </a:p>
        </p:txBody>
      </p:sp>
      <p:sp>
        <p:nvSpPr>
          <p:cNvPr id="134" name="Google Shape;134;p5"/>
          <p:cNvSpPr txBox="1"/>
          <p:nvPr/>
        </p:nvSpPr>
        <p:spPr>
          <a:xfrm>
            <a:off x="5047538" y="3718625"/>
            <a:ext cx="3282600" cy="371700"/>
          </a:xfrm>
          <a:prstGeom prst="rect">
            <a:avLst/>
          </a:prstGeom>
          <a:noFill/>
          <a:ln>
            <a:noFill/>
          </a:ln>
        </p:spPr>
        <p:txBody>
          <a:bodyPr anchorCtr="0" anchor="ctr" bIns="0" lIns="0" spcFirstLastPara="1" rIns="0" wrap="square" tIns="0">
            <a:spAutoFit/>
          </a:bodyPr>
          <a:lstStyle/>
          <a:p>
            <a:pPr marL="0" indent="0" algn="l">
              <a:lnSpc>
                <a:spcPct val="120000"/>
              </a:lnSpc>
              <a:spcBef>
                <a:spcPts val="0"/>
              </a:spcBef>
              <a:spcAft>
                <a:spcPts val="0"/>
              </a:spcAft>
              <a:buNone/>
            </a:pPr>
            <a:r>
              <a:rPr lang="en-US" sz="1050" b="1" i="0" dirty="0">
                <a:solidFill>
                  <a:srgbClr val="E8A93A"/>
                </a:solidFill>
                <a:latin typeface="Courier New"/>
                <a:ea typeface="Courier New"/>
                <a:cs typeface="Courier New"/>
                <a:sym typeface="Courier New"/>
              </a:rPr>
              <a:t>SELECT</a:t>
            </a:r>
            <a:r>
              <a:rPr lang="en-US" sz="1050" b="0" i="0" dirty="0">
                <a:solidFill>
                  <a:srgbClr val="F6F4EF"/>
                </a:solidFill>
                <a:latin typeface="Courier New"/>
                <a:ea typeface="Courier New"/>
                <a:cs typeface="Courier New"/>
                <a:sym typeface="Courier New"/>
              </a:rPr>
              <a:t xml:space="preserve"> name </a:t>
            </a:r>
            <a:r>
              <a:rPr lang="en-US" sz="1050" b="1" i="0" dirty="0">
                <a:solidFill>
                  <a:srgbClr val="E8A93A"/>
                </a:solidFill>
                <a:latin typeface="Courier New"/>
                <a:ea typeface="Courier New"/>
                <a:cs typeface="Courier New"/>
                <a:sym typeface="Courier New"/>
              </a:rPr>
              <a:t>FROM</a:t>
            </a:r>
            <a:r>
              <a:rPr lang="en-US" sz="1050" b="0" i="0" dirty="0">
                <a:solidFill>
                  <a:srgbClr val="F6F4EF"/>
                </a:solidFill>
                <a:latin typeface="Courier New"/>
                <a:ea typeface="Courier New"/>
                <a:cs typeface="Courier New"/>
                <a:sym typeface="Courier New"/>
              </a:rPr>
              <a:t xml:space="preserve"> sets</a:t>
            </a:r>
          </a:p>
          <a:p>
            <a:pPr marL="0" indent="0" algn="l">
              <a:lnSpc>
                <a:spcPct val="120000"/>
              </a:lnSpc>
              <a:spcBef>
                <a:spcPts val="0"/>
              </a:spcBef>
              <a:spcAft>
                <a:spcPts val="0"/>
              </a:spcAft>
              <a:buNone/>
            </a:pPr>
            <a:r>
              <a:rPr lang="en-US" sz="1050" b="1" i="0" dirty="0">
                <a:solidFill>
                  <a:srgbClr val="E8A93A"/>
                </a:solidFill>
                <a:latin typeface="Courier New"/>
                <a:ea typeface="Courier New"/>
                <a:cs typeface="Courier New"/>
                <a:sym typeface="Courier New"/>
              </a:rPr>
              <a:t>ORDER BY</a:t>
            </a:r>
            <a:r>
              <a:rPr lang="en-US" sz="1050" b="0" i="0" dirty="0">
                <a:solidFill>
                  <a:srgbClr val="F6F4EF"/>
                </a:solidFill>
                <a:latin typeface="Courier New"/>
                <a:ea typeface="Courier New"/>
                <a:cs typeface="Courier New"/>
                <a:sym typeface="Courier New"/>
              </a:rPr>
              <a:t xml:space="preserve"> num_parts </a:t>
            </a:r>
            <a:r>
              <a:rPr lang="en-US" sz="1050" b="1" i="0" dirty="0">
                <a:solidFill>
                  <a:srgbClr val="E8A93A"/>
                </a:solidFill>
                <a:latin typeface="Courier New"/>
                <a:ea typeface="Courier New"/>
                <a:cs typeface="Courier New"/>
                <a:sym typeface="Courier New"/>
              </a:rPr>
              <a:t>DESC</a:t>
            </a:r>
            <a:r>
              <a:rPr lang="en-US" sz="1050" b="0" i="0" dirty="0">
                <a:solidFill>
                  <a:srgbClr val="F6F4EF"/>
                </a:solidFill>
                <a:latin typeface="Courier New"/>
                <a:ea typeface="Courier New"/>
                <a:cs typeface="Courier New"/>
                <a:sym typeface="Courier New"/>
              </a:rPr>
              <a:t xml:space="preserve"> </a:t>
            </a:r>
            <a:r>
              <a:rPr lang="en-US" sz="1050" b="1" i="0" dirty="0">
                <a:solidFill>
                  <a:srgbClr val="E8A93A"/>
                </a:solidFill>
                <a:latin typeface="Courier New"/>
                <a:ea typeface="Courier New"/>
                <a:cs typeface="Courier New"/>
                <a:sym typeface="Courier New"/>
              </a:rPr>
              <a:t>LIMIT</a:t>
            </a:r>
            <a:r>
              <a:rPr lang="en-US" sz="1050" b="0" i="0" dirty="0">
                <a:solidFill>
                  <a:srgbClr val="F6F4EF"/>
                </a:solidFill>
                <a:latin typeface="Courier New"/>
                <a:ea typeface="Courier New"/>
                <a:cs typeface="Courier New"/>
                <a:sym typeface="Courier New"/>
              </a:rPr>
              <a:t xml:space="preserve"> 1</a:t>
            </a:r>
          </a:p>
        </p:txBody>
      </p:sp>
      <p:sp>
        <p:nvSpPr>
          <p:cNvPr id="135" name="Google Shape;135;p5"/>
          <p:cNvSpPr/>
          <p:nvPr/>
        </p:nvSpPr>
        <p:spPr>
          <a:xfrm>
            <a:off x="4441717" y="2112212"/>
            <a:ext cx="292500" cy="201300"/>
          </a:xfrm>
          <a:prstGeom prst="rightArrow">
            <a:avLst>
              <a:gd fmla="val 50000" name="adj1"/>
              <a:gd fmla="val 50000" name="adj2"/>
            </a:avLst>
          </a:prstGeom>
          <a:noFill/>
          <a:ln cap="flat" cmpd="sng" w="9525">
            <a:solidFill>
              <a:srgbClr val="625D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7376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326" name="Shape 326"/>
        <p:cNvGrpSpPr/>
        <p:nvPr/>
      </p:nvGrpSpPr>
      <p:grpSpPr>
        <a:xfrm>
          <a:off x="0" y="0"/>
          <a:ext cx="0" cy="0"/>
          <a:chOff x="0" y="0"/>
          <a:chExt cx="0" cy="0"/>
        </a:xfrm>
      </p:grpSpPr>
      <p:sp>
        <p:nvSpPr>
          <p:cNvPr id="327" name="Google Shape;327;p10"/>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2700"/>
              <a:buFont typeface="Space Grotesk"/>
              <a:buNone/>
            </a:pPr>
            <a:r>
              <a:rPr b="1" i="0" lang="en" spc="0" sz="2700" u="none" cap="none" strike="noStrike">
                <a:solidFill>
                  <a:schemeClr val="dk1"/>
                </a:solidFill>
                <a:latin typeface="Space Grotesk"/>
                <a:ea typeface="Space Grotesk"/>
                <a:cs typeface="Space Grotesk"/>
                <a:sym typeface="Space Grotesk"/>
              </a:rPr>
              <a:t>Today's plan: from one table to many</a:t>
            </a:r>
            <a:endParaRPr b="0" i="0" spc="0" sz="2700" u="none" cap="none" strike="noStrike">
              <a:solidFill>
                <a:schemeClr val="dk1"/>
              </a:solidFill>
              <a:latin typeface="Calibri"/>
              <a:ea typeface="Calibri"/>
              <a:cs typeface="Calibri"/>
              <a:sym typeface="Calibri"/>
            </a:endParaRPr>
          </a:p>
        </p:txBody>
      </p:sp>
      <p:cxnSp>
        <p:nvCxnSpPr>
          <p:cNvPr id="328" name="Google Shape;328;p10"/>
          <p:cNvCxnSpPr/>
          <p:nvPr/>
        </p:nvCxnSpPr>
        <p:spPr>
          <a:xfrm>
            <a:off x="612648" y="2145767"/>
            <a:ext cx="1463040" cy="0"/>
          </a:xfrm>
          <a:prstGeom prst="straightConnector1">
            <a:avLst/>
          </a:prstGeom>
          <a:noFill/>
          <a:ln cap="flat" cmpd="sng" w="25400">
            <a:solidFill>
              <a:srgbClr val="FDFCFA"/>
            </a:solidFill>
            <a:prstDash val="solid"/>
            <a:round/>
            <a:headEnd len="sm" w="sm" type="none"/>
            <a:tailEnd len="sm" w="sm" type="none"/>
          </a:ln>
        </p:spPr>
      </p:cxnSp>
      <p:sp>
        <p:nvSpPr>
          <p:cNvPr id="329" name="Google Shape;329;p10"/>
          <p:cNvSpPr/>
          <p:nvPr/>
        </p:nvSpPr>
        <p:spPr>
          <a:xfrm>
            <a:off x="612648"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1 · Databases</a:t>
            </a:r>
            <a:endParaRPr b="0" i="0" spc="0" sz="1500" u="none" cap="none" strike="noStrike">
              <a:solidFill>
                <a:srgbClr val="3D3947"/>
              </a:solidFill>
              <a:latin typeface="Calibri"/>
              <a:ea typeface="Calibri"/>
              <a:cs typeface="Calibri"/>
              <a:sym typeface="Calibri"/>
            </a:endParaRPr>
          </a:p>
        </p:txBody>
      </p:sp>
      <p:sp>
        <p:nvSpPr>
          <p:cNvPr id="330" name="Google Shape;330;p10"/>
          <p:cNvSpPr/>
          <p:nvPr/>
        </p:nvSpPr>
        <p:spPr>
          <a:xfrm>
            <a:off x="612648"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Tables, keys and the LEGO map. Loading the data.</a:t>
            </a:r>
            <a:endParaRPr b="0" i="0" spc="0" sz="1100" u="none" cap="none" strike="noStrike">
              <a:solidFill>
                <a:srgbClr val="3D3947"/>
              </a:solidFill>
              <a:latin typeface="Calibri"/>
              <a:ea typeface="Calibri"/>
              <a:cs typeface="Calibri"/>
              <a:sym typeface="Calibri"/>
            </a:endParaRPr>
          </a:p>
        </p:txBody>
      </p:sp>
      <p:cxnSp>
        <p:nvCxnSpPr>
          <p:cNvPr id="331" name="Google Shape;331;p10"/>
          <p:cNvCxnSpPr/>
          <p:nvPr/>
        </p:nvCxnSpPr>
        <p:spPr>
          <a:xfrm>
            <a:off x="2226564" y="2145767"/>
            <a:ext cx="1463040" cy="0"/>
          </a:xfrm>
          <a:prstGeom prst="straightConnector1">
            <a:avLst/>
          </a:prstGeom>
          <a:noFill/>
          <a:ln cap="flat" cmpd="sng" w="25400">
            <a:solidFill>
              <a:srgbClr val="FDFCFA"/>
            </a:solidFill>
            <a:prstDash val="solid"/>
            <a:round/>
            <a:headEnd len="sm" w="sm" type="none"/>
            <a:tailEnd len="sm" w="sm" type="none"/>
          </a:ln>
        </p:spPr>
      </p:cxnSp>
      <p:sp>
        <p:nvSpPr>
          <p:cNvPr id="332" name="Google Shape;332;p10"/>
          <p:cNvSpPr/>
          <p:nvPr/>
        </p:nvSpPr>
        <p:spPr>
          <a:xfrm>
            <a:off x="2226564"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2 · Select &amp; filter</a:t>
            </a:r>
            <a:endParaRPr b="0" i="0" spc="0" sz="1500" u="none" cap="none" strike="noStrike">
              <a:solidFill>
                <a:srgbClr val="3D3947"/>
              </a:solidFill>
              <a:latin typeface="Calibri"/>
              <a:ea typeface="Calibri"/>
              <a:cs typeface="Calibri"/>
              <a:sym typeface="Calibri"/>
            </a:endParaRPr>
          </a:p>
        </p:txBody>
      </p:sp>
      <p:sp>
        <p:nvSpPr>
          <p:cNvPr id="333" name="Google Shape;333;p10"/>
          <p:cNvSpPr/>
          <p:nvPr/>
        </p:nvSpPr>
        <p:spPr>
          <a:xfrm>
            <a:off x="2226564"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SELECT, WHERE, ORDER BY. Data Story 1: the largest sets.</a:t>
            </a:r>
            <a:endParaRPr b="0" i="0" spc="0" sz="1100" u="none" cap="none" strike="noStrike">
              <a:solidFill>
                <a:srgbClr val="3D3947"/>
              </a:solidFill>
              <a:latin typeface="Calibri"/>
              <a:ea typeface="Calibri"/>
              <a:cs typeface="Calibri"/>
              <a:sym typeface="Calibri"/>
            </a:endParaRPr>
          </a:p>
        </p:txBody>
      </p:sp>
      <p:cxnSp>
        <p:nvCxnSpPr>
          <p:cNvPr id="334" name="Google Shape;334;p10"/>
          <p:cNvCxnSpPr/>
          <p:nvPr/>
        </p:nvCxnSpPr>
        <p:spPr>
          <a:xfrm>
            <a:off x="3840480" y="2145767"/>
            <a:ext cx="1463040" cy="0"/>
          </a:xfrm>
          <a:prstGeom prst="straightConnector1">
            <a:avLst/>
          </a:prstGeom>
          <a:noFill/>
          <a:ln cap="flat" cmpd="sng" w="25400">
            <a:solidFill>
              <a:srgbClr val="FDFCFA"/>
            </a:solidFill>
            <a:prstDash val="solid"/>
            <a:round/>
            <a:headEnd len="sm" w="sm" type="none"/>
            <a:tailEnd len="sm" w="sm" type="none"/>
          </a:ln>
        </p:spPr>
      </p:cxnSp>
      <p:cxnSp>
        <p:nvCxnSpPr>
          <p:cNvPr id="913" name="Week3 shape 913"/>
          <p:cNvCxnSpPr/>
          <p:nvPr/>
        </p:nvCxnSpPr>
        <p:spPr>
          <a:xfrm>
            <a:off x="7068312" y="2145767"/>
            <a:ext cx="1463040" cy="0"/>
          </a:xfrm>
          <a:prstGeom prst="straightConnector1">
            <a:avLst/>
          </a:prstGeom>
          <a:noFill/>
          <a:ln cap="flat" cmpd="sng" w="25400">
            <a:solidFill>
              <a:srgbClr val="FDFCFA"/>
            </a:solidFill>
            <a:prstDash val="solid"/>
            <a:round/>
            <a:headEnd len="sm" w="sm" type="none"/>
            <a:tailEnd len="sm" w="sm" type="none"/>
          </a:ln>
        </p:spPr>
      </p:cxnSp>
      <p:cxnSp>
        <p:nvCxnSpPr>
          <p:cNvPr id="910" name="Week3 shape 910"/>
          <p:cNvCxnSpPr/>
          <p:nvPr/>
        </p:nvCxnSpPr>
        <p:spPr>
          <a:xfrm>
            <a:off x="5454396" y="2145767"/>
            <a:ext cx="1463040" cy="0"/>
          </a:xfrm>
          <a:prstGeom prst="straightConnector1">
            <a:avLst/>
          </a:prstGeom>
          <a:noFill/>
          <a:ln cap="flat" cmpd="sng" w="25400">
            <a:solidFill>
              <a:srgbClr val="FDFCFA"/>
            </a:solidFill>
            <a:prstDash val="solid"/>
            <a:round/>
            <a:headEnd len="sm" w="sm" type="none"/>
            <a:tailEnd len="sm" w="sm" type="none"/>
          </a:ln>
        </p:spPr>
      </p:cxnSp>
      <p:sp>
        <p:nvSpPr>
          <p:cNvPr id="335" name="Google Shape;335;p10"/>
          <p:cNvSpPr/>
          <p:nvPr/>
        </p:nvSpPr>
        <p:spPr>
          <a:xfrm>
            <a:off x="3840480"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3 · Summarize</a:t>
            </a:r>
            <a:endParaRPr b="0" i="0" spc="0" sz="1500" u="none" cap="none" strike="noStrike">
              <a:solidFill>
                <a:srgbClr val="3D3947"/>
              </a:solidFill>
              <a:latin typeface="Calibri"/>
              <a:ea typeface="Calibri"/>
              <a:cs typeface="Calibri"/>
              <a:sym typeface="Calibri"/>
            </a:endParaRPr>
          </a:p>
        </p:txBody>
      </p:sp>
      <p:sp>
        <p:nvSpPr>
          <p:cNvPr id="914" name="Week3 shape 914"/>
          <p:cNvSpPr/>
          <p:nvPr/>
        </p:nvSpPr>
        <p:spPr>
          <a:xfrm>
            <a:off x="7068312"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5 · Put together</a:t>
            </a:r>
            <a:endParaRPr b="0" i="0" spc="0" sz="1500" u="none" cap="none" strike="noStrike">
              <a:solidFill>
                <a:srgbClr val="3D3947"/>
              </a:solidFill>
              <a:latin typeface="Calibri"/>
              <a:ea typeface="Calibri"/>
              <a:cs typeface="Calibri"/>
              <a:sym typeface="Calibri"/>
            </a:endParaRPr>
          </a:p>
        </p:txBody>
      </p:sp>
      <p:sp>
        <p:nvSpPr>
          <p:cNvPr id="911" name="Week3 shape 911"/>
          <p:cNvSpPr/>
          <p:nvPr/>
        </p:nvSpPr>
        <p:spPr>
          <a:xfrm>
            <a:off x="5454396" y="2306464"/>
            <a:ext cx="1554480"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300" u="none" cap="none" strike="noStrike">
                <a:solidFill>
                  <a:srgbClr val="3D3947"/>
                </a:solidFill>
                <a:latin typeface="Space Grotesk"/>
                <a:ea typeface="Space Grotesk"/>
                <a:cs typeface="Space Grotesk"/>
                <a:sym typeface="Space Grotesk"/>
              </a:rPr>
              <a:t>4 · Join</a:t>
            </a:r>
            <a:endParaRPr b="0" i="0" spc="0" sz="1500" u="none" cap="none" strike="noStrike">
              <a:solidFill>
                <a:srgbClr val="3D3947"/>
              </a:solidFill>
              <a:latin typeface="Calibri"/>
              <a:ea typeface="Calibri"/>
              <a:cs typeface="Calibri"/>
              <a:sym typeface="Calibri"/>
            </a:endParaRPr>
          </a:p>
        </p:txBody>
      </p:sp>
      <p:sp>
        <p:nvSpPr>
          <p:cNvPr id="336" name="Google Shape;336;p10"/>
          <p:cNvSpPr/>
          <p:nvPr/>
        </p:nvSpPr>
        <p:spPr>
          <a:xfrm>
            <a:off x="3840480"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GROUP BY, HAVING, CASE WHEN. Data Story 2: are sets getting bigger?</a:t>
            </a:r>
            <a:endParaRPr b="0" i="0" spc="0" sz="1100" u="none" cap="none" strike="noStrike">
              <a:solidFill>
                <a:srgbClr val="3D3947"/>
              </a:solidFill>
              <a:latin typeface="Calibri"/>
              <a:ea typeface="Calibri"/>
              <a:cs typeface="Calibri"/>
              <a:sym typeface="Calibri"/>
            </a:endParaRPr>
          </a:p>
        </p:txBody>
      </p:sp>
      <p:sp>
        <p:nvSpPr>
          <p:cNvPr id="915" name="Week3 shape 915"/>
          <p:cNvSpPr/>
          <p:nvPr/>
        </p:nvSpPr>
        <p:spPr>
          <a:xfrm>
            <a:off x="7068312"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WITH, the order SQL runs in, common mistakes.</a:t>
            </a:r>
            <a:endParaRPr b="0" i="0" spc="0" sz="1100" u="none" cap="none" strike="noStrike">
              <a:solidFill>
                <a:srgbClr val="3D3947"/>
              </a:solidFill>
              <a:latin typeface="Calibri"/>
              <a:ea typeface="Calibri"/>
              <a:cs typeface="Calibri"/>
              <a:sym typeface="Calibri"/>
            </a:endParaRPr>
          </a:p>
        </p:txBody>
      </p:sp>
      <p:sp>
        <p:nvSpPr>
          <p:cNvPr id="912" name="Week3 shape 912"/>
          <p:cNvSpPr/>
          <p:nvPr/>
        </p:nvSpPr>
        <p:spPr>
          <a:xfrm>
            <a:off x="5454396" y="2611213"/>
            <a:ext cx="146304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Combine tables. Data Stories 3 and 4: themes and colors.</a:t>
            </a:r>
            <a:endParaRPr b="0" i="0" spc="0" sz="1100" u="none" cap="none" strike="noStrike">
              <a:solidFill>
                <a:srgbClr val="3D3947"/>
              </a:solidFill>
              <a:latin typeface="Calibri"/>
              <a:ea typeface="Calibri"/>
              <a:cs typeface="Calibri"/>
              <a:sym typeface="Calibri"/>
            </a:endParaRPr>
          </a:p>
        </p:txBody>
      </p:sp>
      <p:pic>
        <p:nvPicPr>
          <p:cNvPr id="337" name="Google Shape;337;p10"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338" name="Google Shape;338;p10"/>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700" u="none" cap="none" strike="noStrike">
                <a:solidFill>
                  <a:srgbClr val="625D6E"/>
                </a:solidFill>
                <a:latin typeface="Inter"/>
                <a:ea typeface="Inter"/>
                <a:cs typeface="Inter"/>
                <a:sym typeface="Inter"/>
              </a:rPr>
              <a:t>Data Science Bootcamp · Fall 2026</a:t>
            </a:r>
            <a:endParaRPr b="0" i="0" spc="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DCCB"/>
            </a:gs>
            <a:gs pos="100000">
              <a:srgbClr val="C3C9FA"/>
            </a:gs>
          </a:gsLst>
          <a:path path="circle">
            <a:fillToRect b="0%" l="0%" r="100%" t="100%"/>
          </a:path>
          <a:tileRect b="-100%" l="-100%" r="0%" t="0%"/>
        </a:gradFill>
      </p:bgPr>
    </p:bg>
    <p:spTree>
      <p:nvGrpSpPr>
        <p:cNvPr id="326" name="Shape 326"/>
        <p:cNvGrpSpPr/>
        <p:nvPr/>
      </p:nvGrpSpPr>
      <p:grpSpPr>
        <a:xfrm>
          <a:off x="0" y="0"/>
          <a:ext cx="0" cy="0"/>
          <a:chOff x="0" y="0"/>
          <a:chExt cx="0" cy="0"/>
        </a:xfrm>
      </p:grpSpPr>
      <p:sp>
        <p:nvSpPr>
          <p:cNvPr id="327" name="Google Shape;327;p10"/>
          <p:cNvSpPr/>
          <p:nvPr/>
        </p:nvSpPr>
        <p:spPr>
          <a:xfrm>
            <a:off x="609591" y="609591"/>
            <a:ext cx="8162564" cy="396236"/>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6F4EF"/>
              </a:buClr>
              <a:buSzPts val="2700"/>
              <a:buFont typeface="Space Grotesk"/>
              <a:buNone/>
            </a:pPr>
            <a:r>
              <a:rPr b="1" i="0" lang="en" spc="0" sz="2700" u="none" cap="none" strike="noStrike">
                <a:solidFill>
                  <a:schemeClr val="dk1"/>
                </a:solidFill>
                <a:latin typeface="Space Grotesk"/>
                <a:ea typeface="Space Grotesk"/>
                <a:cs typeface="Space Grotesk"/>
                <a:sym typeface="Space Grotesk"/>
              </a:rPr>
              <a:t>Before next week</a:t>
            </a:r>
            <a:endParaRPr b="0" i="0" spc="0" sz="2700" u="none" cap="none" strike="noStrike">
              <a:solidFill>
                <a:schemeClr val="dk1"/>
              </a:solidFill>
              <a:latin typeface="Calibri"/>
              <a:ea typeface="Calibri"/>
              <a:cs typeface="Calibri"/>
              <a:sym typeface="Calibri"/>
            </a:endParaRPr>
          </a:p>
        </p:txBody>
      </p:sp>
      <p:cxnSp>
        <p:nvCxnSpPr>
          <p:cNvPr id="328" name="Google Shape;328;p10"/>
          <p:cNvCxnSpPr/>
          <p:nvPr/>
        </p:nvCxnSpPr>
        <p:spPr>
          <a:xfrm>
            <a:off x="609591"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29" name="Google Shape;329;p10"/>
          <p:cNvSpPr/>
          <p:nvPr/>
        </p:nvSpPr>
        <p:spPr>
          <a:xfrm>
            <a:off x="609591"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500" u="none" cap="none" strike="noStrike">
                <a:solidFill>
                  <a:srgbClr val="3D3947"/>
                </a:solidFill>
                <a:latin typeface="Space Grotesk"/>
                <a:ea typeface="Space Grotesk"/>
                <a:cs typeface="Space Grotesk"/>
                <a:sym typeface="Space Grotesk"/>
              </a:rPr>
              <a:t>Take-home</a:t>
            </a:r>
            <a:endParaRPr b="0" i="0" spc="0" sz="1500" u="none" cap="none" strike="noStrike">
              <a:solidFill>
                <a:srgbClr val="3D3947"/>
              </a:solidFill>
              <a:latin typeface="Calibri"/>
              <a:ea typeface="Calibri"/>
              <a:cs typeface="Calibri"/>
              <a:sym typeface="Calibri"/>
            </a:endParaRPr>
          </a:p>
        </p:txBody>
      </p:sp>
      <p:sp>
        <p:nvSpPr>
          <p:cNvPr id="330" name="Google Shape;330;p10"/>
          <p:cNvSpPr/>
          <p:nvPr/>
        </p:nvSpPr>
        <p:spPr>
          <a:xfrm>
            <a:off x="609600" y="2611213"/>
            <a:ext cx="2616300" cy="122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Exercises 1 to 6 in today's notebook. Submit on Brightspace within one week, by 11:59 PM.</a:t>
            </a:r>
            <a:endParaRPr b="0" i="0" spc="0" sz="1100" u="none" cap="none" strike="noStrike">
              <a:solidFill>
                <a:srgbClr val="3D3947"/>
              </a:solidFill>
              <a:latin typeface="Calibri"/>
              <a:ea typeface="Calibri"/>
              <a:cs typeface="Calibri"/>
              <a:sym typeface="Calibri"/>
            </a:endParaRPr>
          </a:p>
        </p:txBody>
      </p:sp>
      <p:cxnSp>
        <p:nvCxnSpPr>
          <p:cNvPr id="331" name="Google Shape;331;p10"/>
          <p:cNvCxnSpPr/>
          <p:nvPr/>
        </p:nvCxnSpPr>
        <p:spPr>
          <a:xfrm>
            <a:off x="3301985"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32" name="Google Shape;332;p10"/>
          <p:cNvSpPr/>
          <p:nvPr/>
        </p:nvSpPr>
        <p:spPr>
          <a:xfrm>
            <a:off x="3301985"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500" u="none" cap="none" strike="noStrike">
                <a:solidFill>
                  <a:srgbClr val="3D3947"/>
                </a:solidFill>
                <a:latin typeface="Space Grotesk"/>
                <a:ea typeface="Space Grotesk"/>
                <a:cs typeface="Space Grotesk"/>
                <a:sym typeface="Space Grotesk"/>
              </a:rPr>
              <a:t>Feedback form</a:t>
            </a:r>
            <a:endParaRPr b="0" i="0" spc="0" sz="1500" u="none" cap="none" strike="noStrike">
              <a:solidFill>
                <a:srgbClr val="3D3947"/>
              </a:solidFill>
              <a:latin typeface="Calibri"/>
              <a:ea typeface="Calibri"/>
              <a:cs typeface="Calibri"/>
              <a:sym typeface="Calibri"/>
            </a:endParaRPr>
          </a:p>
        </p:txBody>
      </p:sp>
      <p:sp>
        <p:nvSpPr>
          <p:cNvPr id="333" name="Google Shape;333;p10"/>
          <p:cNvSpPr/>
          <p:nvPr/>
        </p:nvSpPr>
        <p:spPr>
          <a:xfrm>
            <a:off x="3301987" y="2611213"/>
            <a:ext cx="2616300" cy="830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Fill it out after today's session. It counts toward your credential.</a:t>
            </a:r>
            <a:endParaRPr b="0" i="0" spc="0" sz="1100" u="none" cap="none" strike="noStrike">
              <a:solidFill>
                <a:srgbClr val="3D3947"/>
              </a:solidFill>
              <a:latin typeface="Calibri"/>
              <a:ea typeface="Calibri"/>
              <a:cs typeface="Calibri"/>
              <a:sym typeface="Calibri"/>
            </a:endParaRPr>
          </a:p>
        </p:txBody>
      </p:sp>
      <p:cxnSp>
        <p:nvCxnSpPr>
          <p:cNvPr id="334" name="Google Shape;334;p10"/>
          <p:cNvCxnSpPr/>
          <p:nvPr/>
        </p:nvCxnSpPr>
        <p:spPr>
          <a:xfrm>
            <a:off x="5994378" y="2145767"/>
            <a:ext cx="2540031" cy="0"/>
          </a:xfrm>
          <a:prstGeom prst="straightConnector1">
            <a:avLst/>
          </a:prstGeom>
          <a:noFill/>
          <a:ln cap="flat" cmpd="sng" w="25400">
            <a:solidFill>
              <a:srgbClr val="FDFCFA"/>
            </a:solidFill>
            <a:prstDash val="solid"/>
            <a:round/>
            <a:headEnd len="sm" w="sm" type="none"/>
            <a:tailEnd len="sm" w="sm" type="none"/>
          </a:ln>
        </p:spPr>
      </p:cxnSp>
      <p:sp>
        <p:nvSpPr>
          <p:cNvPr id="335" name="Google Shape;335;p10"/>
          <p:cNvSpPr/>
          <p:nvPr/>
        </p:nvSpPr>
        <p:spPr>
          <a:xfrm>
            <a:off x="5994378" y="2306464"/>
            <a:ext cx="2616232" cy="2476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F"/>
              </a:buClr>
              <a:buSzPts val="1500"/>
              <a:buFont typeface="Space Grotesk"/>
              <a:buNone/>
            </a:pPr>
            <a:r>
              <a:rPr b="1" i="0" lang="en" spc="0" sz="1500" u="none" cap="none" strike="noStrike">
                <a:solidFill>
                  <a:srgbClr val="3D3947"/>
                </a:solidFill>
                <a:latin typeface="Space Grotesk"/>
                <a:ea typeface="Space Grotesk"/>
                <a:cs typeface="Space Grotesk"/>
                <a:sym typeface="Space Grotesk"/>
              </a:rPr>
              <a:t>Week 5: Presentations</a:t>
            </a:r>
            <a:endParaRPr b="0" i="0" spc="0" sz="1500" u="none" cap="none" strike="noStrike">
              <a:solidFill>
                <a:srgbClr val="3D3947"/>
              </a:solidFill>
              <a:latin typeface="Calibri"/>
              <a:ea typeface="Calibri"/>
              <a:cs typeface="Calibri"/>
              <a:sym typeface="Calibri"/>
            </a:endParaRPr>
          </a:p>
        </p:txBody>
      </p:sp>
      <p:sp>
        <p:nvSpPr>
          <p:cNvPr id="336" name="Google Shape;336;p10"/>
          <p:cNvSpPr/>
          <p:nvPr/>
        </p:nvSpPr>
        <p:spPr>
          <a:xfrm>
            <a:off x="5994374" y="2611213"/>
            <a:ext cx="2616300" cy="122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D3E4"/>
              </a:buClr>
              <a:buSzPts val="1100"/>
              <a:buFont typeface="Inter"/>
              <a:buNone/>
            </a:pPr>
            <a:r>
              <a:rPr b="0" i="0" lang="en" spc="0" sz="1100" u="none" cap="none" strike="noStrike">
                <a:solidFill>
                  <a:srgbClr val="3D3947"/>
                </a:solidFill>
                <a:latin typeface="Inter"/>
                <a:ea typeface="Inter"/>
                <a:cs typeface="Inter"/>
                <a:sym typeface="Inter"/>
              </a:rPr>
              <a:t>Mid-program project presentations and feedback. Tue Oct 27 / Thu Oct 29.</a:t>
            </a:r>
            <a:endParaRPr b="0" i="0" spc="0" sz="1100" u="none" cap="none" strike="noStrike">
              <a:solidFill>
                <a:srgbClr val="3D3947"/>
              </a:solidFill>
              <a:latin typeface="Calibri"/>
              <a:ea typeface="Calibri"/>
              <a:cs typeface="Calibri"/>
              <a:sym typeface="Calibri"/>
            </a:endParaRPr>
          </a:p>
        </p:txBody>
      </p:sp>
      <p:pic>
        <p:nvPicPr>
          <p:cNvPr id="337" name="Google Shape;337;p10" title="NYUTandon_LongLogo_Black.png"/>
          <p:cNvPicPr preferRelativeResize="0"/>
          <p:nvPr/>
        </p:nvPicPr>
        <p:blipFill rotWithShape="1">
          <a:blip r:embed="rId3">
            <a:alphaModFix/>
          </a:blip>
          <a:srcRect b="0" l="0" r="0" t="0"/>
          <a:stretch/>
        </p:blipFill>
        <p:spPr>
          <a:xfrm>
            <a:off x="118474" y="96475"/>
            <a:ext cx="1826033" cy="287100"/>
          </a:xfrm>
          <a:prstGeom prst="rect">
            <a:avLst/>
          </a:prstGeom>
          <a:noFill/>
          <a:ln>
            <a:noFill/>
          </a:ln>
        </p:spPr>
      </p:pic>
      <p:sp>
        <p:nvSpPr>
          <p:cNvPr id="338" name="Google Shape;338;p10"/>
          <p:cNvSpPr/>
          <p:nvPr/>
        </p:nvSpPr>
        <p:spPr>
          <a:xfrm>
            <a:off x="118466" y="4891241"/>
            <a:ext cx="1947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25D6E"/>
              </a:buClr>
              <a:buSzPts val="900"/>
              <a:buFont typeface="Inter"/>
              <a:buNone/>
            </a:pPr>
            <a:r>
              <a:rPr b="0" i="0" lang="en" spc="0" sz="700" u="none" cap="none" strike="noStrike">
                <a:solidFill>
                  <a:srgbClr val="625D6E"/>
                </a:solidFill>
                <a:latin typeface="Inter"/>
                <a:ea typeface="Inter"/>
                <a:cs typeface="Inter"/>
                <a:sym typeface="Inter"/>
              </a:rPr>
              <a:t>Data Science Bootcamp · Fall 2026</a:t>
            </a:r>
            <a:endParaRPr b="0" i="0" spc="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04301B5B-FF13-45A7-9A74-805ACFAA37EC}"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1 · RELATIONAL DATABASES</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Eight tables, linked by keys</a:t>
            </a:r>
          </a:p>
        </p:txBody>
      </p:sp>
      <p:sp>
        <p:nvSpPr>
          <p:cNvPr id="2006" name="Table themes"/>
          <p:cNvSpPr/>
          <p:nvPr/>
        </p:nvSpPr>
        <p:spPr>
          <a:xfrm>
            <a:off x="612648" y="1325880"/>
            <a:ext cx="1389888"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07" name="Text"/>
          <p:cNvSpPr txBox="1"/>
          <p:nvPr/>
        </p:nvSpPr>
        <p:spPr>
          <a:xfrm>
            <a:off x="722376" y="1417320"/>
            <a:ext cx="1207008"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1" i="0" dirty="0">
                <a:solidFill>
                  <a:srgbClr val="351C75"/>
                </a:solidFill>
                <a:latin typeface="Courier New"/>
                <a:ea typeface="Courier New"/>
                <a:cs typeface="Courier New"/>
                <a:sym typeface="Courier New"/>
              </a:rPr>
              <a:t>themes</a:t>
            </a:r>
          </a:p>
        </p:txBody>
      </p:sp>
      <p:sp>
        <p:nvSpPr>
          <p:cNvPr id="2008" name="Text"/>
          <p:cNvSpPr txBox="1"/>
          <p:nvPr/>
        </p:nvSpPr>
        <p:spPr>
          <a:xfrm>
            <a:off x="722376" y="1655064"/>
            <a:ext cx="1243584" cy="38404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850" b="1" i="0" dirty="0">
                <a:solidFill>
                  <a:srgbClr val="1D1B24"/>
                </a:solidFill>
                <a:latin typeface="Courier New"/>
                <a:ea typeface="Courier New"/>
                <a:cs typeface="Courier New"/>
                <a:sym typeface="Courier New"/>
              </a:rPr>
              <a:t>id</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name</a:t>
            </a:r>
          </a:p>
          <a:p>
            <a:pPr marL="0" indent="0" algn="l">
              <a:lnSpc>
                <a:spcPct val="115000"/>
              </a:lnSpc>
              <a:spcBef>
                <a:spcPts val="0"/>
              </a:spcBef>
              <a:spcAft>
                <a:spcPts val="0"/>
              </a:spcAft>
              <a:buNone/>
            </a:pPr>
            <a:r>
              <a:rPr lang="en-US" sz="850" b="1" i="0" dirty="0">
                <a:solidFill>
                  <a:srgbClr val="5A2D8C"/>
                </a:solidFill>
                <a:latin typeface="Courier New"/>
                <a:ea typeface="Courier New"/>
                <a:cs typeface="Courier New"/>
                <a:sym typeface="Courier New"/>
              </a:rPr>
              <a:t>parent_id</a:t>
            </a:r>
          </a:p>
        </p:txBody>
      </p:sp>
      <p:sp>
        <p:nvSpPr>
          <p:cNvPr id="2009" name="Table sets"/>
          <p:cNvSpPr/>
          <p:nvPr/>
        </p:nvSpPr>
        <p:spPr>
          <a:xfrm>
            <a:off x="2368296" y="1325880"/>
            <a:ext cx="1389888"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0" name="Text"/>
          <p:cNvSpPr txBox="1"/>
          <p:nvPr/>
        </p:nvSpPr>
        <p:spPr>
          <a:xfrm>
            <a:off x="2478024" y="1417320"/>
            <a:ext cx="1207008"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1" i="0" dirty="0">
                <a:solidFill>
                  <a:srgbClr val="351C75"/>
                </a:solidFill>
                <a:latin typeface="Courier New"/>
                <a:ea typeface="Courier New"/>
                <a:cs typeface="Courier New"/>
                <a:sym typeface="Courier New"/>
              </a:rPr>
              <a:t>sets</a:t>
            </a:r>
          </a:p>
        </p:txBody>
      </p:sp>
      <p:sp>
        <p:nvSpPr>
          <p:cNvPr id="2011" name="Text"/>
          <p:cNvSpPr txBox="1"/>
          <p:nvPr/>
        </p:nvSpPr>
        <p:spPr>
          <a:xfrm>
            <a:off x="2478024" y="1655064"/>
            <a:ext cx="1243584" cy="38404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850" b="1" i="0" dirty="0">
                <a:solidFill>
                  <a:srgbClr val="1D1B24"/>
                </a:solidFill>
                <a:latin typeface="Courier New"/>
                <a:ea typeface="Courier New"/>
                <a:cs typeface="Courier New"/>
                <a:sym typeface="Courier New"/>
              </a:rPr>
              <a:t>set_num</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year</a:t>
            </a:r>
          </a:p>
          <a:p>
            <a:pPr marL="0" indent="0" algn="l">
              <a:lnSpc>
                <a:spcPct val="115000"/>
              </a:lnSpc>
              <a:spcBef>
                <a:spcPts val="0"/>
              </a:spcBef>
              <a:spcAft>
                <a:spcPts val="0"/>
              </a:spcAft>
              <a:buNone/>
            </a:pPr>
            <a:r>
              <a:rPr lang="en-US" sz="850" b="1" i="0" dirty="0">
                <a:solidFill>
                  <a:srgbClr val="5A2D8C"/>
                </a:solidFill>
                <a:latin typeface="Courier New"/>
                <a:ea typeface="Courier New"/>
                <a:cs typeface="Courier New"/>
                <a:sym typeface="Courier New"/>
              </a:rPr>
              <a:t>theme_id</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num_parts</a:t>
            </a:r>
          </a:p>
        </p:txBody>
      </p:sp>
      <p:sp>
        <p:nvSpPr>
          <p:cNvPr id="2012" name="Table inventories"/>
          <p:cNvSpPr/>
          <p:nvPr/>
        </p:nvSpPr>
        <p:spPr>
          <a:xfrm>
            <a:off x="4123944" y="1325880"/>
            <a:ext cx="1389888"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3" name="Text"/>
          <p:cNvSpPr txBox="1"/>
          <p:nvPr/>
        </p:nvSpPr>
        <p:spPr>
          <a:xfrm>
            <a:off x="4233672" y="1417320"/>
            <a:ext cx="1207008"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1" i="0" dirty="0">
                <a:solidFill>
                  <a:srgbClr val="351C75"/>
                </a:solidFill>
                <a:latin typeface="Courier New"/>
                <a:ea typeface="Courier New"/>
                <a:cs typeface="Courier New"/>
                <a:sym typeface="Courier New"/>
              </a:rPr>
              <a:t>inventories</a:t>
            </a:r>
          </a:p>
        </p:txBody>
      </p:sp>
      <p:sp>
        <p:nvSpPr>
          <p:cNvPr id="2014" name="Text"/>
          <p:cNvSpPr txBox="1"/>
          <p:nvPr/>
        </p:nvSpPr>
        <p:spPr>
          <a:xfrm>
            <a:off x="4233672" y="1655064"/>
            <a:ext cx="1243584" cy="38404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850" b="1" i="0" dirty="0">
                <a:solidFill>
                  <a:srgbClr val="1D1B24"/>
                </a:solidFill>
                <a:latin typeface="Courier New"/>
                <a:ea typeface="Courier New"/>
                <a:cs typeface="Courier New"/>
                <a:sym typeface="Courier New"/>
              </a:rPr>
              <a:t>id</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version</a:t>
            </a:r>
          </a:p>
          <a:p>
            <a:pPr marL="0" indent="0" algn="l">
              <a:lnSpc>
                <a:spcPct val="115000"/>
              </a:lnSpc>
              <a:spcBef>
                <a:spcPts val="0"/>
              </a:spcBef>
              <a:spcAft>
                <a:spcPts val="0"/>
              </a:spcAft>
              <a:buNone/>
            </a:pPr>
            <a:r>
              <a:rPr lang="en-US" sz="850" b="1" i="0" dirty="0">
                <a:solidFill>
                  <a:srgbClr val="5A2D8C"/>
                </a:solidFill>
                <a:latin typeface="Courier New"/>
                <a:ea typeface="Courier New"/>
                <a:cs typeface="Courier New"/>
                <a:sym typeface="Courier New"/>
              </a:rPr>
              <a:t>set_num</a:t>
            </a:r>
          </a:p>
        </p:txBody>
      </p:sp>
      <p:sp>
        <p:nvSpPr>
          <p:cNvPr id="2015" name="Table part_categories"/>
          <p:cNvSpPr/>
          <p:nvPr/>
        </p:nvSpPr>
        <p:spPr>
          <a:xfrm>
            <a:off x="612648" y="2441448"/>
            <a:ext cx="1389888"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6" name="Text"/>
          <p:cNvSpPr txBox="1"/>
          <p:nvPr/>
        </p:nvSpPr>
        <p:spPr>
          <a:xfrm>
            <a:off x="722376" y="2532888"/>
            <a:ext cx="1207008"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1" i="0" dirty="0">
                <a:solidFill>
                  <a:srgbClr val="351C75"/>
                </a:solidFill>
                <a:latin typeface="Courier New"/>
                <a:ea typeface="Courier New"/>
                <a:cs typeface="Courier New"/>
                <a:sym typeface="Courier New"/>
              </a:rPr>
              <a:t>part_categories</a:t>
            </a:r>
          </a:p>
        </p:txBody>
      </p:sp>
      <p:sp>
        <p:nvSpPr>
          <p:cNvPr id="2017" name="Text"/>
          <p:cNvSpPr txBox="1"/>
          <p:nvPr/>
        </p:nvSpPr>
        <p:spPr>
          <a:xfrm>
            <a:off x="722376" y="2770632"/>
            <a:ext cx="1243584" cy="38404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850" b="1" i="0" dirty="0">
                <a:solidFill>
                  <a:srgbClr val="1D1B24"/>
                </a:solidFill>
                <a:latin typeface="Courier New"/>
                <a:ea typeface="Courier New"/>
                <a:cs typeface="Courier New"/>
                <a:sym typeface="Courier New"/>
              </a:rPr>
              <a:t>id</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name</a:t>
            </a:r>
          </a:p>
        </p:txBody>
      </p:sp>
      <p:sp>
        <p:nvSpPr>
          <p:cNvPr id="2018" name="Table parts"/>
          <p:cNvSpPr/>
          <p:nvPr/>
        </p:nvSpPr>
        <p:spPr>
          <a:xfrm>
            <a:off x="2368296" y="2441448"/>
            <a:ext cx="1389888"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9" name="Text"/>
          <p:cNvSpPr txBox="1"/>
          <p:nvPr/>
        </p:nvSpPr>
        <p:spPr>
          <a:xfrm>
            <a:off x="2478024" y="2532888"/>
            <a:ext cx="1207008"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1" i="0" dirty="0">
                <a:solidFill>
                  <a:srgbClr val="351C75"/>
                </a:solidFill>
                <a:latin typeface="Courier New"/>
                <a:ea typeface="Courier New"/>
                <a:cs typeface="Courier New"/>
                <a:sym typeface="Courier New"/>
              </a:rPr>
              <a:t>parts</a:t>
            </a:r>
          </a:p>
        </p:txBody>
      </p:sp>
      <p:sp>
        <p:nvSpPr>
          <p:cNvPr id="2020" name="Text"/>
          <p:cNvSpPr txBox="1"/>
          <p:nvPr/>
        </p:nvSpPr>
        <p:spPr>
          <a:xfrm>
            <a:off x="2478024" y="2770632"/>
            <a:ext cx="1243584" cy="38404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850" b="1" i="0" dirty="0">
                <a:solidFill>
                  <a:srgbClr val="1D1B24"/>
                </a:solidFill>
                <a:latin typeface="Courier New"/>
                <a:ea typeface="Courier New"/>
                <a:cs typeface="Courier New"/>
                <a:sym typeface="Courier New"/>
              </a:rPr>
              <a:t>part_num</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name</a:t>
            </a:r>
          </a:p>
          <a:p>
            <a:pPr marL="0" indent="0" algn="l">
              <a:lnSpc>
                <a:spcPct val="115000"/>
              </a:lnSpc>
              <a:spcBef>
                <a:spcPts val="0"/>
              </a:spcBef>
              <a:spcAft>
                <a:spcPts val="0"/>
              </a:spcAft>
              <a:buNone/>
            </a:pPr>
            <a:r>
              <a:rPr lang="en-US" sz="850" b="1" i="0" dirty="0">
                <a:solidFill>
                  <a:srgbClr val="5A2D8C"/>
                </a:solidFill>
                <a:latin typeface="Courier New"/>
                <a:ea typeface="Courier New"/>
                <a:cs typeface="Courier New"/>
                <a:sym typeface="Courier New"/>
              </a:rPr>
              <a:t>part_cat_id</a:t>
            </a:r>
          </a:p>
        </p:txBody>
      </p:sp>
      <p:sp>
        <p:nvSpPr>
          <p:cNvPr id="2021" name="Table inventory_parts"/>
          <p:cNvSpPr/>
          <p:nvPr/>
        </p:nvSpPr>
        <p:spPr>
          <a:xfrm>
            <a:off x="4123944" y="2441448"/>
            <a:ext cx="1389888"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2" name="Text"/>
          <p:cNvSpPr txBox="1"/>
          <p:nvPr/>
        </p:nvSpPr>
        <p:spPr>
          <a:xfrm>
            <a:off x="4233672" y="2532888"/>
            <a:ext cx="1207008"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1" i="0" dirty="0">
                <a:solidFill>
                  <a:srgbClr val="351C75"/>
                </a:solidFill>
                <a:latin typeface="Courier New"/>
                <a:ea typeface="Courier New"/>
                <a:cs typeface="Courier New"/>
                <a:sym typeface="Courier New"/>
              </a:rPr>
              <a:t>inventory_parts</a:t>
            </a:r>
          </a:p>
        </p:txBody>
      </p:sp>
      <p:sp>
        <p:nvSpPr>
          <p:cNvPr id="2023" name="Text"/>
          <p:cNvSpPr txBox="1"/>
          <p:nvPr/>
        </p:nvSpPr>
        <p:spPr>
          <a:xfrm>
            <a:off x="4233672" y="2770632"/>
            <a:ext cx="1243584" cy="38404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850" b="1" i="0" dirty="0">
                <a:solidFill>
                  <a:srgbClr val="5A2D8C"/>
                </a:solidFill>
                <a:latin typeface="Courier New"/>
                <a:ea typeface="Courier New"/>
                <a:cs typeface="Courier New"/>
                <a:sym typeface="Courier New"/>
              </a:rPr>
              <a:t>inventory_id</a:t>
            </a:r>
          </a:p>
          <a:p>
            <a:pPr marL="0" indent="0" algn="l">
              <a:lnSpc>
                <a:spcPct val="115000"/>
              </a:lnSpc>
              <a:spcBef>
                <a:spcPts val="0"/>
              </a:spcBef>
              <a:spcAft>
                <a:spcPts val="0"/>
              </a:spcAft>
              <a:buNone/>
            </a:pPr>
            <a:r>
              <a:rPr lang="en-US" sz="850" b="1" i="0" dirty="0">
                <a:solidFill>
                  <a:srgbClr val="5A2D8C"/>
                </a:solidFill>
                <a:latin typeface="Courier New"/>
                <a:ea typeface="Courier New"/>
                <a:cs typeface="Courier New"/>
                <a:sym typeface="Courier New"/>
              </a:rPr>
              <a:t>part_num</a:t>
            </a:r>
            <a:r>
              <a:rPr lang="en-US" sz="850" b="0" i="0" dirty="0">
                <a:solidFill>
                  <a:srgbClr val="625D6E"/>
                </a:solidFill>
                <a:latin typeface="Courier New"/>
                <a:ea typeface="Courier New"/>
                <a:cs typeface="Courier New"/>
                <a:sym typeface="Courier New"/>
              </a:rPr>
              <a:t xml:space="preserve">  </a:t>
            </a:r>
            <a:r>
              <a:rPr lang="en-US" sz="850" b="1" i="0" dirty="0">
                <a:solidFill>
                  <a:srgbClr val="5A2D8C"/>
                </a:solidFill>
                <a:latin typeface="Courier New"/>
                <a:ea typeface="Courier New"/>
                <a:cs typeface="Courier New"/>
                <a:sym typeface="Courier New"/>
              </a:rPr>
              <a:t>color_id</a:t>
            </a:r>
          </a:p>
        </p:txBody>
      </p:sp>
      <p:sp>
        <p:nvSpPr>
          <p:cNvPr id="2024" name="Table colors"/>
          <p:cNvSpPr/>
          <p:nvPr/>
        </p:nvSpPr>
        <p:spPr>
          <a:xfrm>
            <a:off x="4123944" y="3557016"/>
            <a:ext cx="1389888"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5" name="Text"/>
          <p:cNvSpPr txBox="1"/>
          <p:nvPr/>
        </p:nvSpPr>
        <p:spPr>
          <a:xfrm>
            <a:off x="4233672" y="3648456"/>
            <a:ext cx="1207008"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1" i="0" dirty="0">
                <a:solidFill>
                  <a:srgbClr val="351C75"/>
                </a:solidFill>
                <a:latin typeface="Courier New"/>
                <a:ea typeface="Courier New"/>
                <a:cs typeface="Courier New"/>
                <a:sym typeface="Courier New"/>
              </a:rPr>
              <a:t>colors</a:t>
            </a:r>
          </a:p>
        </p:txBody>
      </p:sp>
      <p:sp>
        <p:nvSpPr>
          <p:cNvPr id="2026" name="Text"/>
          <p:cNvSpPr txBox="1"/>
          <p:nvPr/>
        </p:nvSpPr>
        <p:spPr>
          <a:xfrm>
            <a:off x="4233672" y="3886200"/>
            <a:ext cx="1243584" cy="38404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850" b="1" i="0" dirty="0">
                <a:solidFill>
                  <a:srgbClr val="1D1B24"/>
                </a:solidFill>
                <a:latin typeface="Courier New"/>
                <a:ea typeface="Courier New"/>
                <a:cs typeface="Courier New"/>
                <a:sym typeface="Courier New"/>
              </a:rPr>
              <a:t>id</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name</a:t>
            </a:r>
          </a:p>
          <a:p>
            <a:pPr marL="0" indent="0" algn="l">
              <a:lnSpc>
                <a:spcPct val="115000"/>
              </a:lnSpc>
              <a:spcBef>
                <a:spcPts val="0"/>
              </a:spcBef>
              <a:spcAft>
                <a:spcPts val="0"/>
              </a:spcAft>
              <a:buNone/>
            </a:pPr>
            <a:r>
              <a:rPr lang="en-US" sz="850" b="0" i="0" dirty="0">
                <a:solidFill>
                  <a:srgbClr val="625D6E"/>
                </a:solidFill>
                <a:latin typeface="Courier New"/>
                <a:ea typeface="Courier New"/>
                <a:cs typeface="Courier New"/>
                <a:sym typeface="Courier New"/>
              </a:rPr>
              <a:t>rgb</a:t>
            </a:r>
            <a:r>
              <a:rPr lang="en-US" sz="850" b="0" i="0" dirty="0">
                <a:solidFill>
                  <a:srgbClr val="625D6E"/>
                </a:solidFill>
                <a:latin typeface="Courier New"/>
                <a:ea typeface="Courier New"/>
                <a:cs typeface="Courier New"/>
                <a:sym typeface="Courier New"/>
              </a:rPr>
              <a:t xml:space="preserve">  </a:t>
            </a:r>
            <a:r>
              <a:rPr lang="en-US" sz="850" b="0" i="0" dirty="0">
                <a:solidFill>
                  <a:srgbClr val="625D6E"/>
                </a:solidFill>
                <a:latin typeface="Courier New"/>
                <a:ea typeface="Courier New"/>
                <a:cs typeface="Courier New"/>
                <a:sym typeface="Courier New"/>
              </a:rPr>
              <a:t>is_trans</a:t>
            </a:r>
          </a:p>
        </p:txBody>
      </p:sp>
      <p:sp>
        <p:nvSpPr>
          <p:cNvPr id="2027" name="Arrow"/>
          <p:cNvSpPr/>
          <p:nvPr/>
        </p:nvSpPr>
        <p:spPr>
          <a:xfrm>
            <a:off x="2093976" y="1591056"/>
            <a:ext cx="182880" cy="201168"/>
          </a:xfrm>
          <a:prstGeom prst="lef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8" name="Arrow"/>
          <p:cNvSpPr/>
          <p:nvPr/>
        </p:nvSpPr>
        <p:spPr>
          <a:xfrm>
            <a:off x="3849624" y="1591056"/>
            <a:ext cx="182880" cy="201168"/>
          </a:xfrm>
          <a:prstGeom prst="lef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9" name="Arrow"/>
          <p:cNvSpPr/>
          <p:nvPr/>
        </p:nvSpPr>
        <p:spPr>
          <a:xfrm>
            <a:off x="2093976" y="2706624"/>
            <a:ext cx="182880" cy="201168"/>
          </a:xfrm>
          <a:prstGeom prst="lef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0" name="Arrow"/>
          <p:cNvSpPr/>
          <p:nvPr/>
        </p:nvSpPr>
        <p:spPr>
          <a:xfrm>
            <a:off x="3849624" y="2706624"/>
            <a:ext cx="182880" cy="201168"/>
          </a:xfrm>
          <a:prstGeom prst="lef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1" name="Arrow"/>
          <p:cNvSpPr/>
          <p:nvPr/>
        </p:nvSpPr>
        <p:spPr>
          <a:xfrm>
            <a:off x="4718304" y="2148840"/>
            <a:ext cx="201168" cy="201168"/>
          </a:xfrm>
          <a:prstGeom prst="up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2" name="Arrow"/>
          <p:cNvSpPr/>
          <p:nvPr/>
        </p:nvSpPr>
        <p:spPr>
          <a:xfrm>
            <a:off x="4718304" y="3264408"/>
            <a:ext cx="201168" cy="201168"/>
          </a:xfrm>
          <a:prstGeom prst="down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3" name="Why split"/>
          <p:cNvSpPr/>
          <p:nvPr/>
        </p:nvSpPr>
        <p:spPr>
          <a:xfrm>
            <a:off x="612648" y="3557016"/>
            <a:ext cx="3145536" cy="73152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4" name="Text"/>
          <p:cNvSpPr txBox="1"/>
          <p:nvPr/>
        </p:nvSpPr>
        <p:spPr>
          <a:xfrm>
            <a:off x="749808" y="3648456"/>
            <a:ext cx="685800" cy="548640"/>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2600" b="1" i="0" dirty="0">
                <a:solidFill>
                  <a:srgbClr val="5A2D8C"/>
                </a:solidFill>
                <a:latin typeface="Space Grotesk"/>
                <a:ea typeface="Space Grotesk"/>
                <a:cs typeface="Space Grotesk"/>
                <a:sym typeface="Space Grotesk"/>
              </a:rPr>
              <a:t>23</a:t>
            </a:r>
          </a:p>
        </p:txBody>
      </p:sp>
      <p:sp>
        <p:nvSpPr>
          <p:cNvPr id="2035" name="Text"/>
          <p:cNvSpPr txBox="1"/>
          <p:nvPr/>
        </p:nvSpPr>
        <p:spPr>
          <a:xfrm>
            <a:off x="1389888" y="3666744"/>
            <a:ext cx="2240280" cy="530352"/>
          </a:xfrm>
          <a:prstGeom prst="rect">
            <a:avLst/>
          </a:prstGeom>
          <a:noFill/>
          <a:ln>
            <a:noFill/>
          </a:ln>
        </p:spPr>
        <p:txBody>
          <a:bodyPr wrap="square" lIns="0" tIns="0" rIns="0" bIns="0" anchor="ctr" anchorCtr="0">
            <a:noAutofit/>
          </a:bodyPr>
          <a:lstStyle/>
          <a:p>
            <a:pPr marL="0" indent="0" algn="l">
              <a:lnSpc>
                <a:spcPct val="120000"/>
              </a:lnSpc>
              <a:spcBef>
                <a:spcPts val="0"/>
              </a:spcBef>
              <a:spcAft>
                <a:spcPts val="0"/>
              </a:spcAft>
              <a:buNone/>
            </a:pPr>
            <a:r>
              <a:rPr lang="en-US" sz="950" b="0" i="0" dirty="0">
                <a:solidFill>
                  <a:srgbClr val="3D3947"/>
                </a:solidFill>
                <a:latin typeface="Inter"/>
                <a:ea typeface="Inter"/>
                <a:cs typeface="Inter"/>
                <a:sym typeface="Inter"/>
              </a:rPr>
              <a:t xml:space="preserve">sets point to one theme row: </a:t>
            </a:r>
            <a:r>
              <a:rPr lang="en-US" sz="950" b="1" i="0" dirty="0">
                <a:solidFill>
                  <a:srgbClr val="1D1B24"/>
                </a:solidFill>
                <a:latin typeface="Inter"/>
                <a:ea typeface="Inter"/>
                <a:cs typeface="Inter"/>
                <a:sym typeface="Inter"/>
              </a:rPr>
              <a:t>Sculptures</a:t>
            </a:r>
          </a:p>
          <a:p>
            <a:pPr marL="0" indent="0" algn="l">
              <a:lnSpc>
                <a:spcPct val="120000"/>
              </a:lnSpc>
              <a:spcBef>
                <a:spcPts val="0"/>
              </a:spcBef>
              <a:spcAft>
                <a:spcPts val="0"/>
              </a:spcAft>
              <a:buNone/>
            </a:pPr>
            <a:r>
              <a:rPr lang="en-US" sz="950" b="0" i="0" dirty="0">
                <a:solidFill>
                  <a:srgbClr val="3D3947"/>
                </a:solidFill>
                <a:latin typeface="Inter"/>
                <a:ea typeface="Inter"/>
                <a:cs typeface="Inter"/>
                <a:sym typeface="Inter"/>
              </a:rPr>
              <a:t>Store once, link many times.</a:t>
            </a:r>
          </a:p>
        </p:txBody>
      </p:sp>
      <p:sp>
        <p:nvSpPr>
          <p:cNvPr id="2036" name="Card"/>
          <p:cNvSpPr/>
          <p:nvPr/>
        </p:nvSpPr>
        <p:spPr>
          <a:xfrm>
            <a:off x="5870448" y="1325880"/>
            <a:ext cx="2660904" cy="86868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7" name="Kicker"/>
          <p:cNvSpPr txBox="1"/>
          <p:nvPr/>
        </p:nvSpPr>
        <p:spPr>
          <a:xfrm>
            <a:off x="6016752" y="1417320"/>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PRIMARY KEY</a:t>
            </a:r>
          </a:p>
        </p:txBody>
      </p:sp>
      <p:sp>
        <p:nvSpPr>
          <p:cNvPr id="2038" name="Text"/>
          <p:cNvSpPr txBox="1"/>
          <p:nvPr/>
        </p:nvSpPr>
        <p:spPr>
          <a:xfrm>
            <a:off x="6016752" y="1645920"/>
            <a:ext cx="2386584"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0" i="0" dirty="0">
                <a:solidFill>
                  <a:srgbClr val="1D1B24"/>
                </a:solidFill>
                <a:latin typeface="Courier New"/>
                <a:ea typeface="Courier New"/>
                <a:cs typeface="Courier New"/>
                <a:sym typeface="Courier New"/>
              </a:rPr>
              <a:t>sets.</a:t>
            </a:r>
            <a:r>
              <a:rPr lang="en-US" sz="1050" b="1" i="0" dirty="0">
                <a:solidFill>
                  <a:srgbClr val="1D1B24"/>
                </a:solidFill>
                <a:latin typeface="Courier New"/>
                <a:ea typeface="Courier New"/>
                <a:cs typeface="Courier New"/>
                <a:sym typeface="Courier New"/>
              </a:rPr>
              <a:t>set_num</a:t>
            </a:r>
          </a:p>
        </p:txBody>
      </p:sp>
      <p:sp>
        <p:nvSpPr>
          <p:cNvPr id="2039" name="Text"/>
          <p:cNvSpPr txBox="1"/>
          <p:nvPr/>
        </p:nvSpPr>
        <p:spPr>
          <a:xfrm>
            <a:off x="6016752" y="1883664"/>
            <a:ext cx="2386584"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0" i="0" dirty="0">
                <a:solidFill>
                  <a:srgbClr val="3D3947"/>
                </a:solidFill>
                <a:latin typeface="Inter"/>
                <a:ea typeface="Inter"/>
                <a:cs typeface="Inter"/>
                <a:sym typeface="Inter"/>
              </a:rPr>
              <a:t>one unique value per row</a:t>
            </a:r>
          </a:p>
        </p:txBody>
      </p:sp>
      <p:sp>
        <p:nvSpPr>
          <p:cNvPr id="2040" name="Card"/>
          <p:cNvSpPr/>
          <p:nvPr/>
        </p:nvSpPr>
        <p:spPr>
          <a:xfrm>
            <a:off x="5870448" y="2304288"/>
            <a:ext cx="2660904" cy="86868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41" name="Kicker"/>
          <p:cNvSpPr txBox="1"/>
          <p:nvPr/>
        </p:nvSpPr>
        <p:spPr>
          <a:xfrm>
            <a:off x="6016752" y="2395728"/>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FOREIGN KEY</a:t>
            </a:r>
          </a:p>
        </p:txBody>
      </p:sp>
      <p:sp>
        <p:nvSpPr>
          <p:cNvPr id="2042" name="Text"/>
          <p:cNvSpPr txBox="1"/>
          <p:nvPr/>
        </p:nvSpPr>
        <p:spPr>
          <a:xfrm>
            <a:off x="6016752" y="2624328"/>
            <a:ext cx="2386584"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0" i="0" dirty="0">
                <a:solidFill>
                  <a:srgbClr val="1D1B24"/>
                </a:solidFill>
                <a:latin typeface="Courier New"/>
                <a:ea typeface="Courier New"/>
                <a:cs typeface="Courier New"/>
                <a:sym typeface="Courier New"/>
              </a:rPr>
              <a:t>sets.</a:t>
            </a:r>
            <a:r>
              <a:rPr lang="en-US" sz="1050" b="1" i="0" dirty="0">
                <a:solidFill>
                  <a:srgbClr val="5A2D8C"/>
                </a:solidFill>
                <a:latin typeface="Courier New"/>
                <a:ea typeface="Courier New"/>
                <a:cs typeface="Courier New"/>
                <a:sym typeface="Courier New"/>
              </a:rPr>
              <a:t>theme_id</a:t>
            </a:r>
            <a:r>
              <a:rPr lang="en-US" sz="1050" b="0" i="0" dirty="0">
                <a:solidFill>
                  <a:srgbClr val="1D1B24"/>
                </a:solidFill>
                <a:latin typeface="Courier New"/>
                <a:ea typeface="Courier New"/>
                <a:cs typeface="Courier New"/>
                <a:sym typeface="Courier New"/>
              </a:rPr>
              <a:t xml:space="preserve"> → themes.id</a:t>
            </a:r>
          </a:p>
        </p:txBody>
      </p:sp>
      <p:sp>
        <p:nvSpPr>
          <p:cNvPr id="2043" name="Text"/>
          <p:cNvSpPr txBox="1"/>
          <p:nvPr/>
        </p:nvSpPr>
        <p:spPr>
          <a:xfrm>
            <a:off x="6016752" y="2862072"/>
            <a:ext cx="2386584"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0" i="0" dirty="0">
                <a:solidFill>
                  <a:srgbClr val="3D3947"/>
                </a:solidFill>
                <a:latin typeface="Inter"/>
                <a:ea typeface="Inter"/>
                <a:cs typeface="Inter"/>
                <a:sym typeface="Inter"/>
              </a:rPr>
              <a:t>points to a row in another table</a:t>
            </a:r>
          </a:p>
        </p:txBody>
      </p:sp>
      <p:sp>
        <p:nvSpPr>
          <p:cNvPr id="2044" name="Code card"/>
          <p:cNvSpPr/>
          <p:nvPr/>
        </p:nvSpPr>
        <p:spPr>
          <a:xfrm>
            <a:off x="5870448" y="3282696"/>
            <a:ext cx="2660904" cy="1005840"/>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45" name="Kicker"/>
          <p:cNvSpPr txBox="1"/>
          <p:nvPr/>
        </p:nvSpPr>
        <p:spPr>
          <a:xfrm>
            <a:off x="6016752" y="3374136"/>
            <a:ext cx="2386584"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1" i="0" dirty="0">
                <a:solidFill>
                  <a:srgbClr val="E8A93A"/>
                </a:solidFill>
                <a:latin typeface="Inter"/>
                <a:ea typeface="Inter"/>
                <a:cs typeface="Inter"/>
                <a:sym typeface="Inter"/>
              </a:rPr>
              <a:t>THE TOOL</a:t>
            </a:r>
          </a:p>
        </p:txBody>
      </p:sp>
      <p:sp>
        <p:nvSpPr>
          <p:cNvPr id="2046" name="Code"/>
          <p:cNvSpPr txBox="1"/>
          <p:nvPr/>
        </p:nvSpPr>
        <p:spPr>
          <a:xfrm>
            <a:off x="6016752" y="3593592"/>
            <a:ext cx="2386584" cy="621792"/>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SELECT</a:t>
            </a:r>
            <a:r>
              <a:rPr lang="en-US" sz="950" b="0" i="0" dirty="0">
                <a:solidFill>
                  <a:srgbClr val="F6F4EF"/>
                </a:solidFill>
                <a:latin typeface="Courier New"/>
                <a:ea typeface="Courier New"/>
                <a:cs typeface="Courier New"/>
                <a:sym typeface="Courier New"/>
              </a:rPr>
              <a:t xml:space="preserve"> name, year</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sets</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LIMIT</a:t>
            </a:r>
            <a:r>
              <a:rPr lang="en-US" sz="950" b="0" i="0" dirty="0">
                <a:solidFill>
                  <a:srgbClr val="F6F4EF"/>
                </a:solidFill>
                <a:latin typeface="Courier New"/>
                <a:ea typeface="Courier New"/>
                <a:cs typeface="Courier New"/>
                <a:sym typeface="Courier New"/>
              </a:rPr>
              <a:t xml:space="preserve"> 5  </a:t>
            </a:r>
            <a:r>
              <a:rPr lang="en-US" sz="950" b="0" i="0" dirty="0">
                <a:solidFill>
                  <a:srgbClr val="A9A3B5"/>
                </a:solidFill>
                <a:latin typeface="Courier New"/>
                <a:ea typeface="Courier New"/>
                <a:cs typeface="Courier New"/>
                <a:sym typeface="Courier New"/>
              </a:rPr>
              <a:t>-- say what, not how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C2447F9A-9D2A-4FF7-83A3-D790AAF280B3}"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2 · SELECTING AND FILTERING</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Pick the columns, then keep the rows</a:t>
            </a:r>
          </a:p>
        </p:txBody>
      </p:sp>
      <p:sp>
        <p:nvSpPr>
          <p:cNvPr id="2006" name="Text"/>
          <p:cNvSpPr txBox="1"/>
          <p:nvPr/>
        </p:nvSpPr>
        <p:spPr>
          <a:xfrm>
            <a:off x="612648" y="1325880"/>
            <a:ext cx="420624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950" b="1" i="0" dirty="0">
                <a:solidFill>
                  <a:srgbClr val="5A2D8C"/>
                </a:solidFill>
                <a:latin typeface="Courier New"/>
                <a:ea typeface="Courier New"/>
                <a:cs typeface="Courier New"/>
                <a:sym typeface="Courier New"/>
              </a:rPr>
              <a:t xml:space="preserve">SELECT </a:t>
            </a:r>
            <a:r>
              <a:rPr lang="en-US" sz="950" b="0" i="0" dirty="0">
                <a:solidFill>
                  <a:srgbClr val="3D3947"/>
                </a:solidFill>
                <a:latin typeface="Inter"/>
                <a:ea typeface="Inter"/>
                <a:cs typeface="Inter"/>
                <a:sym typeface="Inter"/>
              </a:rPr>
              <a:t>keeps columns</a:t>
            </a:r>
            <a:r>
              <a:rPr lang="en-US" sz="950" b="1" i="0" dirty="0">
                <a:solidFill>
                  <a:srgbClr val="B07A12"/>
                </a:solidFill>
                <a:latin typeface="Courier New"/>
                <a:ea typeface="Courier New"/>
                <a:cs typeface="Courier New"/>
                <a:sym typeface="Courier New"/>
              </a:rPr>
              <a:t xml:space="preserve">     WHERE </a:t>
            </a:r>
            <a:r>
              <a:rPr lang="en-US" sz="950" b="0" i="0" dirty="0">
                <a:solidFill>
                  <a:srgbClr val="3D3947"/>
                </a:solidFill>
                <a:latin typeface="Inter"/>
                <a:ea typeface="Inter"/>
                <a:cs typeface="Inter"/>
                <a:sym typeface="Inter"/>
              </a:rPr>
              <a:t>keeps rows</a:t>
            </a:r>
          </a:p>
        </p:txBody>
      </p:sp>
      <p:sp>
        <p:nvSpPr>
          <p:cNvPr id="2007" name="Shape"/>
          <p:cNvSpPr/>
          <p:nvPr/>
        </p:nvSpPr>
        <p:spPr>
          <a:xfrm>
            <a:off x="612648" y="1627632"/>
            <a:ext cx="1920240" cy="283464"/>
          </a:xfrm>
          <a:prstGeom prst="rect">
            <a:avLst/>
          </a:prstGeom>
          <a:solidFill>
            <a:srgbClr val="5A2D8C"/>
          </a:solidFill>
          <a:ln w="12700">
            <a:solidFill>
              <a:srgbClr val="FFFFFF"/>
            </a:solidFill>
          </a:ln>
        </p:spPr>
        <p:txBody>
          <a:bodyPr wrap="square" lIns="73152" tIns="0" rIns="36576" bIns="0" anchor="ctr" anchorCtr="0">
            <a:noAutofit/>
          </a:bodyPr>
          <a:lstStyle/>
          <a:p>
            <a:pPr marL="0" indent="0" algn="l">
              <a:lnSpc>
                <a:spcPct val="100000"/>
              </a:lnSpc>
              <a:spcBef>
                <a:spcPts val="0"/>
              </a:spcBef>
              <a:spcAft>
                <a:spcPts val="0"/>
              </a:spcAft>
              <a:buNone/>
            </a:pPr>
            <a:r>
              <a:rPr lang="en-US" sz="900" b="1" i="0" dirty="0">
                <a:solidFill>
                  <a:srgbClr val="FFFFFF"/>
                </a:solidFill>
                <a:latin typeface="Courier New"/>
                <a:ea typeface="Courier New"/>
                <a:cs typeface="Courier New"/>
                <a:sym typeface="Courier New"/>
              </a:rPr>
              <a:t>name</a:t>
            </a:r>
          </a:p>
        </p:txBody>
      </p:sp>
      <p:sp>
        <p:nvSpPr>
          <p:cNvPr id="2008" name="Shape"/>
          <p:cNvSpPr/>
          <p:nvPr/>
        </p:nvSpPr>
        <p:spPr>
          <a:xfrm>
            <a:off x="612648" y="1911096"/>
            <a:ext cx="1920240"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l">
              <a:lnSpc>
                <a:spcPct val="100000"/>
              </a:lnSpc>
              <a:spcBef>
                <a:spcPts val="0"/>
              </a:spcBef>
              <a:spcAft>
                <a:spcPts val="0"/>
              </a:spcAft>
              <a:buNone/>
            </a:pPr>
            <a:r>
              <a:rPr lang="en-US" sz="900" b="1" i="0" dirty="0">
                <a:solidFill>
                  <a:srgbClr val="1D1B24"/>
                </a:solidFill>
                <a:latin typeface="Inter"/>
                <a:ea typeface="Inter"/>
                <a:cs typeface="Inter"/>
                <a:sym typeface="Inter"/>
              </a:rPr>
              <a:t>Taj Mahal</a:t>
            </a:r>
          </a:p>
        </p:txBody>
      </p:sp>
      <p:sp>
        <p:nvSpPr>
          <p:cNvPr id="2009" name="Shape"/>
          <p:cNvSpPr/>
          <p:nvPr/>
        </p:nvSpPr>
        <p:spPr>
          <a:xfrm>
            <a:off x="612648" y="2194560"/>
            <a:ext cx="1920240"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l">
              <a:lnSpc>
                <a:spcPct val="100000"/>
              </a:lnSpc>
              <a:spcBef>
                <a:spcPts val="0"/>
              </a:spcBef>
              <a:spcAft>
                <a:spcPts val="0"/>
              </a:spcAft>
              <a:buNone/>
            </a:pPr>
            <a:r>
              <a:rPr lang="en-US" sz="900" b="0" i="0" dirty="0">
                <a:solidFill>
                  <a:srgbClr val="ABA5B6"/>
                </a:solidFill>
                <a:latin typeface="Inter"/>
                <a:ea typeface="Inter"/>
                <a:cs typeface="Inter"/>
                <a:sym typeface="Inter"/>
              </a:rPr>
              <a:t>Black Seas Barracuda</a:t>
            </a:r>
          </a:p>
        </p:txBody>
      </p:sp>
      <p:sp>
        <p:nvSpPr>
          <p:cNvPr id="2010" name="Shape"/>
          <p:cNvSpPr/>
          <p:nvPr/>
        </p:nvSpPr>
        <p:spPr>
          <a:xfrm>
            <a:off x="612648" y="2478024"/>
            <a:ext cx="1920240"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l">
              <a:lnSpc>
                <a:spcPct val="100000"/>
              </a:lnSpc>
              <a:spcBef>
                <a:spcPts val="0"/>
              </a:spcBef>
              <a:spcAft>
                <a:spcPts val="0"/>
              </a:spcAft>
              <a:buNone/>
            </a:pPr>
            <a:r>
              <a:rPr lang="en-US" sz="900" b="1" i="0" dirty="0">
                <a:solidFill>
                  <a:srgbClr val="1D1B24"/>
                </a:solidFill>
                <a:latin typeface="Inter"/>
                <a:ea typeface="Inter"/>
                <a:cs typeface="Inter"/>
                <a:sym typeface="Inter"/>
              </a:rPr>
              <a:t>Window Exploration Bag</a:t>
            </a:r>
          </a:p>
        </p:txBody>
      </p:sp>
      <p:sp>
        <p:nvSpPr>
          <p:cNvPr id="2011" name="Shape"/>
          <p:cNvSpPr/>
          <p:nvPr/>
        </p:nvSpPr>
        <p:spPr>
          <a:xfrm>
            <a:off x="612648" y="2761488"/>
            <a:ext cx="1920240"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l">
              <a:lnSpc>
                <a:spcPct val="100000"/>
              </a:lnSpc>
              <a:spcBef>
                <a:spcPts val="0"/>
              </a:spcBef>
              <a:spcAft>
                <a:spcPts val="0"/>
              </a:spcAft>
              <a:buNone/>
            </a:pPr>
            <a:r>
              <a:rPr lang="en-US" sz="900" b="0" i="0" dirty="0">
                <a:solidFill>
                  <a:srgbClr val="ABA5B6"/>
                </a:solidFill>
                <a:latin typeface="Inter"/>
                <a:ea typeface="Inter"/>
                <a:cs typeface="Inter"/>
                <a:sym typeface="Inter"/>
              </a:rPr>
              <a:t>Train</a:t>
            </a:r>
          </a:p>
        </p:txBody>
      </p:sp>
      <p:sp>
        <p:nvSpPr>
          <p:cNvPr id="2012" name="Shape"/>
          <p:cNvSpPr/>
          <p:nvPr/>
        </p:nvSpPr>
        <p:spPr>
          <a:xfrm>
            <a:off x="612648" y="3044952"/>
            <a:ext cx="1920240"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l">
              <a:lnSpc>
                <a:spcPct val="100000"/>
              </a:lnSpc>
              <a:spcBef>
                <a:spcPts val="0"/>
              </a:spcBef>
              <a:spcAft>
                <a:spcPts val="0"/>
              </a:spcAft>
              <a:buNone/>
            </a:pPr>
            <a:r>
              <a:rPr lang="en-US" sz="900" b="1" i="0" dirty="0">
                <a:solidFill>
                  <a:srgbClr val="1D1B24"/>
                </a:solidFill>
                <a:latin typeface="Inter"/>
                <a:ea typeface="Inter"/>
                <a:cs typeface="Inter"/>
                <a:sym typeface="Inter"/>
              </a:rPr>
              <a:t>Millennium Falcon - UCS</a:t>
            </a:r>
          </a:p>
        </p:txBody>
      </p:sp>
      <p:sp>
        <p:nvSpPr>
          <p:cNvPr id="2013" name="Shape"/>
          <p:cNvSpPr/>
          <p:nvPr/>
        </p:nvSpPr>
        <p:spPr>
          <a:xfrm>
            <a:off x="612648" y="3328416"/>
            <a:ext cx="1920240"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l">
              <a:lnSpc>
                <a:spcPct val="100000"/>
              </a:lnSpc>
              <a:spcBef>
                <a:spcPts val="0"/>
              </a:spcBef>
              <a:spcAft>
                <a:spcPts val="0"/>
              </a:spcAft>
              <a:buNone/>
            </a:pPr>
            <a:r>
              <a:rPr lang="en-US" sz="900" b="0" i="0" dirty="0">
                <a:solidFill>
                  <a:srgbClr val="ABA5B6"/>
                </a:solidFill>
                <a:latin typeface="Inter"/>
                <a:ea typeface="Inter"/>
                <a:cs typeface="Inter"/>
                <a:sym typeface="Inter"/>
              </a:rPr>
              <a:t>Big Ben</a:t>
            </a:r>
          </a:p>
        </p:txBody>
      </p:sp>
      <p:sp>
        <p:nvSpPr>
          <p:cNvPr id="2014" name="Shape"/>
          <p:cNvSpPr/>
          <p:nvPr/>
        </p:nvSpPr>
        <p:spPr>
          <a:xfrm>
            <a:off x="2532888" y="1627632"/>
            <a:ext cx="566928" cy="283464"/>
          </a:xfrm>
          <a:prstGeom prst="rect">
            <a:avLst/>
          </a:prstGeom>
          <a:solidFill>
            <a:srgbClr val="5A2D8C"/>
          </a:solidFill>
          <a:ln w="12700">
            <a:solidFill>
              <a:srgbClr val="FFFFFF"/>
            </a:solidFill>
          </a:ln>
        </p:spPr>
        <p:txBody>
          <a:bodyPr wrap="square" lIns="73152" tIns="0" rIns="36576" bIns="0" anchor="ctr" anchorCtr="0">
            <a:noAutofit/>
          </a:bodyPr>
          <a:lstStyle/>
          <a:p>
            <a:pPr marL="0" indent="0" algn="l">
              <a:lnSpc>
                <a:spcPct val="100000"/>
              </a:lnSpc>
              <a:spcBef>
                <a:spcPts val="0"/>
              </a:spcBef>
              <a:spcAft>
                <a:spcPts val="0"/>
              </a:spcAft>
              <a:buNone/>
            </a:pPr>
            <a:r>
              <a:rPr lang="en-US" sz="900" b="1" i="0" dirty="0">
                <a:solidFill>
                  <a:srgbClr val="FFFFFF"/>
                </a:solidFill>
                <a:latin typeface="Courier New"/>
                <a:ea typeface="Courier New"/>
                <a:cs typeface="Courier New"/>
                <a:sym typeface="Courier New"/>
              </a:rPr>
              <a:t>year</a:t>
            </a:r>
          </a:p>
        </p:txBody>
      </p:sp>
      <p:sp>
        <p:nvSpPr>
          <p:cNvPr id="2015" name="Shape"/>
          <p:cNvSpPr/>
          <p:nvPr/>
        </p:nvSpPr>
        <p:spPr>
          <a:xfrm>
            <a:off x="2532888" y="1911096"/>
            <a:ext cx="566928"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1" i="0" dirty="0">
                <a:solidFill>
                  <a:srgbClr val="1D1B24"/>
                </a:solidFill>
                <a:latin typeface="Inter"/>
                <a:ea typeface="Inter"/>
                <a:cs typeface="Inter"/>
                <a:sym typeface="Inter"/>
              </a:rPr>
              <a:t>2008</a:t>
            </a:r>
          </a:p>
        </p:txBody>
      </p:sp>
      <p:sp>
        <p:nvSpPr>
          <p:cNvPr id="2016" name="Shape"/>
          <p:cNvSpPr/>
          <p:nvPr/>
        </p:nvSpPr>
        <p:spPr>
          <a:xfrm>
            <a:off x="2532888" y="2194560"/>
            <a:ext cx="566928"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ABA5B6"/>
                </a:solidFill>
                <a:latin typeface="Inter"/>
                <a:ea typeface="Inter"/>
                <a:cs typeface="Inter"/>
                <a:sym typeface="Inter"/>
              </a:rPr>
              <a:t>1989</a:t>
            </a:r>
          </a:p>
        </p:txBody>
      </p:sp>
      <p:sp>
        <p:nvSpPr>
          <p:cNvPr id="2017" name="Shape"/>
          <p:cNvSpPr/>
          <p:nvPr/>
        </p:nvSpPr>
        <p:spPr>
          <a:xfrm>
            <a:off x="2532888" y="2478024"/>
            <a:ext cx="566928"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1" i="0" dirty="0">
                <a:solidFill>
                  <a:srgbClr val="1D1B24"/>
                </a:solidFill>
                <a:latin typeface="Inter"/>
                <a:ea typeface="Inter"/>
                <a:cs typeface="Inter"/>
                <a:sym typeface="Inter"/>
              </a:rPr>
              <a:t>2010</a:t>
            </a:r>
          </a:p>
        </p:txBody>
      </p:sp>
      <p:sp>
        <p:nvSpPr>
          <p:cNvPr id="2018" name="Shape"/>
          <p:cNvSpPr/>
          <p:nvPr/>
        </p:nvSpPr>
        <p:spPr>
          <a:xfrm>
            <a:off x="2532888" y="2761488"/>
            <a:ext cx="566928"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ABA5B6"/>
                </a:solidFill>
                <a:latin typeface="Inter"/>
                <a:ea typeface="Inter"/>
                <a:cs typeface="Inter"/>
                <a:sym typeface="Inter"/>
              </a:rPr>
              <a:t>1964</a:t>
            </a:r>
          </a:p>
        </p:txBody>
      </p:sp>
      <p:sp>
        <p:nvSpPr>
          <p:cNvPr id="2019" name="Shape"/>
          <p:cNvSpPr/>
          <p:nvPr/>
        </p:nvSpPr>
        <p:spPr>
          <a:xfrm>
            <a:off x="2532888" y="3044952"/>
            <a:ext cx="566928"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1" i="0" dirty="0">
                <a:solidFill>
                  <a:srgbClr val="1D1B24"/>
                </a:solidFill>
                <a:latin typeface="Inter"/>
                <a:ea typeface="Inter"/>
                <a:cs typeface="Inter"/>
                <a:sym typeface="Inter"/>
              </a:rPr>
              <a:t>2007</a:t>
            </a:r>
          </a:p>
        </p:txBody>
      </p:sp>
      <p:sp>
        <p:nvSpPr>
          <p:cNvPr id="2020" name="Shape"/>
          <p:cNvSpPr/>
          <p:nvPr/>
        </p:nvSpPr>
        <p:spPr>
          <a:xfrm>
            <a:off x="2532888" y="3328416"/>
            <a:ext cx="566928"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ABA5B6"/>
                </a:solidFill>
                <a:latin typeface="Inter"/>
                <a:ea typeface="Inter"/>
                <a:cs typeface="Inter"/>
                <a:sym typeface="Inter"/>
              </a:rPr>
              <a:t>2016</a:t>
            </a:r>
          </a:p>
        </p:txBody>
      </p:sp>
      <p:sp>
        <p:nvSpPr>
          <p:cNvPr id="2021" name="Shape"/>
          <p:cNvSpPr/>
          <p:nvPr/>
        </p:nvSpPr>
        <p:spPr>
          <a:xfrm>
            <a:off x="3099816" y="1627632"/>
            <a:ext cx="868680" cy="283464"/>
          </a:xfrm>
          <a:prstGeom prst="rect">
            <a:avLst/>
          </a:prstGeom>
          <a:solidFill>
            <a:srgbClr val="5A2D8C"/>
          </a:solidFill>
          <a:ln w="12700">
            <a:solidFill>
              <a:srgbClr val="FFFFFF"/>
            </a:solidFill>
          </a:ln>
        </p:spPr>
        <p:txBody>
          <a:bodyPr wrap="square" lIns="73152" tIns="0" rIns="36576" bIns="0" anchor="ctr" anchorCtr="0">
            <a:noAutofit/>
          </a:bodyPr>
          <a:lstStyle/>
          <a:p>
            <a:pPr marL="0" indent="0" algn="l">
              <a:lnSpc>
                <a:spcPct val="100000"/>
              </a:lnSpc>
              <a:spcBef>
                <a:spcPts val="0"/>
              </a:spcBef>
              <a:spcAft>
                <a:spcPts val="0"/>
              </a:spcAft>
              <a:buNone/>
            </a:pPr>
            <a:r>
              <a:rPr lang="en-US" sz="900" b="1" i="0" dirty="0">
                <a:solidFill>
                  <a:srgbClr val="FFFFFF"/>
                </a:solidFill>
                <a:latin typeface="Courier New"/>
                <a:ea typeface="Courier New"/>
                <a:cs typeface="Courier New"/>
                <a:sym typeface="Courier New"/>
              </a:rPr>
              <a:t>num_parts</a:t>
            </a:r>
          </a:p>
        </p:txBody>
      </p:sp>
      <p:sp>
        <p:nvSpPr>
          <p:cNvPr id="2022" name="Shape"/>
          <p:cNvSpPr/>
          <p:nvPr/>
        </p:nvSpPr>
        <p:spPr>
          <a:xfrm>
            <a:off x="3099816" y="1911096"/>
            <a:ext cx="868680"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1" i="0" dirty="0">
                <a:solidFill>
                  <a:srgbClr val="1D1B24"/>
                </a:solidFill>
                <a:latin typeface="Inter"/>
                <a:ea typeface="Inter"/>
                <a:cs typeface="Inter"/>
                <a:sym typeface="Inter"/>
              </a:rPr>
              <a:t>5,922</a:t>
            </a:r>
          </a:p>
        </p:txBody>
      </p:sp>
      <p:sp>
        <p:nvSpPr>
          <p:cNvPr id="2023" name="Shape"/>
          <p:cNvSpPr/>
          <p:nvPr/>
        </p:nvSpPr>
        <p:spPr>
          <a:xfrm>
            <a:off x="3099816" y="2194560"/>
            <a:ext cx="868680"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ABA5B6"/>
                </a:solidFill>
                <a:latin typeface="Inter"/>
                <a:ea typeface="Inter"/>
                <a:cs typeface="Inter"/>
                <a:sym typeface="Inter"/>
              </a:rPr>
              <a:t>915</a:t>
            </a:r>
          </a:p>
        </p:txBody>
      </p:sp>
      <p:sp>
        <p:nvSpPr>
          <p:cNvPr id="2024" name="Shape"/>
          <p:cNvSpPr/>
          <p:nvPr/>
        </p:nvSpPr>
        <p:spPr>
          <a:xfrm>
            <a:off x="3099816" y="2478024"/>
            <a:ext cx="868680"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1" i="0" dirty="0">
                <a:solidFill>
                  <a:srgbClr val="1D1B24"/>
                </a:solidFill>
                <a:latin typeface="Inter"/>
                <a:ea typeface="Inter"/>
                <a:cs typeface="Inter"/>
                <a:sym typeface="Inter"/>
              </a:rPr>
              <a:t>5,200</a:t>
            </a:r>
          </a:p>
        </p:txBody>
      </p:sp>
      <p:sp>
        <p:nvSpPr>
          <p:cNvPr id="2025" name="Shape"/>
          <p:cNvSpPr/>
          <p:nvPr/>
        </p:nvSpPr>
        <p:spPr>
          <a:xfrm>
            <a:off x="3099816" y="2761488"/>
            <a:ext cx="868680"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ABA5B6"/>
                </a:solidFill>
                <a:latin typeface="Inter"/>
                <a:ea typeface="Inter"/>
                <a:cs typeface="Inter"/>
                <a:sym typeface="Inter"/>
              </a:rPr>
              <a:t>253</a:t>
            </a:r>
          </a:p>
        </p:txBody>
      </p:sp>
      <p:sp>
        <p:nvSpPr>
          <p:cNvPr id="2026" name="Shape"/>
          <p:cNvSpPr/>
          <p:nvPr/>
        </p:nvSpPr>
        <p:spPr>
          <a:xfrm>
            <a:off x="3099816" y="3044952"/>
            <a:ext cx="868680" cy="283464"/>
          </a:xfrm>
          <a:prstGeom prst="rect">
            <a:avLst/>
          </a:prstGeom>
          <a:solidFill>
            <a:srgbClr val="FBEFD9"/>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1" i="0" dirty="0">
                <a:solidFill>
                  <a:srgbClr val="1D1B24"/>
                </a:solidFill>
                <a:latin typeface="Inter"/>
                <a:ea typeface="Inter"/>
                <a:cs typeface="Inter"/>
                <a:sym typeface="Inter"/>
              </a:rPr>
              <a:t>5,195</a:t>
            </a:r>
          </a:p>
        </p:txBody>
      </p:sp>
      <p:sp>
        <p:nvSpPr>
          <p:cNvPr id="2027" name="Shape"/>
          <p:cNvSpPr/>
          <p:nvPr/>
        </p:nvSpPr>
        <p:spPr>
          <a:xfrm>
            <a:off x="3099816" y="3328416"/>
            <a:ext cx="868680" cy="283464"/>
          </a:xfrm>
          <a:prstGeom prst="rect">
            <a:avLst/>
          </a:prstGeom>
          <a:solidFill>
            <a:srgbClr val="FDFCFA"/>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ABA5B6"/>
                </a:solidFill>
                <a:latin typeface="Inter"/>
                <a:ea typeface="Inter"/>
                <a:cs typeface="Inter"/>
                <a:sym typeface="Inter"/>
              </a:rPr>
              <a:t>4,166</a:t>
            </a:r>
          </a:p>
        </p:txBody>
      </p:sp>
      <p:sp>
        <p:nvSpPr>
          <p:cNvPr id="2028" name="Shape"/>
          <p:cNvSpPr/>
          <p:nvPr/>
        </p:nvSpPr>
        <p:spPr>
          <a:xfrm>
            <a:off x="3968496" y="1627632"/>
            <a:ext cx="777240" cy="283464"/>
          </a:xfrm>
          <a:prstGeom prst="rect">
            <a:avLst/>
          </a:prstGeom>
          <a:solidFill>
            <a:srgbClr val="ECE8F0"/>
          </a:solidFill>
          <a:ln w="12700">
            <a:solidFill>
              <a:srgbClr val="FFFFFF"/>
            </a:solidFill>
          </a:ln>
        </p:spPr>
        <p:txBody>
          <a:bodyPr wrap="square" lIns="73152" tIns="0" rIns="36576" bIns="0" anchor="ctr" anchorCtr="0">
            <a:noAutofit/>
          </a:bodyPr>
          <a:lstStyle/>
          <a:p>
            <a:pPr marL="0" indent="0" algn="l">
              <a:lnSpc>
                <a:spcPct val="100000"/>
              </a:lnSpc>
              <a:spcBef>
                <a:spcPts val="0"/>
              </a:spcBef>
              <a:spcAft>
                <a:spcPts val="0"/>
              </a:spcAft>
              <a:buNone/>
            </a:pPr>
            <a:r>
              <a:rPr lang="en-US" sz="900" b="1" i="0" dirty="0">
                <a:solidFill>
                  <a:srgbClr val="A9A3B5"/>
                </a:solidFill>
                <a:latin typeface="Courier New"/>
                <a:ea typeface="Courier New"/>
                <a:cs typeface="Courier New"/>
                <a:sym typeface="Courier New"/>
              </a:rPr>
              <a:t>theme_id</a:t>
            </a:r>
          </a:p>
        </p:txBody>
      </p:sp>
      <p:sp>
        <p:nvSpPr>
          <p:cNvPr id="2029" name="Shape"/>
          <p:cNvSpPr/>
          <p:nvPr/>
        </p:nvSpPr>
        <p:spPr>
          <a:xfrm>
            <a:off x="3968496" y="1911096"/>
            <a:ext cx="777240" cy="283464"/>
          </a:xfrm>
          <a:prstGeom prst="rect">
            <a:avLst/>
          </a:prstGeom>
          <a:solidFill>
            <a:srgbClr val="F4F2F6"/>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CCC7D3"/>
                </a:solidFill>
                <a:latin typeface="Inter"/>
                <a:ea typeface="Inter"/>
                <a:cs typeface="Inter"/>
                <a:sym typeface="Inter"/>
              </a:rPr>
              <a:t>276</a:t>
            </a:r>
          </a:p>
        </p:txBody>
      </p:sp>
      <p:sp>
        <p:nvSpPr>
          <p:cNvPr id="2030" name="Shape"/>
          <p:cNvSpPr/>
          <p:nvPr/>
        </p:nvSpPr>
        <p:spPr>
          <a:xfrm>
            <a:off x="3968496" y="2194560"/>
            <a:ext cx="777240" cy="283464"/>
          </a:xfrm>
          <a:prstGeom prst="rect">
            <a:avLst/>
          </a:prstGeom>
          <a:solidFill>
            <a:srgbClr val="F4F2F6"/>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CCC7D3"/>
                </a:solidFill>
                <a:latin typeface="Inter"/>
                <a:ea typeface="Inter"/>
                <a:cs typeface="Inter"/>
                <a:sym typeface="Inter"/>
              </a:rPr>
              <a:t>148</a:t>
            </a:r>
          </a:p>
        </p:txBody>
      </p:sp>
      <p:sp>
        <p:nvSpPr>
          <p:cNvPr id="2031" name="Shape"/>
          <p:cNvSpPr/>
          <p:nvPr/>
        </p:nvSpPr>
        <p:spPr>
          <a:xfrm>
            <a:off x="3968496" y="2478024"/>
            <a:ext cx="777240" cy="283464"/>
          </a:xfrm>
          <a:prstGeom prst="rect">
            <a:avLst/>
          </a:prstGeom>
          <a:solidFill>
            <a:srgbClr val="F4F2F6"/>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CCC7D3"/>
                </a:solidFill>
                <a:latin typeface="Inter"/>
                <a:ea typeface="Inter"/>
                <a:cs typeface="Inter"/>
                <a:sym typeface="Inter"/>
              </a:rPr>
              <a:t>507</a:t>
            </a:r>
          </a:p>
        </p:txBody>
      </p:sp>
      <p:sp>
        <p:nvSpPr>
          <p:cNvPr id="2032" name="Shape"/>
          <p:cNvSpPr/>
          <p:nvPr/>
        </p:nvSpPr>
        <p:spPr>
          <a:xfrm>
            <a:off x="3968496" y="2761488"/>
            <a:ext cx="777240" cy="283464"/>
          </a:xfrm>
          <a:prstGeom prst="rect">
            <a:avLst/>
          </a:prstGeom>
          <a:solidFill>
            <a:srgbClr val="F4F2F6"/>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CCC7D3"/>
                </a:solidFill>
                <a:latin typeface="Inter"/>
                <a:ea typeface="Inter"/>
                <a:cs typeface="Inter"/>
                <a:sym typeface="Inter"/>
              </a:rPr>
              <a:t>380</a:t>
            </a:r>
          </a:p>
        </p:txBody>
      </p:sp>
      <p:sp>
        <p:nvSpPr>
          <p:cNvPr id="2033" name="Shape"/>
          <p:cNvSpPr/>
          <p:nvPr/>
        </p:nvSpPr>
        <p:spPr>
          <a:xfrm>
            <a:off x="3968496" y="3044952"/>
            <a:ext cx="777240" cy="283464"/>
          </a:xfrm>
          <a:prstGeom prst="rect">
            <a:avLst/>
          </a:prstGeom>
          <a:solidFill>
            <a:srgbClr val="F4F2F6"/>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CCC7D3"/>
                </a:solidFill>
                <a:latin typeface="Inter"/>
                <a:ea typeface="Inter"/>
                <a:cs typeface="Inter"/>
                <a:sym typeface="Inter"/>
              </a:rPr>
              <a:t>174</a:t>
            </a:r>
          </a:p>
        </p:txBody>
      </p:sp>
      <p:sp>
        <p:nvSpPr>
          <p:cNvPr id="2034" name="Shape"/>
          <p:cNvSpPr/>
          <p:nvPr/>
        </p:nvSpPr>
        <p:spPr>
          <a:xfrm>
            <a:off x="3968496" y="3328416"/>
            <a:ext cx="777240" cy="283464"/>
          </a:xfrm>
          <a:prstGeom prst="rect">
            <a:avLst/>
          </a:prstGeom>
          <a:solidFill>
            <a:srgbClr val="F4F2F6"/>
          </a:solidFill>
          <a:ln w="12700">
            <a:solidFill>
              <a:srgbClr val="FFFFFF"/>
            </a:solidFill>
          </a:ln>
        </p:spPr>
        <p:txBody>
          <a:bodyPr wrap="square" lIns="73152" tIns="0" rIns="73152" bIns="0" anchor="ctr" anchorCtr="0">
            <a:noAutofit/>
          </a:bodyPr>
          <a:lstStyle/>
          <a:p>
            <a:pPr marL="0" indent="0" algn="r">
              <a:lnSpc>
                <a:spcPct val="100000"/>
              </a:lnSpc>
              <a:spcBef>
                <a:spcPts val="0"/>
              </a:spcBef>
              <a:spcAft>
                <a:spcPts val="0"/>
              </a:spcAft>
              <a:buNone/>
            </a:pPr>
            <a:r>
              <a:rPr lang="en-US" sz="900" b="0" i="0" dirty="0">
                <a:solidFill>
                  <a:srgbClr val="CCC7D3"/>
                </a:solidFill>
                <a:latin typeface="Inter"/>
                <a:ea typeface="Inter"/>
                <a:cs typeface="Inter"/>
                <a:sym typeface="Inter"/>
              </a:rPr>
              <a:t>43</a:t>
            </a:r>
          </a:p>
        </p:txBody>
      </p:sp>
      <p:sp>
        <p:nvSpPr>
          <p:cNvPr id="2035" name="Arrow"/>
          <p:cNvSpPr/>
          <p:nvPr/>
        </p:nvSpPr>
        <p:spPr>
          <a:xfrm>
            <a:off x="4818888" y="1975104"/>
            <a:ext cx="219456" cy="155448"/>
          </a:xfrm>
          <a:prstGeom prst="leftArrow">
            <a:avLst>
              <a:gd name="adj1" fmla="val 50000"/>
              <a:gd name="adj2" fmla="val 50000"/>
            </a:avLst>
          </a:prstGeom>
          <a:solidFill>
            <a:srgbClr val="E8A93A"/>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6" name="Arrow"/>
          <p:cNvSpPr/>
          <p:nvPr/>
        </p:nvSpPr>
        <p:spPr>
          <a:xfrm>
            <a:off x="4818888" y="2542032"/>
            <a:ext cx="219456" cy="155448"/>
          </a:xfrm>
          <a:prstGeom prst="leftArrow">
            <a:avLst>
              <a:gd name="adj1" fmla="val 50000"/>
              <a:gd name="adj2" fmla="val 50000"/>
            </a:avLst>
          </a:prstGeom>
          <a:solidFill>
            <a:srgbClr val="E8A93A"/>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7" name="Arrow"/>
          <p:cNvSpPr/>
          <p:nvPr/>
        </p:nvSpPr>
        <p:spPr>
          <a:xfrm>
            <a:off x="4818888" y="3108960"/>
            <a:ext cx="219456" cy="155448"/>
          </a:xfrm>
          <a:prstGeom prst="leftArrow">
            <a:avLst>
              <a:gd name="adj1" fmla="val 50000"/>
              <a:gd name="adj2" fmla="val 50000"/>
            </a:avLst>
          </a:prstGeom>
          <a:solidFill>
            <a:srgbClr val="E8A93A"/>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8" name="Text"/>
          <p:cNvSpPr txBox="1"/>
          <p:nvPr/>
        </p:nvSpPr>
        <p:spPr>
          <a:xfrm>
            <a:off x="612648" y="3721608"/>
            <a:ext cx="448056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950" b="0" i="0" dirty="0">
                <a:solidFill>
                  <a:srgbClr val="625D6E"/>
                </a:solidFill>
                <a:latin typeface="Inter"/>
                <a:ea typeface="Inter"/>
                <a:cs typeface="Inter"/>
                <a:sym typeface="Inter"/>
              </a:rPr>
              <a:t>Real rows from sets. Only 4 of 11,673 sets have more than 5,000 parts.</a:t>
            </a:r>
          </a:p>
        </p:txBody>
      </p:sp>
      <p:sp>
        <p:nvSpPr>
          <p:cNvPr id="2039" name="Code card"/>
          <p:cNvSpPr/>
          <p:nvPr/>
        </p:nvSpPr>
        <p:spPr>
          <a:xfrm>
            <a:off x="5440680" y="1325880"/>
            <a:ext cx="3090672" cy="1207008"/>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40" name="Kicker"/>
          <p:cNvSpPr txBox="1"/>
          <p:nvPr/>
        </p:nvSpPr>
        <p:spPr>
          <a:xfrm>
            <a:off x="5586984" y="1417320"/>
            <a:ext cx="2816352"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1" i="0" dirty="0">
                <a:solidFill>
                  <a:srgbClr val="E8A93A"/>
                </a:solidFill>
                <a:latin typeface="Inter"/>
                <a:ea typeface="Inter"/>
                <a:cs typeface="Inter"/>
                <a:sym typeface="Inter"/>
              </a:rPr>
              <a:t>THE TOOL</a:t>
            </a:r>
          </a:p>
        </p:txBody>
      </p:sp>
      <p:sp>
        <p:nvSpPr>
          <p:cNvPr id="2041" name="Code"/>
          <p:cNvSpPr txBox="1"/>
          <p:nvPr/>
        </p:nvSpPr>
        <p:spPr>
          <a:xfrm>
            <a:off x="5586984" y="1636776"/>
            <a:ext cx="2816352" cy="82296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SELECT</a:t>
            </a:r>
            <a:r>
              <a:rPr lang="en-US" sz="950" b="0" i="0" dirty="0">
                <a:solidFill>
                  <a:srgbClr val="F6F4EF"/>
                </a:solidFill>
                <a:latin typeface="Courier New"/>
                <a:ea typeface="Courier New"/>
                <a:cs typeface="Courier New"/>
                <a:sym typeface="Courier New"/>
              </a:rPr>
              <a:t xml:space="preserve"> name, year, num_parts</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sets</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WHERE</a:t>
            </a:r>
            <a:r>
              <a:rPr lang="en-US" sz="950" b="0" i="0" dirty="0">
                <a:solidFill>
                  <a:srgbClr val="F6F4EF"/>
                </a:solidFill>
                <a:latin typeface="Courier New"/>
                <a:ea typeface="Courier New"/>
                <a:cs typeface="Courier New"/>
                <a:sym typeface="Courier New"/>
              </a:rPr>
              <a:t xml:space="preserve"> num_parts &gt; 5000</a:t>
            </a:r>
          </a:p>
          <a:p>
            <a:pPr marL="0" indent="0" algn="l">
              <a:lnSpc>
                <a:spcPct val="120000"/>
              </a:lnSpc>
              <a:spcBef>
                <a:spcPts val="0"/>
              </a:spcBef>
              <a:spcAft>
                <a:spcPts val="0"/>
              </a:spcAft>
              <a:buNone/>
            </a:pPr>
            <a:r>
              <a:rPr lang="en-US" sz="950" b="0" i="0" dirty="0">
                <a:solidFill>
                  <a:srgbClr val="A9A3B5"/>
                </a:solidFill>
                <a:latin typeface="Courier New"/>
                <a:ea typeface="Courier New"/>
                <a:cs typeface="Courier New"/>
                <a:sym typeface="Courier New"/>
              </a:rPr>
              <a:t>-- 4 sets</a:t>
            </a:r>
          </a:p>
        </p:txBody>
      </p:sp>
      <p:sp>
        <p:nvSpPr>
          <p:cNvPr id="2042" name="Kicker"/>
          <p:cNvSpPr txBox="1"/>
          <p:nvPr/>
        </p:nvSpPr>
        <p:spPr>
          <a:xfrm>
            <a:off x="5440680" y="2715768"/>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WHERE TOOLKIT</a:t>
            </a:r>
          </a:p>
        </p:txBody>
      </p:sp>
      <p:sp>
        <p:nvSpPr>
          <p:cNvPr id="2043" name="Shape"/>
          <p:cNvSpPr/>
          <p:nvPr/>
        </p:nvSpPr>
        <p:spPr>
          <a:xfrm>
            <a:off x="5440680" y="2944368"/>
            <a:ext cx="969264" cy="292608"/>
          </a:xfrm>
          <a:prstGeom prst="roundRect">
            <a:avLst>
              <a:gd name="adj" fmla="val 8000"/>
            </a:avLst>
          </a:prstGeom>
          <a:solidFill>
            <a:srgbClr val="FDFCFA"/>
          </a:solidFill>
          <a:ln w="9525">
            <a:solidFill>
              <a:srgbClr val="DDD8E3"/>
            </a:solidFill>
          </a:ln>
        </p:spPr>
        <p:txBody>
          <a:bodyPr wrap="square" lIns="18288" tIns="0" rIns="18288"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  &lt;&gt;  &gt;=</a:t>
            </a:r>
          </a:p>
        </p:txBody>
      </p:sp>
      <p:sp>
        <p:nvSpPr>
          <p:cNvPr id="2044" name="Shape"/>
          <p:cNvSpPr/>
          <p:nvPr/>
        </p:nvSpPr>
        <p:spPr>
          <a:xfrm>
            <a:off x="6501384" y="2944368"/>
            <a:ext cx="969264" cy="292608"/>
          </a:xfrm>
          <a:prstGeom prst="roundRect">
            <a:avLst>
              <a:gd name="adj" fmla="val 8000"/>
            </a:avLst>
          </a:prstGeom>
          <a:solidFill>
            <a:srgbClr val="FDFCFA"/>
          </a:solidFill>
          <a:ln w="9525">
            <a:solidFill>
              <a:srgbClr val="DDD8E3"/>
            </a:solidFill>
          </a:ln>
        </p:spPr>
        <p:txBody>
          <a:bodyPr wrap="square" lIns="18288" tIns="0" rIns="18288"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AND  OR</a:t>
            </a:r>
          </a:p>
        </p:txBody>
      </p:sp>
      <p:sp>
        <p:nvSpPr>
          <p:cNvPr id="2045" name="Shape"/>
          <p:cNvSpPr/>
          <p:nvPr/>
        </p:nvSpPr>
        <p:spPr>
          <a:xfrm>
            <a:off x="7562088" y="2944368"/>
            <a:ext cx="969264" cy="292608"/>
          </a:xfrm>
          <a:prstGeom prst="roundRect">
            <a:avLst>
              <a:gd name="adj" fmla="val 8000"/>
            </a:avLst>
          </a:prstGeom>
          <a:solidFill>
            <a:srgbClr val="FDFCFA"/>
          </a:solidFill>
          <a:ln w="9525">
            <a:solidFill>
              <a:srgbClr val="DDD8E3"/>
            </a:solidFill>
          </a:ln>
        </p:spPr>
        <p:txBody>
          <a:bodyPr wrap="square" lIns="18288" tIns="0" rIns="18288"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BETWEEN</a:t>
            </a:r>
          </a:p>
        </p:txBody>
      </p:sp>
      <p:sp>
        <p:nvSpPr>
          <p:cNvPr id="2046" name="Shape"/>
          <p:cNvSpPr/>
          <p:nvPr/>
        </p:nvSpPr>
        <p:spPr>
          <a:xfrm>
            <a:off x="5440680" y="3328416"/>
            <a:ext cx="969264" cy="292608"/>
          </a:xfrm>
          <a:prstGeom prst="roundRect">
            <a:avLst>
              <a:gd name="adj" fmla="val 8000"/>
            </a:avLst>
          </a:prstGeom>
          <a:solidFill>
            <a:srgbClr val="FDFCFA"/>
          </a:solidFill>
          <a:ln w="9525">
            <a:solidFill>
              <a:srgbClr val="DDD8E3"/>
            </a:solidFill>
          </a:ln>
        </p:spPr>
        <p:txBody>
          <a:bodyPr wrap="square" lIns="18288" tIns="0" rIns="18288"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IN (...)</a:t>
            </a:r>
          </a:p>
        </p:txBody>
      </p:sp>
      <p:sp>
        <p:nvSpPr>
          <p:cNvPr id="2047" name="Shape"/>
          <p:cNvSpPr/>
          <p:nvPr/>
        </p:nvSpPr>
        <p:spPr>
          <a:xfrm>
            <a:off x="6501384" y="3328416"/>
            <a:ext cx="969264" cy="292608"/>
          </a:xfrm>
          <a:prstGeom prst="roundRect">
            <a:avLst>
              <a:gd name="adj" fmla="val 8000"/>
            </a:avLst>
          </a:prstGeom>
          <a:solidFill>
            <a:srgbClr val="FDFCFA"/>
          </a:solidFill>
          <a:ln w="9525">
            <a:solidFill>
              <a:srgbClr val="DDD8E3"/>
            </a:solidFill>
          </a:ln>
        </p:spPr>
        <p:txBody>
          <a:bodyPr wrap="square" lIns="18288" tIns="0" rIns="18288"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LIKE '%Train'</a:t>
            </a:r>
          </a:p>
        </p:txBody>
      </p:sp>
      <p:sp>
        <p:nvSpPr>
          <p:cNvPr id="2048" name="Shape"/>
          <p:cNvSpPr/>
          <p:nvPr/>
        </p:nvSpPr>
        <p:spPr>
          <a:xfrm>
            <a:off x="7562088" y="3328416"/>
            <a:ext cx="969264" cy="292608"/>
          </a:xfrm>
          <a:prstGeom prst="roundRect">
            <a:avLst>
              <a:gd name="adj" fmla="val 8000"/>
            </a:avLst>
          </a:prstGeom>
          <a:solidFill>
            <a:srgbClr val="FDFCFA"/>
          </a:solidFill>
          <a:ln w="9525">
            <a:solidFill>
              <a:srgbClr val="DDD8E3"/>
            </a:solidFill>
          </a:ln>
        </p:spPr>
        <p:txBody>
          <a:bodyPr wrap="square" lIns="18288" tIns="0" rIns="18288"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IS NULL</a:t>
            </a:r>
          </a:p>
        </p:txBody>
      </p:sp>
      <p:sp>
        <p:nvSpPr>
          <p:cNvPr id="2049" name="Text"/>
          <p:cNvSpPr txBox="1"/>
          <p:nvPr/>
        </p:nvSpPr>
        <p:spPr>
          <a:xfrm>
            <a:off x="5440680" y="3776472"/>
            <a:ext cx="3090672" cy="41148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00" b="0" i="0" dirty="0">
                <a:solidFill>
                  <a:srgbClr val="3D3947"/>
                </a:solidFill>
                <a:latin typeface="Inter"/>
                <a:ea typeface="Inter"/>
                <a:cs typeface="Inter"/>
                <a:sym typeface="Inter"/>
              </a:rPr>
              <a:t xml:space="preserve">Text goes in </a:t>
            </a:r>
            <a:r>
              <a:rPr lang="en-US" sz="1000" b="1" i="0" dirty="0">
                <a:solidFill>
                  <a:srgbClr val="1D1B24"/>
                </a:solidFill>
                <a:latin typeface="Courier New"/>
                <a:ea typeface="Courier New"/>
                <a:cs typeface="Courier New"/>
                <a:sym typeface="Courier New"/>
              </a:rPr>
              <a:t>'single quotes'</a:t>
            </a:r>
            <a:r>
              <a:rPr lang="en-US" sz="1000" b="0" i="0" dirty="0">
                <a:solidFill>
                  <a:srgbClr val="3D3947"/>
                </a:solidFill>
                <a:latin typeface="Inter"/>
                <a:ea typeface="Inter"/>
                <a:cs typeface="Inter"/>
                <a:sym typeface="Inter"/>
              </a:rPr>
              <a:t>.</a:t>
            </a:r>
          </a:p>
          <a:p>
            <a:pPr marL="0" indent="0" algn="l">
              <a:lnSpc>
                <a:spcPct val="120000"/>
              </a:lnSpc>
              <a:spcBef>
                <a:spcPts val="0"/>
              </a:spcBef>
              <a:spcAft>
                <a:spcPts val="0"/>
              </a:spcAft>
              <a:buNone/>
            </a:pPr>
            <a:r>
              <a:rPr lang="en-US" sz="1000" b="0" i="0" dirty="0">
                <a:solidFill>
                  <a:srgbClr val="3D3947"/>
                </a:solidFill>
                <a:latin typeface="Inter"/>
                <a:ea typeface="Inter"/>
                <a:cs typeface="Inter"/>
                <a:sym typeface="Inter"/>
              </a:rPr>
              <a:t xml:space="preserve">Missing values: </a:t>
            </a:r>
            <a:r>
              <a:rPr lang="en-US" sz="1000" b="1" i="0" dirty="0">
                <a:solidFill>
                  <a:srgbClr val="1D1B24"/>
                </a:solidFill>
                <a:latin typeface="Courier New"/>
                <a:ea typeface="Courier New"/>
                <a:cs typeface="Courier New"/>
                <a:sym typeface="Courier New"/>
              </a:rPr>
              <a:t>IS NULL</a:t>
            </a:r>
            <a:r>
              <a:rPr lang="en-US" sz="1000" b="0" i="0" dirty="0">
                <a:solidFill>
                  <a:srgbClr val="3D3947"/>
                </a:solidFill>
                <a:latin typeface="Inter"/>
                <a:ea typeface="Inter"/>
                <a:cs typeface="Inter"/>
                <a:sym typeface="Inter"/>
              </a:rPr>
              <a:t xml:space="preserve">, never </a:t>
            </a:r>
            <a:r>
              <a:rPr lang="en-US" sz="1000" b="1" i="0" dirty="0">
                <a:solidFill>
                  <a:srgbClr val="1D1B24"/>
                </a:solidFill>
                <a:latin typeface="Courier New"/>
                <a:ea typeface="Courier New"/>
                <a:cs typeface="Courier New"/>
                <a:sym typeface="Courier New"/>
              </a:rPr>
              <a:t>= NULL</a:t>
            </a:r>
            <a:r>
              <a:rPr lang="en-US" sz="1000" b="0" i="0" dirty="0">
                <a:solidFill>
                  <a:srgbClr val="3D3947"/>
                </a:solidFill>
                <a:latin typeface="Inter"/>
                <a:ea typeface="Inter"/>
                <a:cs typeface="Inter"/>
                <a:sym typeface="Inter"/>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A2EB1CB5-65C4-4D80-AC92-C7813DB0939B}"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2 · SORTING · DATA STORY 1</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The largest LEGO sets ever made</a:t>
            </a:r>
          </a:p>
        </p:txBody>
      </p:sp>
      <p:sp>
        <p:nvSpPr>
          <p:cNvPr id="2006" name="Chart card"/>
          <p:cNvSpPr/>
          <p:nvPr/>
        </p:nvSpPr>
        <p:spPr>
          <a:xfrm>
            <a:off x="612648" y="1298448"/>
            <a:ext cx="4709160" cy="313639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graphicFrame>
        <p:nvGraphicFramePr>
          <p:cNvPr id="2007" name="Chart 2006"/>
          <p:cNvGraphicFramePr>
            <a:graphicFrameLocks noGrp="1"/>
          </p:cNvGraphicFramePr>
          <p:nvPr/>
        </p:nvGraphicFramePr>
        <p:xfrm>
          <a:off x="731520" y="1389888"/>
          <a:ext cx="4480560" cy="2971800"/>
        </p:xfrm>
        <a:graphic>
          <a:graphicData uri="http://schemas.openxmlformats.org/drawingml/2006/chart">
            <c:chart xmlns:c="http://schemas.openxmlformats.org/drawingml/2006/chart" r:id="rId3"/>
          </a:graphicData>
        </a:graphic>
      </p:graphicFrame>
      <p:sp>
        <p:nvSpPr>
          <p:cNvPr id="2007" name="Card"/>
          <p:cNvSpPr/>
          <p:nvPr/>
        </p:nvSpPr>
        <p:spPr>
          <a:xfrm>
            <a:off x="5550408" y="1298448"/>
            <a:ext cx="2980944" cy="107899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08" name="Kicker"/>
          <p:cNvSpPr txBox="1"/>
          <p:nvPr/>
        </p:nvSpPr>
        <p:spPr>
          <a:xfrm>
            <a:off x="5715000" y="1408176"/>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THE STORY</a:t>
            </a:r>
          </a:p>
        </p:txBody>
      </p:sp>
      <p:sp>
        <p:nvSpPr>
          <p:cNvPr id="2009" name="Text"/>
          <p:cNvSpPr txBox="1"/>
          <p:nvPr/>
        </p:nvSpPr>
        <p:spPr>
          <a:xfrm>
            <a:off x="5715000" y="1627632"/>
            <a:ext cx="2706624" cy="237744"/>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250" b="1" i="0" dirty="0">
                <a:solidFill>
                  <a:srgbClr val="351C75"/>
                </a:solidFill>
                <a:latin typeface="Space Grotesk"/>
                <a:ea typeface="Space Grotesk"/>
                <a:cs typeface="Space Grotesk"/>
                <a:sym typeface="Space Grotesk"/>
              </a:rPr>
              <a:t>Which set has the most parts?</a:t>
            </a:r>
          </a:p>
        </p:txBody>
      </p:sp>
      <p:sp>
        <p:nvSpPr>
          <p:cNvPr id="2010" name="Text"/>
          <p:cNvSpPr txBox="1"/>
          <p:nvPr/>
        </p:nvSpPr>
        <p:spPr>
          <a:xfrm>
            <a:off x="5715000" y="1920240"/>
            <a:ext cx="2706624" cy="36576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50" b="0" i="0" dirty="0">
                <a:solidFill>
                  <a:srgbClr val="3D3947"/>
                </a:solidFill>
                <a:latin typeface="Inter"/>
                <a:ea typeface="Inter"/>
                <a:cs typeface="Inter"/>
                <a:sym typeface="Inter"/>
              </a:rPr>
              <a:t xml:space="preserve">Taj Mahal: </a:t>
            </a:r>
            <a:r>
              <a:rPr lang="en-US" sz="1050" b="1" i="0" dirty="0">
                <a:solidFill>
                  <a:srgbClr val="1D1B24"/>
                </a:solidFill>
                <a:latin typeface="Courier New"/>
                <a:ea typeface="Courier New"/>
                <a:cs typeface="Courier New"/>
                <a:sym typeface="Courier New"/>
              </a:rPr>
              <a:t>5,922</a:t>
            </a:r>
            <a:r>
              <a:rPr lang="en-US" sz="1050" b="0" i="0" dirty="0">
                <a:solidFill>
                  <a:srgbClr val="3D3947"/>
                </a:solidFill>
                <a:latin typeface="Inter"/>
                <a:ea typeface="Inter"/>
                <a:cs typeface="Inter"/>
                <a:sym typeface="Inter"/>
              </a:rPr>
              <a:t xml:space="preserve"> parts, one of only 4 sets above 5,000.</a:t>
            </a:r>
          </a:p>
        </p:txBody>
      </p:sp>
      <p:sp>
        <p:nvSpPr>
          <p:cNvPr id="2011" name="Code card"/>
          <p:cNvSpPr/>
          <p:nvPr/>
        </p:nvSpPr>
        <p:spPr>
          <a:xfrm>
            <a:off x="5550408" y="2514600"/>
            <a:ext cx="2980944" cy="1097280"/>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2" name="Kicker"/>
          <p:cNvSpPr txBox="1"/>
          <p:nvPr/>
        </p:nvSpPr>
        <p:spPr>
          <a:xfrm>
            <a:off x="5696712" y="2606040"/>
            <a:ext cx="2706624"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1" i="0" dirty="0">
                <a:solidFill>
                  <a:srgbClr val="E8A93A"/>
                </a:solidFill>
                <a:latin typeface="Inter"/>
                <a:ea typeface="Inter"/>
                <a:cs typeface="Inter"/>
                <a:sym typeface="Inter"/>
              </a:rPr>
              <a:t>THE TOOL</a:t>
            </a:r>
          </a:p>
        </p:txBody>
      </p:sp>
      <p:sp>
        <p:nvSpPr>
          <p:cNvPr id="2013" name="Code"/>
          <p:cNvSpPr txBox="1"/>
          <p:nvPr/>
        </p:nvSpPr>
        <p:spPr>
          <a:xfrm>
            <a:off x="5696712" y="2825496"/>
            <a:ext cx="2706624" cy="713232"/>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SELECT</a:t>
            </a:r>
            <a:r>
              <a:rPr lang="en-US" sz="950" b="0" i="0" dirty="0">
                <a:solidFill>
                  <a:srgbClr val="F6F4EF"/>
                </a:solidFill>
                <a:latin typeface="Courier New"/>
                <a:ea typeface="Courier New"/>
                <a:cs typeface="Courier New"/>
                <a:sym typeface="Courier New"/>
              </a:rPr>
              <a:t xml:space="preserve"> name, year, num_parts</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sets</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ORDER BY</a:t>
            </a:r>
            <a:r>
              <a:rPr lang="en-US" sz="950" b="0" i="0" dirty="0">
                <a:solidFill>
                  <a:srgbClr val="F6F4EF"/>
                </a:solidFill>
                <a:latin typeface="Courier New"/>
                <a:ea typeface="Courier New"/>
                <a:cs typeface="Courier New"/>
                <a:sym typeface="Courier New"/>
              </a:rPr>
              <a:t xml:space="preserve"> num_parts </a:t>
            </a:r>
            <a:r>
              <a:rPr lang="en-US" sz="950" b="1" i="0" dirty="0">
                <a:solidFill>
                  <a:srgbClr val="E8A93A"/>
                </a:solidFill>
                <a:latin typeface="Courier New"/>
                <a:ea typeface="Courier New"/>
                <a:cs typeface="Courier New"/>
                <a:sym typeface="Courier New"/>
              </a:rPr>
              <a:t>DESC</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LIMIT</a:t>
            </a:r>
            <a:r>
              <a:rPr lang="en-US" sz="950" b="0" i="0" dirty="0">
                <a:solidFill>
                  <a:srgbClr val="F6F4EF"/>
                </a:solidFill>
                <a:latin typeface="Courier New"/>
                <a:ea typeface="Courier New"/>
                <a:cs typeface="Courier New"/>
                <a:sym typeface="Courier New"/>
              </a:rPr>
              <a:t xml:space="preserve"> 10</a:t>
            </a:r>
          </a:p>
        </p:txBody>
      </p:sp>
      <p:sp>
        <p:nvSpPr>
          <p:cNvPr id="2014" name="Card"/>
          <p:cNvSpPr/>
          <p:nvPr/>
        </p:nvSpPr>
        <p:spPr>
          <a:xfrm>
            <a:off x="5550408" y="3749040"/>
            <a:ext cx="2980944" cy="68580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5" name="Kicker"/>
          <p:cNvSpPr txBox="1"/>
          <p:nvPr/>
        </p:nvSpPr>
        <p:spPr>
          <a:xfrm>
            <a:off x="5715000" y="3831336"/>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READ THE ROWS</a:t>
            </a:r>
          </a:p>
        </p:txBody>
      </p:sp>
      <p:sp>
        <p:nvSpPr>
          <p:cNvPr id="2016" name="Text"/>
          <p:cNvSpPr txBox="1"/>
          <p:nvPr/>
        </p:nvSpPr>
        <p:spPr>
          <a:xfrm>
            <a:off x="5715000" y="4050792"/>
            <a:ext cx="2706624" cy="329184"/>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50" b="0" i="0" dirty="0">
                <a:solidFill>
                  <a:srgbClr val="3D3947"/>
                </a:solidFill>
                <a:latin typeface="Inter"/>
                <a:ea typeface="Inter"/>
                <a:cs typeface="Inter"/>
                <a:sym typeface="Inter"/>
              </a:rPr>
              <a:t>2 of the top 3 are bags of bricks.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896AADBC-CBF2-405F-8C93-32B48616E303}"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3 · SUMMARIZING · DATA STORY 2</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Are LEGO sets getting bigger?</a:t>
            </a:r>
          </a:p>
        </p:txBody>
      </p:sp>
      <p:sp>
        <p:nvSpPr>
          <p:cNvPr id="2006" name="Card"/>
          <p:cNvSpPr/>
          <p:nvPr/>
        </p:nvSpPr>
        <p:spPr>
          <a:xfrm>
            <a:off x="612648" y="1298448"/>
            <a:ext cx="2103120" cy="80467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07" name="Text"/>
          <p:cNvSpPr txBox="1"/>
          <p:nvPr/>
        </p:nvSpPr>
        <p:spPr>
          <a:xfrm>
            <a:off x="795528" y="1426464"/>
            <a:ext cx="1783080" cy="219456"/>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300" b="1" i="0" dirty="0">
                <a:solidFill>
                  <a:srgbClr val="351C75"/>
                </a:solidFill>
                <a:latin typeface="Space Grotesk"/>
                <a:ea typeface="Space Grotesk"/>
                <a:cs typeface="Space Grotesk"/>
                <a:sym typeface="Space Grotesk"/>
              </a:rPr>
              <a:t>Every set</a:t>
            </a:r>
          </a:p>
        </p:txBody>
      </p:sp>
      <p:sp>
        <p:nvSpPr>
          <p:cNvPr id="2008" name="Text"/>
          <p:cNvSpPr txBox="1"/>
          <p:nvPr/>
        </p:nvSpPr>
        <p:spPr>
          <a:xfrm>
            <a:off x="795528" y="1755648"/>
            <a:ext cx="178308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0" i="0" dirty="0">
                <a:solidFill>
                  <a:srgbClr val="3D3947"/>
                </a:solidFill>
                <a:latin typeface="Inter"/>
                <a:ea typeface="Inter"/>
                <a:cs typeface="Inter"/>
                <a:sym typeface="Inter"/>
              </a:rPr>
              <a:t>one row = one set</a:t>
            </a:r>
          </a:p>
        </p:txBody>
      </p:sp>
      <p:sp>
        <p:nvSpPr>
          <p:cNvPr id="2009" name="Arrow"/>
          <p:cNvSpPr/>
          <p:nvPr/>
        </p:nvSpPr>
        <p:spPr>
          <a:xfrm>
            <a:off x="2779776" y="1600200"/>
            <a:ext cx="292608" cy="201168"/>
          </a:xfrm>
          <a:prstGeom prst="righ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0" name="Code card"/>
          <p:cNvSpPr/>
          <p:nvPr/>
        </p:nvSpPr>
        <p:spPr>
          <a:xfrm>
            <a:off x="3127248" y="1298448"/>
            <a:ext cx="2560320" cy="804672"/>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1" name="Code"/>
          <p:cNvSpPr txBox="1"/>
          <p:nvPr/>
        </p:nvSpPr>
        <p:spPr>
          <a:xfrm>
            <a:off x="3310128" y="1426464"/>
            <a:ext cx="2240280" cy="201168"/>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50" b="1" i="0" dirty="0">
                <a:solidFill>
                  <a:srgbClr val="E8A93A"/>
                </a:solidFill>
                <a:latin typeface="Courier New"/>
                <a:ea typeface="Courier New"/>
                <a:cs typeface="Courier New"/>
                <a:sym typeface="Courier New"/>
              </a:rPr>
              <a:t>GROUP BY</a:t>
            </a:r>
            <a:r>
              <a:rPr lang="en-US" sz="1050" b="0" i="0" dirty="0">
                <a:solidFill>
                  <a:srgbClr val="F6F4EF"/>
                </a:solidFill>
                <a:latin typeface="Courier New"/>
                <a:ea typeface="Courier New"/>
                <a:cs typeface="Courier New"/>
                <a:sym typeface="Courier New"/>
              </a:rPr>
              <a:t xml:space="preserve"> year</a:t>
            </a:r>
          </a:p>
        </p:txBody>
      </p:sp>
      <p:sp>
        <p:nvSpPr>
          <p:cNvPr id="2012" name="Text"/>
          <p:cNvSpPr txBox="1"/>
          <p:nvPr/>
        </p:nvSpPr>
        <p:spPr>
          <a:xfrm>
            <a:off x="3310128" y="1755648"/>
            <a:ext cx="224028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0" i="0" dirty="0">
                <a:solidFill>
                  <a:srgbClr val="F6F4EF"/>
                </a:solidFill>
                <a:latin typeface="Inter"/>
                <a:ea typeface="Inter"/>
                <a:cs typeface="Inter"/>
                <a:sym typeface="Inter"/>
              </a:rPr>
              <a:t>split into 66 groups, one per year</a:t>
            </a:r>
          </a:p>
        </p:txBody>
      </p:sp>
      <p:sp>
        <p:nvSpPr>
          <p:cNvPr id="2013" name="Arrow"/>
          <p:cNvSpPr/>
          <p:nvPr/>
        </p:nvSpPr>
        <p:spPr>
          <a:xfrm>
            <a:off x="5751576" y="1600200"/>
            <a:ext cx="292608" cy="201168"/>
          </a:xfrm>
          <a:prstGeom prst="righ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4" name="Code card"/>
          <p:cNvSpPr/>
          <p:nvPr/>
        </p:nvSpPr>
        <p:spPr>
          <a:xfrm>
            <a:off x="6099048" y="1298448"/>
            <a:ext cx="2432304" cy="804672"/>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5" name="Code"/>
          <p:cNvSpPr txBox="1"/>
          <p:nvPr/>
        </p:nvSpPr>
        <p:spPr>
          <a:xfrm>
            <a:off x="6281928" y="1426464"/>
            <a:ext cx="2148840" cy="201168"/>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50" b="1" i="0" dirty="0">
                <a:solidFill>
                  <a:srgbClr val="E8A93A"/>
                </a:solidFill>
                <a:latin typeface="Courier New"/>
                <a:ea typeface="Courier New"/>
                <a:cs typeface="Courier New"/>
                <a:sym typeface="Courier New"/>
              </a:rPr>
              <a:t>COUNT</a:t>
            </a:r>
            <a:r>
              <a:rPr lang="en-US" sz="1050" b="0" i="0" dirty="0">
                <a:solidFill>
                  <a:srgbClr val="F6F4EF"/>
                </a:solidFill>
                <a:latin typeface="Courier New"/>
                <a:ea typeface="Courier New"/>
                <a:cs typeface="Courier New"/>
                <a:sym typeface="Courier New"/>
              </a:rPr>
              <a:t xml:space="preserve">(*), </a:t>
            </a:r>
            <a:r>
              <a:rPr lang="en-US" sz="1050" b="1" i="0" dirty="0">
                <a:solidFill>
                  <a:srgbClr val="E8A93A"/>
                </a:solidFill>
                <a:latin typeface="Courier New"/>
                <a:ea typeface="Courier New"/>
                <a:cs typeface="Courier New"/>
                <a:sym typeface="Courier New"/>
              </a:rPr>
              <a:t>AVG</a:t>
            </a:r>
            <a:r>
              <a:rPr lang="en-US" sz="1050" b="0" i="0" dirty="0">
                <a:solidFill>
                  <a:srgbClr val="F6F4EF"/>
                </a:solidFill>
                <a:latin typeface="Courier New"/>
                <a:ea typeface="Courier New"/>
                <a:cs typeface="Courier New"/>
                <a:sym typeface="Courier New"/>
              </a:rPr>
              <a:t>(num_parts)</a:t>
            </a:r>
          </a:p>
        </p:txBody>
      </p:sp>
      <p:sp>
        <p:nvSpPr>
          <p:cNvPr id="2016" name="Text"/>
          <p:cNvSpPr txBox="1"/>
          <p:nvPr/>
        </p:nvSpPr>
        <p:spPr>
          <a:xfrm>
            <a:off x="6281928" y="1755648"/>
            <a:ext cx="214884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0" i="0" dirty="0">
                <a:solidFill>
                  <a:srgbClr val="F6F4EF"/>
                </a:solidFill>
                <a:latin typeface="Inter"/>
                <a:ea typeface="Inter"/>
                <a:cs typeface="Inter"/>
                <a:sym typeface="Inter"/>
              </a:rPr>
              <a:t>one summary row per year</a:t>
            </a:r>
          </a:p>
        </p:txBody>
      </p:sp>
      <p:sp>
        <p:nvSpPr>
          <p:cNvPr id="2017" name="Chart card"/>
          <p:cNvSpPr/>
          <p:nvPr/>
        </p:nvSpPr>
        <p:spPr>
          <a:xfrm>
            <a:off x="612648" y="2267712"/>
            <a:ext cx="4846320" cy="2167128"/>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graphicFrame>
        <p:nvGraphicFramePr>
          <p:cNvPr id="2018" name="Chart 2017"/>
          <p:cNvGraphicFramePr>
            <a:graphicFrameLocks noGrp="1"/>
          </p:cNvGraphicFramePr>
          <p:nvPr/>
        </p:nvGraphicFramePr>
        <p:xfrm>
          <a:off x="731520" y="2331720"/>
          <a:ext cx="4617720" cy="2057400"/>
        </p:xfrm>
        <a:graphic>
          <a:graphicData uri="http://schemas.openxmlformats.org/drawingml/2006/chart">
            <c:chart xmlns:c="http://schemas.openxmlformats.org/drawingml/2006/chart" r:id="rId3"/>
          </a:graphicData>
        </a:graphic>
      </p:graphicFrame>
      <p:sp>
        <p:nvSpPr>
          <p:cNvPr id="2018" name="Card"/>
          <p:cNvSpPr/>
          <p:nvPr/>
        </p:nvSpPr>
        <p:spPr>
          <a:xfrm>
            <a:off x="5687568" y="2267712"/>
            <a:ext cx="2843784" cy="100584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9" name="Text"/>
          <p:cNvSpPr txBox="1"/>
          <p:nvPr/>
        </p:nvSpPr>
        <p:spPr>
          <a:xfrm>
            <a:off x="5852160" y="2359152"/>
            <a:ext cx="2569464" cy="38404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2400" b="1" i="0" dirty="0">
                <a:solidFill>
                  <a:srgbClr val="5A2D8C"/>
                </a:solidFill>
                <a:latin typeface="Space Grotesk"/>
                <a:ea typeface="Space Grotesk"/>
                <a:cs typeface="Space Grotesk"/>
                <a:sym typeface="Space Grotesk"/>
              </a:rPr>
              <a:t>4,425</a:t>
            </a:r>
          </a:p>
        </p:txBody>
      </p:sp>
      <p:sp>
        <p:nvSpPr>
          <p:cNvPr id="2020" name="Text"/>
          <p:cNvSpPr txBox="1"/>
          <p:nvPr/>
        </p:nvSpPr>
        <p:spPr>
          <a:xfrm>
            <a:off x="5852160" y="2779776"/>
            <a:ext cx="2569464" cy="41148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00" b="0" i="0" dirty="0">
                <a:solidFill>
                  <a:srgbClr val="3D3947"/>
                </a:solidFill>
                <a:latin typeface="Inter"/>
                <a:ea typeface="Inter"/>
                <a:cs typeface="Inter"/>
                <a:sym typeface="Inter"/>
              </a:rPr>
              <a:t>sets in the 2010s, up from 132 in the 1950s</a:t>
            </a:r>
          </a:p>
        </p:txBody>
      </p:sp>
      <p:sp>
        <p:nvSpPr>
          <p:cNvPr id="2021" name="Code card"/>
          <p:cNvSpPr/>
          <p:nvPr/>
        </p:nvSpPr>
        <p:spPr>
          <a:xfrm>
            <a:off x="5687568" y="3429000"/>
            <a:ext cx="2843784" cy="1005840"/>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2" name="Text"/>
          <p:cNvSpPr txBox="1"/>
          <p:nvPr/>
        </p:nvSpPr>
        <p:spPr>
          <a:xfrm>
            <a:off x="5852160" y="3520440"/>
            <a:ext cx="2569464" cy="38404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2400" b="1" i="0" dirty="0">
                <a:solidFill>
                  <a:srgbClr val="E8A93A"/>
                </a:solidFill>
                <a:latin typeface="Space Grotesk"/>
                <a:ea typeface="Space Grotesk"/>
                <a:cs typeface="Space Grotesk"/>
                <a:sym typeface="Space Grotesk"/>
              </a:rPr>
              <a:t>296</a:t>
            </a:r>
          </a:p>
        </p:txBody>
      </p:sp>
      <p:sp>
        <p:nvSpPr>
          <p:cNvPr id="2023" name="Text"/>
          <p:cNvSpPr txBox="1"/>
          <p:nvPr/>
        </p:nvSpPr>
        <p:spPr>
          <a:xfrm>
            <a:off x="5852160" y="3941064"/>
            <a:ext cx="2569464" cy="41148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00" b="0" i="0" dirty="0">
                <a:solidFill>
                  <a:srgbClr val="F6F4EF"/>
                </a:solidFill>
                <a:latin typeface="Inter"/>
                <a:ea typeface="Inter"/>
                <a:cs typeface="Inter"/>
                <a:sym typeface="Inter"/>
              </a:rPr>
              <a:t>sets in 2017: an incomplete year, not a real drop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5552BB05-124D-4487-A904-F8ACDA29DE56}"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3 · SUMMARIZING</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Filter groups, build categories</a:t>
            </a:r>
          </a:p>
        </p:txBody>
      </p:sp>
      <p:sp>
        <p:nvSpPr>
          <p:cNvPr id="2006" name="Card"/>
          <p:cNvSpPr/>
          <p:nvPr/>
        </p:nvSpPr>
        <p:spPr>
          <a:xfrm>
            <a:off x="612648" y="1298448"/>
            <a:ext cx="3794760" cy="89611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07" name="Text"/>
          <p:cNvSpPr txBox="1"/>
          <p:nvPr/>
        </p:nvSpPr>
        <p:spPr>
          <a:xfrm>
            <a:off x="777240" y="1408176"/>
            <a:ext cx="109728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250" b="1" i="0" dirty="0">
                <a:solidFill>
                  <a:srgbClr val="351C75"/>
                </a:solidFill>
                <a:latin typeface="Space Grotesk"/>
                <a:ea typeface="Space Grotesk"/>
                <a:cs typeface="Space Grotesk"/>
                <a:sym typeface="Space Grotesk"/>
              </a:rPr>
              <a:t>WHERE</a:t>
            </a:r>
          </a:p>
        </p:txBody>
      </p:sp>
      <p:sp>
        <p:nvSpPr>
          <p:cNvPr id="2008" name="Text"/>
          <p:cNvSpPr txBox="1"/>
          <p:nvPr/>
        </p:nvSpPr>
        <p:spPr>
          <a:xfrm>
            <a:off x="1828800" y="1426464"/>
            <a:ext cx="246888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0" i="0" dirty="0">
                <a:solidFill>
                  <a:srgbClr val="3D3947"/>
                </a:solidFill>
                <a:latin typeface="Inter"/>
                <a:ea typeface="Inter"/>
                <a:cs typeface="Inter"/>
                <a:sym typeface="Inter"/>
              </a:rPr>
              <a:t>filters rows, before grouping</a:t>
            </a:r>
          </a:p>
        </p:txBody>
      </p:sp>
      <p:sp>
        <p:nvSpPr>
          <p:cNvPr id="2009" name="Code card"/>
          <p:cNvSpPr/>
          <p:nvPr/>
        </p:nvSpPr>
        <p:spPr>
          <a:xfrm>
            <a:off x="777240" y="1719072"/>
            <a:ext cx="3465576" cy="347472"/>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0" name="Code"/>
          <p:cNvSpPr txBox="1"/>
          <p:nvPr/>
        </p:nvSpPr>
        <p:spPr>
          <a:xfrm>
            <a:off x="914400" y="1783080"/>
            <a:ext cx="3246120" cy="219456"/>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00" b="1" i="0" dirty="0">
                <a:solidFill>
                  <a:srgbClr val="E8A93A"/>
                </a:solidFill>
                <a:latin typeface="Courier New"/>
                <a:ea typeface="Courier New"/>
                <a:cs typeface="Courier New"/>
                <a:sym typeface="Courier New"/>
              </a:rPr>
              <a:t>WHERE</a:t>
            </a:r>
            <a:r>
              <a:rPr lang="en-US" sz="1000" b="0" i="0" dirty="0">
                <a:solidFill>
                  <a:srgbClr val="F6F4EF"/>
                </a:solidFill>
                <a:latin typeface="Courier New"/>
                <a:ea typeface="Courier New"/>
                <a:cs typeface="Courier New"/>
                <a:sym typeface="Courier New"/>
              </a:rPr>
              <a:t xml:space="preserve"> num_parts &gt; 0</a:t>
            </a:r>
          </a:p>
        </p:txBody>
      </p:sp>
      <p:sp>
        <p:nvSpPr>
          <p:cNvPr id="2011" name="Card"/>
          <p:cNvSpPr/>
          <p:nvPr/>
        </p:nvSpPr>
        <p:spPr>
          <a:xfrm>
            <a:off x="612648" y="2322576"/>
            <a:ext cx="3794760" cy="89611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2" name="Text"/>
          <p:cNvSpPr txBox="1"/>
          <p:nvPr/>
        </p:nvSpPr>
        <p:spPr>
          <a:xfrm>
            <a:off x="777240" y="2432304"/>
            <a:ext cx="109728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250" b="1" i="0" dirty="0">
                <a:solidFill>
                  <a:srgbClr val="351C75"/>
                </a:solidFill>
                <a:latin typeface="Space Grotesk"/>
                <a:ea typeface="Space Grotesk"/>
                <a:cs typeface="Space Grotesk"/>
                <a:sym typeface="Space Grotesk"/>
              </a:rPr>
              <a:t>HAVING</a:t>
            </a:r>
          </a:p>
        </p:txBody>
      </p:sp>
      <p:sp>
        <p:nvSpPr>
          <p:cNvPr id="2013" name="Text"/>
          <p:cNvSpPr txBox="1"/>
          <p:nvPr/>
        </p:nvSpPr>
        <p:spPr>
          <a:xfrm>
            <a:off x="1828800" y="2450592"/>
            <a:ext cx="246888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0" i="0" dirty="0">
                <a:solidFill>
                  <a:srgbClr val="3D3947"/>
                </a:solidFill>
                <a:latin typeface="Inter"/>
                <a:ea typeface="Inter"/>
                <a:cs typeface="Inter"/>
                <a:sym typeface="Inter"/>
              </a:rPr>
              <a:t>filters groups, after grouping</a:t>
            </a:r>
          </a:p>
        </p:txBody>
      </p:sp>
      <p:sp>
        <p:nvSpPr>
          <p:cNvPr id="2014" name="Code card"/>
          <p:cNvSpPr/>
          <p:nvPr/>
        </p:nvSpPr>
        <p:spPr>
          <a:xfrm>
            <a:off x="777240" y="2743200"/>
            <a:ext cx="3465576" cy="347472"/>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5" name="Code"/>
          <p:cNvSpPr txBox="1"/>
          <p:nvPr/>
        </p:nvSpPr>
        <p:spPr>
          <a:xfrm>
            <a:off x="914400" y="2807208"/>
            <a:ext cx="3246120" cy="219456"/>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00" b="1" i="0" dirty="0">
                <a:solidFill>
                  <a:srgbClr val="E8A93A"/>
                </a:solidFill>
                <a:latin typeface="Courier New"/>
                <a:ea typeface="Courier New"/>
                <a:cs typeface="Courier New"/>
                <a:sym typeface="Courier New"/>
              </a:rPr>
              <a:t>HAVING</a:t>
            </a:r>
            <a:r>
              <a:rPr lang="en-US" sz="1000" b="0" i="0" dirty="0">
                <a:solidFill>
                  <a:srgbClr val="F6F4EF"/>
                </a:solidFill>
                <a:latin typeface="Courier New"/>
                <a:ea typeface="Courier New"/>
                <a:cs typeface="Courier New"/>
                <a:sym typeface="Courier New"/>
              </a:rPr>
              <a:t xml:space="preserve"> </a:t>
            </a:r>
            <a:r>
              <a:rPr lang="en-US" sz="1000" b="1" i="0" dirty="0">
                <a:solidFill>
                  <a:srgbClr val="E8A93A"/>
                </a:solidFill>
                <a:latin typeface="Courier New"/>
                <a:ea typeface="Courier New"/>
                <a:cs typeface="Courier New"/>
                <a:sym typeface="Courier New"/>
              </a:rPr>
              <a:t>COUNT</a:t>
            </a:r>
            <a:r>
              <a:rPr lang="en-US" sz="1000" b="0" i="0" dirty="0">
                <a:solidFill>
                  <a:srgbClr val="F6F4EF"/>
                </a:solidFill>
                <a:latin typeface="Courier New"/>
                <a:ea typeface="Courier New"/>
                <a:cs typeface="Courier New"/>
                <a:sym typeface="Courier New"/>
              </a:rPr>
              <a:t>(*) &gt; 500</a:t>
            </a:r>
          </a:p>
        </p:txBody>
      </p:sp>
      <p:sp>
        <p:nvSpPr>
          <p:cNvPr id="2016" name="Card"/>
          <p:cNvSpPr/>
          <p:nvPr/>
        </p:nvSpPr>
        <p:spPr>
          <a:xfrm>
            <a:off x="612648" y="3346704"/>
            <a:ext cx="3794760" cy="1088136"/>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7" name="Kicker"/>
          <p:cNvSpPr txBox="1"/>
          <p:nvPr/>
        </p:nvSpPr>
        <p:spPr>
          <a:xfrm>
            <a:off x="777240" y="3456432"/>
            <a:ext cx="347472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YEARS WITH MORE THAN 500 SETS</a:t>
            </a:r>
          </a:p>
        </p:txBody>
      </p:sp>
      <p:sp>
        <p:nvSpPr>
          <p:cNvPr id="2018" name="Shape"/>
          <p:cNvSpPr/>
          <p:nvPr/>
        </p:nvSpPr>
        <p:spPr>
          <a:xfrm>
            <a:off x="777240" y="3767328"/>
            <a:ext cx="502920" cy="292608"/>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950" b="1" i="0" dirty="0">
                <a:solidFill>
                  <a:srgbClr val="E8A93A"/>
                </a:solidFill>
                <a:latin typeface="Courier New"/>
                <a:ea typeface="Courier New"/>
                <a:cs typeface="Courier New"/>
                <a:sym typeface="Courier New"/>
              </a:rPr>
              <a:t>2011</a:t>
            </a:r>
          </a:p>
        </p:txBody>
      </p:sp>
      <p:sp>
        <p:nvSpPr>
          <p:cNvPr id="2019" name="Shape"/>
          <p:cNvSpPr/>
          <p:nvPr/>
        </p:nvSpPr>
        <p:spPr>
          <a:xfrm>
            <a:off x="1353312" y="3767328"/>
            <a:ext cx="502920" cy="292608"/>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950" b="1" i="0" dirty="0">
                <a:solidFill>
                  <a:srgbClr val="E8A93A"/>
                </a:solidFill>
                <a:latin typeface="Courier New"/>
                <a:ea typeface="Courier New"/>
                <a:cs typeface="Courier New"/>
                <a:sym typeface="Courier New"/>
              </a:rPr>
              <a:t>2012</a:t>
            </a:r>
          </a:p>
        </p:txBody>
      </p:sp>
      <p:sp>
        <p:nvSpPr>
          <p:cNvPr id="2020" name="Shape"/>
          <p:cNvSpPr/>
          <p:nvPr/>
        </p:nvSpPr>
        <p:spPr>
          <a:xfrm>
            <a:off x="1929384" y="3767328"/>
            <a:ext cx="502920" cy="292608"/>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950" b="1" i="0" dirty="0">
                <a:solidFill>
                  <a:srgbClr val="E8A93A"/>
                </a:solidFill>
                <a:latin typeface="Courier New"/>
                <a:ea typeface="Courier New"/>
                <a:cs typeface="Courier New"/>
                <a:sym typeface="Courier New"/>
              </a:rPr>
              <a:t>2013</a:t>
            </a:r>
          </a:p>
        </p:txBody>
      </p:sp>
      <p:sp>
        <p:nvSpPr>
          <p:cNvPr id="2021" name="Shape"/>
          <p:cNvSpPr/>
          <p:nvPr/>
        </p:nvSpPr>
        <p:spPr>
          <a:xfrm>
            <a:off x="2505456" y="3767328"/>
            <a:ext cx="502920" cy="292608"/>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950" b="1" i="0" dirty="0">
                <a:solidFill>
                  <a:srgbClr val="E8A93A"/>
                </a:solidFill>
                <a:latin typeface="Courier New"/>
                <a:ea typeface="Courier New"/>
                <a:cs typeface="Courier New"/>
                <a:sym typeface="Courier New"/>
              </a:rPr>
              <a:t>2014</a:t>
            </a:r>
          </a:p>
        </p:txBody>
      </p:sp>
      <p:sp>
        <p:nvSpPr>
          <p:cNvPr id="2022" name="Shape"/>
          <p:cNvSpPr/>
          <p:nvPr/>
        </p:nvSpPr>
        <p:spPr>
          <a:xfrm>
            <a:off x="3081528" y="3767328"/>
            <a:ext cx="502920" cy="292608"/>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950" b="1" i="0" dirty="0">
                <a:solidFill>
                  <a:srgbClr val="E8A93A"/>
                </a:solidFill>
                <a:latin typeface="Courier New"/>
                <a:ea typeface="Courier New"/>
                <a:cs typeface="Courier New"/>
                <a:sym typeface="Courier New"/>
              </a:rPr>
              <a:t>2015</a:t>
            </a:r>
          </a:p>
        </p:txBody>
      </p:sp>
      <p:sp>
        <p:nvSpPr>
          <p:cNvPr id="2023" name="Shape"/>
          <p:cNvSpPr/>
          <p:nvPr/>
        </p:nvSpPr>
        <p:spPr>
          <a:xfrm>
            <a:off x="3657600" y="3767328"/>
            <a:ext cx="502920" cy="292608"/>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950" b="1" i="0" dirty="0">
                <a:solidFill>
                  <a:srgbClr val="E8A93A"/>
                </a:solidFill>
                <a:latin typeface="Courier New"/>
                <a:ea typeface="Courier New"/>
                <a:cs typeface="Courier New"/>
                <a:sym typeface="Courier New"/>
              </a:rPr>
              <a:t>2016</a:t>
            </a:r>
          </a:p>
        </p:txBody>
      </p:sp>
      <p:sp>
        <p:nvSpPr>
          <p:cNvPr id="2024" name="Text"/>
          <p:cNvSpPr txBox="1"/>
          <p:nvPr/>
        </p:nvSpPr>
        <p:spPr>
          <a:xfrm>
            <a:off x="777240" y="4142232"/>
            <a:ext cx="356616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950" b="0" i="0" dirty="0">
                <a:solidFill>
                  <a:srgbClr val="625D6E"/>
                </a:solidFill>
                <a:latin typeface="Inter"/>
                <a:ea typeface="Inter"/>
                <a:cs typeface="Inter"/>
                <a:sym typeface="Inter"/>
              </a:rPr>
              <a:t>Peak: 713 sets in 2014</a:t>
            </a:r>
          </a:p>
        </p:txBody>
      </p:sp>
      <p:sp>
        <p:nvSpPr>
          <p:cNvPr id="2025" name="Chart card"/>
          <p:cNvSpPr/>
          <p:nvPr/>
        </p:nvSpPr>
        <p:spPr>
          <a:xfrm>
            <a:off x="4636008" y="1298448"/>
            <a:ext cx="3895344" cy="1938528"/>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graphicFrame>
        <p:nvGraphicFramePr>
          <p:cNvPr id="2026" name="Chart 2025"/>
          <p:cNvGraphicFramePr>
            <a:graphicFrameLocks noGrp="1"/>
          </p:cNvGraphicFramePr>
          <p:nvPr/>
        </p:nvGraphicFramePr>
        <p:xfrm>
          <a:off x="4727448" y="1353312"/>
          <a:ext cx="3712464" cy="1847088"/>
        </p:xfrm>
        <a:graphic>
          <a:graphicData uri="http://schemas.openxmlformats.org/drawingml/2006/chart">
            <c:chart xmlns:c="http://schemas.openxmlformats.org/drawingml/2006/chart" r:id="rId3"/>
          </a:graphicData>
        </a:graphic>
      </p:graphicFrame>
      <p:sp>
        <p:nvSpPr>
          <p:cNvPr id="2026" name="Code card"/>
          <p:cNvSpPr/>
          <p:nvPr/>
        </p:nvSpPr>
        <p:spPr>
          <a:xfrm>
            <a:off x="4636008" y="3346704"/>
            <a:ext cx="3895344" cy="1088136"/>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7" name="Kicker"/>
          <p:cNvSpPr txBox="1"/>
          <p:nvPr/>
        </p:nvSpPr>
        <p:spPr>
          <a:xfrm>
            <a:off x="4782312" y="3438144"/>
            <a:ext cx="3621024"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1" i="0" dirty="0">
                <a:solidFill>
                  <a:srgbClr val="E8A93A"/>
                </a:solidFill>
                <a:latin typeface="Inter"/>
                <a:ea typeface="Inter"/>
                <a:cs typeface="Inter"/>
                <a:sym typeface="Inter"/>
              </a:rPr>
              <a:t>THE TOOL</a:t>
            </a:r>
          </a:p>
        </p:txBody>
      </p:sp>
      <p:sp>
        <p:nvSpPr>
          <p:cNvPr id="2028" name="Code"/>
          <p:cNvSpPr txBox="1"/>
          <p:nvPr/>
        </p:nvSpPr>
        <p:spPr>
          <a:xfrm>
            <a:off x="4782312" y="3657600"/>
            <a:ext cx="3621024" cy="704088"/>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CASE</a:t>
            </a: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WHEN</a:t>
            </a:r>
            <a:r>
              <a:rPr lang="en-US" sz="950" b="0" i="0" dirty="0">
                <a:solidFill>
                  <a:srgbClr val="F6F4EF"/>
                </a:solidFill>
                <a:latin typeface="Courier New"/>
                <a:ea typeface="Courier New"/>
                <a:cs typeface="Courier New"/>
                <a:sym typeface="Courier New"/>
              </a:rPr>
              <a:t xml:space="preserve"> num_parts &lt; 100 </a:t>
            </a:r>
            <a:r>
              <a:rPr lang="en-US" sz="950" b="1" i="0" dirty="0">
                <a:solidFill>
                  <a:srgbClr val="E8A93A"/>
                </a:solidFill>
                <a:latin typeface="Courier New"/>
                <a:ea typeface="Courier New"/>
                <a:cs typeface="Courier New"/>
                <a:sym typeface="Courier New"/>
              </a:rPr>
              <a:t>THEN</a:t>
            </a:r>
            <a:r>
              <a:rPr lang="en-US" sz="950" b="0" i="0" dirty="0">
                <a:solidFill>
                  <a:srgbClr val="F6F4EF"/>
                </a:solidFill>
                <a:latin typeface="Courier New"/>
                <a:ea typeface="Courier New"/>
                <a:cs typeface="Courier New"/>
                <a:sym typeface="Courier New"/>
              </a:rPr>
              <a:t xml:space="preserve"> 'Small'</a:t>
            </a:r>
          </a:p>
          <a:p>
            <a:pPr marL="0" indent="0" algn="l">
              <a:lnSpc>
                <a:spcPct val="120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WHEN</a:t>
            </a:r>
            <a:r>
              <a:rPr lang="en-US" sz="950" b="0" i="0" dirty="0">
                <a:solidFill>
                  <a:srgbClr val="F6F4EF"/>
                </a:solidFill>
                <a:latin typeface="Courier New"/>
                <a:ea typeface="Courier New"/>
                <a:cs typeface="Courier New"/>
                <a:sym typeface="Courier New"/>
              </a:rPr>
              <a:t xml:space="preserve"> num_parts &lt; 500 </a:t>
            </a:r>
            <a:r>
              <a:rPr lang="en-US" sz="950" b="1" i="0" dirty="0">
                <a:solidFill>
                  <a:srgbClr val="E8A93A"/>
                </a:solidFill>
                <a:latin typeface="Courier New"/>
                <a:ea typeface="Courier New"/>
                <a:cs typeface="Courier New"/>
                <a:sym typeface="Courier New"/>
              </a:rPr>
              <a:t>THEN</a:t>
            </a:r>
            <a:r>
              <a:rPr lang="en-US" sz="950" b="0" i="0" dirty="0">
                <a:solidFill>
                  <a:srgbClr val="F6F4EF"/>
                </a:solidFill>
                <a:latin typeface="Courier New"/>
                <a:ea typeface="Courier New"/>
                <a:cs typeface="Courier New"/>
                <a:sym typeface="Courier New"/>
              </a:rPr>
              <a:t xml:space="preserve"> 'Medium'</a:t>
            </a:r>
          </a:p>
          <a:p>
            <a:pPr marL="0" indent="0" algn="l">
              <a:lnSpc>
                <a:spcPct val="120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ELSE</a:t>
            </a:r>
            <a:r>
              <a:rPr lang="en-US" sz="950" b="0" i="0" dirty="0">
                <a:solidFill>
                  <a:srgbClr val="F6F4EF"/>
                </a:solidFill>
                <a:latin typeface="Courier New"/>
                <a:ea typeface="Courier New"/>
                <a:cs typeface="Courier New"/>
                <a:sym typeface="Courier New"/>
              </a:rPr>
              <a:t xml:space="preserve"> 'Large' </a:t>
            </a:r>
            <a:r>
              <a:rPr lang="en-US" sz="950" b="1" i="0" dirty="0">
                <a:solidFill>
                  <a:srgbClr val="E8A93A"/>
                </a:solidFill>
                <a:latin typeface="Courier New"/>
                <a:ea typeface="Courier New"/>
                <a:cs typeface="Courier New"/>
                <a:sym typeface="Courier New"/>
              </a:rPr>
              <a:t>END</a:t>
            </a: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size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4332AC8A-E665-4438-A54F-05CA8770093B}"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4 · COMBINING TABLES</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JOIN: follow the key to the other table</a:t>
            </a:r>
          </a:p>
        </p:txBody>
      </p:sp>
      <p:sp>
        <p:nvSpPr>
          <p:cNvPr id="2006" name="Text"/>
          <p:cNvSpPr txBox="1"/>
          <p:nvPr/>
        </p:nvSpPr>
        <p:spPr>
          <a:xfrm>
            <a:off x="612648" y="1261872"/>
            <a:ext cx="274320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950" b="1" i="0" dirty="0">
                <a:solidFill>
                  <a:srgbClr val="351C75"/>
                </a:solidFill>
                <a:latin typeface="Courier New"/>
                <a:ea typeface="Courier New"/>
                <a:cs typeface="Courier New"/>
                <a:sym typeface="Courier New"/>
              </a:rPr>
              <a:t>sets AS s</a:t>
            </a:r>
          </a:p>
        </p:txBody>
      </p:sp>
      <p:sp>
        <p:nvSpPr>
          <p:cNvPr id="2007" name="Shape"/>
          <p:cNvSpPr/>
          <p:nvPr/>
        </p:nvSpPr>
        <p:spPr>
          <a:xfrm>
            <a:off x="612648" y="1499616"/>
            <a:ext cx="1572768" cy="256032"/>
          </a:xfrm>
          <a:prstGeom prst="rect">
            <a:avLst/>
          </a:prstGeom>
          <a:solidFill>
            <a:srgbClr val="5A2D8C"/>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FFFFFF"/>
                </a:solidFill>
                <a:latin typeface="Courier New"/>
                <a:ea typeface="Courier New"/>
                <a:cs typeface="Courier New"/>
                <a:sym typeface="Courier New"/>
              </a:rPr>
              <a:t>name</a:t>
            </a:r>
          </a:p>
        </p:txBody>
      </p:sp>
      <p:sp>
        <p:nvSpPr>
          <p:cNvPr id="2008" name="Shape"/>
          <p:cNvSpPr/>
          <p:nvPr/>
        </p:nvSpPr>
        <p:spPr>
          <a:xfrm>
            <a:off x="612648" y="1755648"/>
            <a:ext cx="1572768"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Taj Mahal</a:t>
            </a:r>
          </a:p>
        </p:txBody>
      </p:sp>
      <p:sp>
        <p:nvSpPr>
          <p:cNvPr id="2009" name="Shape"/>
          <p:cNvSpPr/>
          <p:nvPr/>
        </p:nvSpPr>
        <p:spPr>
          <a:xfrm>
            <a:off x="612648" y="2011680"/>
            <a:ext cx="1572768"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Tower Bridge</a:t>
            </a:r>
          </a:p>
        </p:txBody>
      </p:sp>
      <p:sp>
        <p:nvSpPr>
          <p:cNvPr id="2010" name="Shape"/>
          <p:cNvSpPr/>
          <p:nvPr/>
        </p:nvSpPr>
        <p:spPr>
          <a:xfrm>
            <a:off x="612648" y="2267712"/>
            <a:ext cx="1572768"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Millennium Falcon - UCS</a:t>
            </a:r>
          </a:p>
        </p:txBody>
      </p:sp>
      <p:sp>
        <p:nvSpPr>
          <p:cNvPr id="2011" name="Shape"/>
          <p:cNvSpPr/>
          <p:nvPr/>
        </p:nvSpPr>
        <p:spPr>
          <a:xfrm>
            <a:off x="612648" y="2523744"/>
            <a:ext cx="1572768"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Window Exploration Bag</a:t>
            </a:r>
          </a:p>
        </p:txBody>
      </p:sp>
      <p:sp>
        <p:nvSpPr>
          <p:cNvPr id="2012" name="Shape"/>
          <p:cNvSpPr/>
          <p:nvPr/>
        </p:nvSpPr>
        <p:spPr>
          <a:xfrm>
            <a:off x="2185416" y="1499616"/>
            <a:ext cx="658368" cy="256032"/>
          </a:xfrm>
          <a:prstGeom prst="rect">
            <a:avLst/>
          </a:prstGeom>
          <a:solidFill>
            <a:srgbClr val="5A2D8C"/>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FFFFFF"/>
                </a:solidFill>
                <a:latin typeface="Courier New"/>
                <a:ea typeface="Courier New"/>
                <a:cs typeface="Courier New"/>
                <a:sym typeface="Courier New"/>
              </a:rPr>
              <a:t>theme_id</a:t>
            </a:r>
          </a:p>
        </p:txBody>
      </p:sp>
      <p:sp>
        <p:nvSpPr>
          <p:cNvPr id="2013" name="Shape"/>
          <p:cNvSpPr/>
          <p:nvPr/>
        </p:nvSpPr>
        <p:spPr>
          <a:xfrm>
            <a:off x="2185416" y="1755648"/>
            <a:ext cx="658368" cy="256032"/>
          </a:xfrm>
          <a:prstGeom prst="rect">
            <a:avLst/>
          </a:prstGeom>
          <a:solidFill>
            <a:srgbClr val="FBEFD9"/>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1D1B24"/>
                </a:solidFill>
                <a:latin typeface="Inter"/>
                <a:ea typeface="Inter"/>
                <a:cs typeface="Inter"/>
                <a:sym typeface="Inter"/>
              </a:rPr>
              <a:t>276</a:t>
            </a:r>
          </a:p>
        </p:txBody>
      </p:sp>
      <p:sp>
        <p:nvSpPr>
          <p:cNvPr id="2014" name="Shape"/>
          <p:cNvSpPr/>
          <p:nvPr/>
        </p:nvSpPr>
        <p:spPr>
          <a:xfrm>
            <a:off x="2185416" y="2011680"/>
            <a:ext cx="658368" cy="256032"/>
          </a:xfrm>
          <a:prstGeom prst="rect">
            <a:avLst/>
          </a:prstGeom>
          <a:solidFill>
            <a:srgbClr val="FBEFD9"/>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1D1B24"/>
                </a:solidFill>
                <a:latin typeface="Inter"/>
                <a:ea typeface="Inter"/>
                <a:cs typeface="Inter"/>
                <a:sym typeface="Inter"/>
              </a:rPr>
              <a:t>276</a:t>
            </a:r>
          </a:p>
        </p:txBody>
      </p:sp>
      <p:sp>
        <p:nvSpPr>
          <p:cNvPr id="2015" name="Shape"/>
          <p:cNvSpPr/>
          <p:nvPr/>
        </p:nvSpPr>
        <p:spPr>
          <a:xfrm>
            <a:off x="2185416" y="2267712"/>
            <a:ext cx="658368" cy="256032"/>
          </a:xfrm>
          <a:prstGeom prst="rect">
            <a:avLst/>
          </a:prstGeom>
          <a:solidFill>
            <a:srgbClr val="EFE7F8"/>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1D1B24"/>
                </a:solidFill>
                <a:latin typeface="Inter"/>
                <a:ea typeface="Inter"/>
                <a:cs typeface="Inter"/>
                <a:sym typeface="Inter"/>
              </a:rPr>
              <a:t>174</a:t>
            </a:r>
          </a:p>
        </p:txBody>
      </p:sp>
      <p:sp>
        <p:nvSpPr>
          <p:cNvPr id="2016" name="Shape"/>
          <p:cNvSpPr/>
          <p:nvPr/>
        </p:nvSpPr>
        <p:spPr>
          <a:xfrm>
            <a:off x="2185416" y="2523744"/>
            <a:ext cx="658368" cy="256032"/>
          </a:xfrm>
          <a:prstGeom prst="rect">
            <a:avLst/>
          </a:prstGeom>
          <a:solidFill>
            <a:srgbClr val="E3E8FB"/>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1D1B24"/>
                </a:solidFill>
                <a:latin typeface="Inter"/>
                <a:ea typeface="Inter"/>
                <a:cs typeface="Inter"/>
                <a:sym typeface="Inter"/>
              </a:rPr>
              <a:t>507</a:t>
            </a:r>
          </a:p>
        </p:txBody>
      </p:sp>
      <p:sp>
        <p:nvSpPr>
          <p:cNvPr id="2017" name="Text"/>
          <p:cNvSpPr txBox="1"/>
          <p:nvPr/>
        </p:nvSpPr>
        <p:spPr>
          <a:xfrm>
            <a:off x="3172968" y="1261872"/>
            <a:ext cx="274320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950" b="1" i="0" dirty="0">
                <a:solidFill>
                  <a:srgbClr val="351C75"/>
                </a:solidFill>
                <a:latin typeface="Courier New"/>
                <a:ea typeface="Courier New"/>
                <a:cs typeface="Courier New"/>
                <a:sym typeface="Courier New"/>
              </a:rPr>
              <a:t>themes AS t</a:t>
            </a:r>
          </a:p>
        </p:txBody>
      </p:sp>
      <p:sp>
        <p:nvSpPr>
          <p:cNvPr id="2018" name="Shape"/>
          <p:cNvSpPr/>
          <p:nvPr/>
        </p:nvSpPr>
        <p:spPr>
          <a:xfrm>
            <a:off x="3172968" y="1499616"/>
            <a:ext cx="411480" cy="256032"/>
          </a:xfrm>
          <a:prstGeom prst="rect">
            <a:avLst/>
          </a:prstGeom>
          <a:solidFill>
            <a:srgbClr val="5A2D8C"/>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FFFFFF"/>
                </a:solidFill>
                <a:latin typeface="Courier New"/>
                <a:ea typeface="Courier New"/>
                <a:cs typeface="Courier New"/>
                <a:sym typeface="Courier New"/>
              </a:rPr>
              <a:t>id</a:t>
            </a:r>
          </a:p>
        </p:txBody>
      </p:sp>
      <p:sp>
        <p:nvSpPr>
          <p:cNvPr id="2019" name="Shape"/>
          <p:cNvSpPr/>
          <p:nvPr/>
        </p:nvSpPr>
        <p:spPr>
          <a:xfrm>
            <a:off x="3172968" y="1755648"/>
            <a:ext cx="411480" cy="256032"/>
          </a:xfrm>
          <a:prstGeom prst="rect">
            <a:avLst/>
          </a:prstGeom>
          <a:solidFill>
            <a:srgbClr val="EFE7F8"/>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1D1B24"/>
                </a:solidFill>
                <a:latin typeface="Inter"/>
                <a:ea typeface="Inter"/>
                <a:cs typeface="Inter"/>
                <a:sym typeface="Inter"/>
              </a:rPr>
              <a:t>174</a:t>
            </a:r>
          </a:p>
        </p:txBody>
      </p:sp>
      <p:sp>
        <p:nvSpPr>
          <p:cNvPr id="2020" name="Shape"/>
          <p:cNvSpPr/>
          <p:nvPr/>
        </p:nvSpPr>
        <p:spPr>
          <a:xfrm>
            <a:off x="3172968" y="2011680"/>
            <a:ext cx="411480" cy="256032"/>
          </a:xfrm>
          <a:prstGeom prst="rect">
            <a:avLst/>
          </a:prstGeom>
          <a:solidFill>
            <a:srgbClr val="FBEFD9"/>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1D1B24"/>
                </a:solidFill>
                <a:latin typeface="Inter"/>
                <a:ea typeface="Inter"/>
                <a:cs typeface="Inter"/>
                <a:sym typeface="Inter"/>
              </a:rPr>
              <a:t>276</a:t>
            </a:r>
          </a:p>
        </p:txBody>
      </p:sp>
      <p:sp>
        <p:nvSpPr>
          <p:cNvPr id="2021" name="Shape"/>
          <p:cNvSpPr/>
          <p:nvPr/>
        </p:nvSpPr>
        <p:spPr>
          <a:xfrm>
            <a:off x="3172968" y="2267712"/>
            <a:ext cx="411480" cy="256032"/>
          </a:xfrm>
          <a:prstGeom prst="rect">
            <a:avLst/>
          </a:prstGeom>
          <a:solidFill>
            <a:srgbClr val="E3E8FB"/>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1D1B24"/>
                </a:solidFill>
                <a:latin typeface="Inter"/>
                <a:ea typeface="Inter"/>
                <a:cs typeface="Inter"/>
                <a:sym typeface="Inter"/>
              </a:rPr>
              <a:t>507</a:t>
            </a:r>
          </a:p>
        </p:txBody>
      </p:sp>
      <p:sp>
        <p:nvSpPr>
          <p:cNvPr id="2022" name="Shape"/>
          <p:cNvSpPr/>
          <p:nvPr/>
        </p:nvSpPr>
        <p:spPr>
          <a:xfrm>
            <a:off x="3172968" y="2523744"/>
            <a:ext cx="411480" cy="256032"/>
          </a:xfrm>
          <a:prstGeom prst="rect">
            <a:avLst/>
          </a:prstGeom>
          <a:solidFill>
            <a:srgbClr val="F4F2F6"/>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ABA5B6"/>
                </a:solidFill>
                <a:latin typeface="Inter"/>
                <a:ea typeface="Inter"/>
                <a:cs typeface="Inter"/>
                <a:sym typeface="Inter"/>
              </a:rPr>
              <a:t>36</a:t>
            </a:r>
          </a:p>
        </p:txBody>
      </p:sp>
      <p:sp>
        <p:nvSpPr>
          <p:cNvPr id="2023" name="Shape"/>
          <p:cNvSpPr/>
          <p:nvPr/>
        </p:nvSpPr>
        <p:spPr>
          <a:xfrm>
            <a:off x="3584448" y="1499616"/>
            <a:ext cx="1536192" cy="256032"/>
          </a:xfrm>
          <a:prstGeom prst="rect">
            <a:avLst/>
          </a:prstGeom>
          <a:solidFill>
            <a:srgbClr val="5A2D8C"/>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FFFFFF"/>
                </a:solidFill>
                <a:latin typeface="Courier New"/>
                <a:ea typeface="Courier New"/>
                <a:cs typeface="Courier New"/>
                <a:sym typeface="Courier New"/>
              </a:rPr>
              <a:t>name</a:t>
            </a:r>
          </a:p>
        </p:txBody>
      </p:sp>
      <p:sp>
        <p:nvSpPr>
          <p:cNvPr id="2024" name="Shape"/>
          <p:cNvSpPr/>
          <p:nvPr/>
        </p:nvSpPr>
        <p:spPr>
          <a:xfrm>
            <a:off x="3584448" y="1755648"/>
            <a:ext cx="1536192"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Star Wars Episode 4/5/6</a:t>
            </a:r>
          </a:p>
        </p:txBody>
      </p:sp>
      <p:sp>
        <p:nvSpPr>
          <p:cNvPr id="2025" name="Shape"/>
          <p:cNvSpPr/>
          <p:nvPr/>
        </p:nvSpPr>
        <p:spPr>
          <a:xfrm>
            <a:off x="3584448" y="2011680"/>
            <a:ext cx="1536192"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Sculptures</a:t>
            </a:r>
          </a:p>
        </p:txBody>
      </p:sp>
      <p:sp>
        <p:nvSpPr>
          <p:cNvPr id="2026" name="Shape"/>
          <p:cNvSpPr/>
          <p:nvPr/>
        </p:nvSpPr>
        <p:spPr>
          <a:xfrm>
            <a:off x="3584448" y="2267712"/>
            <a:ext cx="1536192"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Educational and Dacta</a:t>
            </a:r>
          </a:p>
        </p:txBody>
      </p:sp>
      <p:sp>
        <p:nvSpPr>
          <p:cNvPr id="2027" name="Shape"/>
          <p:cNvSpPr/>
          <p:nvPr/>
        </p:nvSpPr>
        <p:spPr>
          <a:xfrm>
            <a:off x="3584448" y="2523744"/>
            <a:ext cx="1536192" cy="256032"/>
          </a:xfrm>
          <a:prstGeom prst="rect">
            <a:avLst/>
          </a:prstGeom>
          <a:solidFill>
            <a:srgbClr val="F4F2F6"/>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ABA5B6"/>
                </a:solidFill>
                <a:latin typeface="Inter"/>
                <a:ea typeface="Inter"/>
                <a:cs typeface="Inter"/>
                <a:sym typeface="Inter"/>
              </a:rPr>
              <a:t>Fire</a:t>
            </a:r>
          </a:p>
        </p:txBody>
      </p:sp>
      <p:sp>
        <p:nvSpPr>
          <p:cNvPr id="2028" name="Arrow"/>
          <p:cNvSpPr/>
          <p:nvPr/>
        </p:nvSpPr>
        <p:spPr>
          <a:xfrm>
            <a:off x="5257800" y="2057400"/>
            <a:ext cx="292608" cy="201168"/>
          </a:xfrm>
          <a:prstGeom prst="righ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9" name="Text"/>
          <p:cNvSpPr txBox="1"/>
          <p:nvPr/>
        </p:nvSpPr>
        <p:spPr>
          <a:xfrm>
            <a:off x="5669280" y="1261872"/>
            <a:ext cx="274320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950" b="1" i="0" dirty="0">
                <a:solidFill>
                  <a:srgbClr val="351C75"/>
                </a:solidFill>
                <a:latin typeface="Courier New"/>
                <a:ea typeface="Courier New"/>
                <a:cs typeface="Courier New"/>
                <a:sym typeface="Courier New"/>
              </a:rPr>
              <a:t>result</a:t>
            </a:r>
          </a:p>
        </p:txBody>
      </p:sp>
      <p:sp>
        <p:nvSpPr>
          <p:cNvPr id="2030" name="Shape"/>
          <p:cNvSpPr/>
          <p:nvPr/>
        </p:nvSpPr>
        <p:spPr>
          <a:xfrm>
            <a:off x="5669280" y="1499616"/>
            <a:ext cx="1463040" cy="256032"/>
          </a:xfrm>
          <a:prstGeom prst="rect">
            <a:avLst/>
          </a:prstGeom>
          <a:solidFill>
            <a:srgbClr val="5A2D8C"/>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FFFFFF"/>
                </a:solidFill>
                <a:latin typeface="Courier New"/>
                <a:ea typeface="Courier New"/>
                <a:cs typeface="Courier New"/>
                <a:sym typeface="Courier New"/>
              </a:rPr>
              <a:t>set</a:t>
            </a:r>
          </a:p>
        </p:txBody>
      </p:sp>
      <p:sp>
        <p:nvSpPr>
          <p:cNvPr id="2031" name="Shape"/>
          <p:cNvSpPr/>
          <p:nvPr/>
        </p:nvSpPr>
        <p:spPr>
          <a:xfrm>
            <a:off x="5669280" y="1755648"/>
            <a:ext cx="1463040"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Taj Mahal</a:t>
            </a:r>
          </a:p>
        </p:txBody>
      </p:sp>
      <p:sp>
        <p:nvSpPr>
          <p:cNvPr id="2032" name="Shape"/>
          <p:cNvSpPr/>
          <p:nvPr/>
        </p:nvSpPr>
        <p:spPr>
          <a:xfrm>
            <a:off x="5669280" y="2011680"/>
            <a:ext cx="1463040"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Tower Bridge</a:t>
            </a:r>
          </a:p>
        </p:txBody>
      </p:sp>
      <p:sp>
        <p:nvSpPr>
          <p:cNvPr id="2033" name="Shape"/>
          <p:cNvSpPr/>
          <p:nvPr/>
        </p:nvSpPr>
        <p:spPr>
          <a:xfrm>
            <a:off x="5669280" y="2267712"/>
            <a:ext cx="1463040"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Millennium Falcon - UCS</a:t>
            </a:r>
          </a:p>
        </p:txBody>
      </p:sp>
      <p:sp>
        <p:nvSpPr>
          <p:cNvPr id="2034" name="Shape"/>
          <p:cNvSpPr/>
          <p:nvPr/>
        </p:nvSpPr>
        <p:spPr>
          <a:xfrm>
            <a:off x="5669280" y="2523744"/>
            <a:ext cx="1463040"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Window Exploration Bag</a:t>
            </a:r>
          </a:p>
        </p:txBody>
      </p:sp>
      <p:sp>
        <p:nvSpPr>
          <p:cNvPr id="2035" name="Shape"/>
          <p:cNvSpPr/>
          <p:nvPr/>
        </p:nvSpPr>
        <p:spPr>
          <a:xfrm>
            <a:off x="7132320" y="1499616"/>
            <a:ext cx="1399032" cy="256032"/>
          </a:xfrm>
          <a:prstGeom prst="rect">
            <a:avLst/>
          </a:prstGeom>
          <a:solidFill>
            <a:srgbClr val="5A2D8C"/>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1" i="0" dirty="0">
                <a:solidFill>
                  <a:srgbClr val="FFFFFF"/>
                </a:solidFill>
                <a:latin typeface="Courier New"/>
                <a:ea typeface="Courier New"/>
                <a:cs typeface="Courier New"/>
                <a:sym typeface="Courier New"/>
              </a:rPr>
              <a:t>theme</a:t>
            </a:r>
          </a:p>
        </p:txBody>
      </p:sp>
      <p:sp>
        <p:nvSpPr>
          <p:cNvPr id="2036" name="Shape"/>
          <p:cNvSpPr/>
          <p:nvPr/>
        </p:nvSpPr>
        <p:spPr>
          <a:xfrm>
            <a:off x="7132320" y="1755648"/>
            <a:ext cx="1399032"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Sculptures</a:t>
            </a:r>
          </a:p>
        </p:txBody>
      </p:sp>
      <p:sp>
        <p:nvSpPr>
          <p:cNvPr id="2037" name="Shape"/>
          <p:cNvSpPr/>
          <p:nvPr/>
        </p:nvSpPr>
        <p:spPr>
          <a:xfrm>
            <a:off x="7132320" y="2011680"/>
            <a:ext cx="1399032"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Sculptures</a:t>
            </a:r>
          </a:p>
        </p:txBody>
      </p:sp>
      <p:sp>
        <p:nvSpPr>
          <p:cNvPr id="2038" name="Shape"/>
          <p:cNvSpPr/>
          <p:nvPr/>
        </p:nvSpPr>
        <p:spPr>
          <a:xfrm>
            <a:off x="7132320" y="2267712"/>
            <a:ext cx="1399032"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Star Wars Ep. 4/5/6</a:t>
            </a:r>
          </a:p>
        </p:txBody>
      </p:sp>
      <p:sp>
        <p:nvSpPr>
          <p:cNvPr id="2039" name="Shape"/>
          <p:cNvSpPr/>
          <p:nvPr/>
        </p:nvSpPr>
        <p:spPr>
          <a:xfrm>
            <a:off x="7132320" y="2523744"/>
            <a:ext cx="1399032" cy="256032"/>
          </a:xfrm>
          <a:prstGeom prst="rect">
            <a:avLst/>
          </a:prstGeom>
          <a:solidFill>
            <a:srgbClr val="FDFCFA"/>
          </a:solidFill>
          <a:ln w="12700">
            <a:solidFill>
              <a:srgbClr val="FFFFFF"/>
            </a:solidFill>
          </a:ln>
        </p:spPr>
        <p:txBody>
          <a:bodyPr wrap="square" lIns="64008" tIns="0" rIns="36576" bIns="0" anchor="ctr" anchorCtr="0">
            <a:noAutofit/>
          </a:bodyPr>
          <a:lstStyle/>
          <a:p>
            <a:pPr marL="0" indent="0" algn="l">
              <a:lnSpc>
                <a:spcPct val="100000"/>
              </a:lnSpc>
              <a:spcBef>
                <a:spcPts val="0"/>
              </a:spcBef>
              <a:spcAft>
                <a:spcPts val="0"/>
              </a:spcAft>
              <a:buNone/>
            </a:pPr>
            <a:r>
              <a:rPr lang="en-US" sz="850" b="0" i="0" dirty="0">
                <a:solidFill>
                  <a:srgbClr val="1D1B24"/>
                </a:solidFill>
                <a:latin typeface="Inter"/>
                <a:ea typeface="Inter"/>
                <a:cs typeface="Inter"/>
                <a:sym typeface="Inter"/>
              </a:rPr>
              <a:t>Educational and Dacta</a:t>
            </a:r>
          </a:p>
        </p:txBody>
      </p:sp>
      <p:sp>
        <p:nvSpPr>
          <p:cNvPr id="2040" name="Text"/>
          <p:cNvSpPr txBox="1"/>
          <p:nvPr/>
        </p:nvSpPr>
        <p:spPr>
          <a:xfrm>
            <a:off x="3172968" y="2834640"/>
            <a:ext cx="210312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900" b="0" i="1" dirty="0">
                <a:solidFill>
                  <a:srgbClr val="625D6E"/>
                </a:solidFill>
                <a:latin typeface="Inter"/>
                <a:ea typeface="Inter"/>
                <a:cs typeface="Inter"/>
                <a:sym typeface="Inter"/>
              </a:rPr>
              <a:t>Fire: no sets attached</a:t>
            </a:r>
          </a:p>
        </p:txBody>
      </p:sp>
      <p:sp>
        <p:nvSpPr>
          <p:cNvPr id="2041" name="Card"/>
          <p:cNvSpPr/>
          <p:nvPr/>
        </p:nvSpPr>
        <p:spPr>
          <a:xfrm>
            <a:off x="612648" y="3127248"/>
            <a:ext cx="3840480" cy="130759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42" name="Text"/>
          <p:cNvSpPr txBox="1"/>
          <p:nvPr/>
        </p:nvSpPr>
        <p:spPr>
          <a:xfrm>
            <a:off x="777240" y="3236976"/>
            <a:ext cx="137160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250" b="1" i="0" dirty="0">
                <a:solidFill>
                  <a:srgbClr val="351C75"/>
                </a:solidFill>
                <a:latin typeface="Space Grotesk"/>
                <a:ea typeface="Space Grotesk"/>
                <a:cs typeface="Space Grotesk"/>
                <a:sym typeface="Space Grotesk"/>
              </a:rPr>
              <a:t>JOIN</a:t>
            </a:r>
          </a:p>
        </p:txBody>
      </p:sp>
      <p:sp>
        <p:nvSpPr>
          <p:cNvPr id="2043" name="Text"/>
          <p:cNvSpPr txBox="1"/>
          <p:nvPr/>
        </p:nvSpPr>
        <p:spPr>
          <a:xfrm>
            <a:off x="1691640" y="3255264"/>
            <a:ext cx="265176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0" i="0" dirty="0">
                <a:solidFill>
                  <a:srgbClr val="3D3947"/>
                </a:solidFill>
                <a:latin typeface="Inter"/>
                <a:ea typeface="Inter"/>
                <a:cs typeface="Inter"/>
                <a:sym typeface="Inter"/>
              </a:rPr>
              <a:t>keeps rows that match in both</a:t>
            </a:r>
          </a:p>
        </p:txBody>
      </p:sp>
      <p:sp>
        <p:nvSpPr>
          <p:cNvPr id="2044" name="Code card"/>
          <p:cNvSpPr/>
          <p:nvPr/>
        </p:nvSpPr>
        <p:spPr>
          <a:xfrm>
            <a:off x="777240" y="3584448"/>
            <a:ext cx="3511296" cy="713232"/>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45" name="Code"/>
          <p:cNvSpPr txBox="1"/>
          <p:nvPr/>
        </p:nvSpPr>
        <p:spPr>
          <a:xfrm>
            <a:off x="914400" y="3675888"/>
            <a:ext cx="3291840" cy="548640"/>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sets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s</a:t>
            </a:r>
          </a:p>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JOIN</a:t>
            </a:r>
            <a:r>
              <a:rPr lang="en-US" sz="950" b="0" i="0" dirty="0">
                <a:solidFill>
                  <a:srgbClr val="F6F4EF"/>
                </a:solidFill>
                <a:latin typeface="Courier New"/>
                <a:ea typeface="Courier New"/>
                <a:cs typeface="Courier New"/>
                <a:sym typeface="Courier New"/>
              </a:rPr>
              <a:t xml:space="preserve"> themes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t</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ON</a:t>
            </a:r>
            <a:r>
              <a:rPr lang="en-US" sz="950" b="0" i="0" dirty="0">
                <a:solidFill>
                  <a:srgbClr val="F6F4EF"/>
                </a:solidFill>
                <a:latin typeface="Courier New"/>
                <a:ea typeface="Courier New"/>
                <a:cs typeface="Courier New"/>
                <a:sym typeface="Courier New"/>
              </a:rPr>
              <a:t xml:space="preserve"> s.theme_id = t.id</a:t>
            </a:r>
          </a:p>
        </p:txBody>
      </p:sp>
      <p:sp>
        <p:nvSpPr>
          <p:cNvPr id="2046" name="Card"/>
          <p:cNvSpPr/>
          <p:nvPr/>
        </p:nvSpPr>
        <p:spPr>
          <a:xfrm>
            <a:off x="4690872" y="3127248"/>
            <a:ext cx="3840480" cy="130759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47" name="Text"/>
          <p:cNvSpPr txBox="1"/>
          <p:nvPr/>
        </p:nvSpPr>
        <p:spPr>
          <a:xfrm>
            <a:off x="4855464" y="3236976"/>
            <a:ext cx="137160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250" b="1" i="0" dirty="0">
                <a:solidFill>
                  <a:srgbClr val="351C75"/>
                </a:solidFill>
                <a:latin typeface="Space Grotesk"/>
                <a:ea typeface="Space Grotesk"/>
                <a:cs typeface="Space Grotesk"/>
                <a:sym typeface="Space Grotesk"/>
              </a:rPr>
              <a:t>LEFT JOIN</a:t>
            </a:r>
          </a:p>
        </p:txBody>
      </p:sp>
      <p:sp>
        <p:nvSpPr>
          <p:cNvPr id="2048" name="Text"/>
          <p:cNvSpPr txBox="1"/>
          <p:nvPr/>
        </p:nvSpPr>
        <p:spPr>
          <a:xfrm>
            <a:off x="6035040" y="3255264"/>
            <a:ext cx="2423160"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0" i="0" dirty="0">
                <a:solidFill>
                  <a:srgbClr val="3D3947"/>
                </a:solidFill>
                <a:latin typeface="Inter"/>
                <a:ea typeface="Inter"/>
                <a:cs typeface="Inter"/>
                <a:sym typeface="Inter"/>
              </a:rPr>
              <a:t>keeps every left row</a:t>
            </a:r>
          </a:p>
        </p:txBody>
      </p:sp>
      <p:sp>
        <p:nvSpPr>
          <p:cNvPr id="2049" name="Code card"/>
          <p:cNvSpPr/>
          <p:nvPr/>
        </p:nvSpPr>
        <p:spPr>
          <a:xfrm>
            <a:off x="4855464" y="3584448"/>
            <a:ext cx="3511296" cy="713232"/>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50" name="Code"/>
          <p:cNvSpPr txBox="1"/>
          <p:nvPr/>
        </p:nvSpPr>
        <p:spPr>
          <a:xfrm>
            <a:off x="4992624" y="3675888"/>
            <a:ext cx="3291840" cy="548640"/>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themes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t</a:t>
            </a:r>
          </a:p>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LEFT JOIN</a:t>
            </a:r>
            <a:r>
              <a:rPr lang="en-US" sz="950" b="0" i="0" dirty="0">
                <a:solidFill>
                  <a:srgbClr val="F6F4EF"/>
                </a:solidFill>
                <a:latin typeface="Courier New"/>
                <a:ea typeface="Courier New"/>
                <a:cs typeface="Courier New"/>
                <a:sym typeface="Courier New"/>
              </a:rPr>
              <a:t xml:space="preserve"> sets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s </a:t>
            </a:r>
            <a:r>
              <a:rPr lang="en-US" sz="950" b="1" i="0" dirty="0">
                <a:solidFill>
                  <a:srgbClr val="E8A93A"/>
                </a:solidFill>
                <a:latin typeface="Courier New"/>
                <a:ea typeface="Courier New"/>
                <a:cs typeface="Courier New"/>
                <a:sym typeface="Courier New"/>
              </a:rPr>
              <a:t>ON</a:t>
            </a:r>
            <a:r>
              <a:rPr lang="en-US" sz="950" b="0" i="0" dirty="0">
                <a:solidFill>
                  <a:srgbClr val="F6F4EF"/>
                </a:solidFill>
                <a:latin typeface="Courier New"/>
                <a:ea typeface="Courier New"/>
                <a:cs typeface="Courier New"/>
                <a:sym typeface="Courier New"/>
              </a:rPr>
              <a:t xml:space="preserve"> ...</a:t>
            </a:r>
          </a:p>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WHERE</a:t>
            </a:r>
            <a:r>
              <a:rPr lang="en-US" sz="950" b="0" i="0" dirty="0">
                <a:solidFill>
                  <a:srgbClr val="F6F4EF"/>
                </a:solidFill>
                <a:latin typeface="Courier New"/>
                <a:ea typeface="Courier New"/>
                <a:cs typeface="Courier New"/>
                <a:sym typeface="Courier New"/>
              </a:rPr>
              <a:t xml:space="preserve"> s.set_num </a:t>
            </a:r>
            <a:r>
              <a:rPr lang="en-US" sz="950" b="1" i="0" dirty="0">
                <a:solidFill>
                  <a:srgbClr val="E8A93A"/>
                </a:solidFill>
                <a:latin typeface="Courier New"/>
                <a:ea typeface="Courier New"/>
                <a:cs typeface="Courier New"/>
                <a:sym typeface="Courier New"/>
              </a:rPr>
              <a:t>IS NULL</a:t>
            </a:r>
            <a:r>
              <a:rPr lang="en-US" sz="950" b="0" i="0" dirty="0">
                <a:solidFill>
                  <a:srgbClr val="F6F4EF"/>
                </a:solidFill>
                <a:latin typeface="Courier New"/>
                <a:ea typeface="Courier New"/>
                <a:cs typeface="Courier New"/>
                <a:sym typeface="Courier New"/>
              </a:rPr>
              <a:t xml:space="preserve">  </a:t>
            </a:r>
            <a:r>
              <a:rPr lang="en-US" sz="950" b="0" i="0" dirty="0">
                <a:solidFill>
                  <a:srgbClr val="A9A3B5"/>
                </a:solidFill>
                <a:latin typeface="Courier New"/>
                <a:ea typeface="Courier New"/>
                <a:cs typeface="Courier New"/>
                <a:sym typeface="Courier New"/>
              </a:rPr>
              <a:t>-- 39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5385CB5F-83EA-4E1C-841F-A3D07F1CABE0}"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4 · DATA STORIES 3 AND 4</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What LEGO builds most: themes and colors</a:t>
            </a:r>
          </a:p>
        </p:txBody>
      </p:sp>
      <p:sp>
        <p:nvSpPr>
          <p:cNvPr id="2006" name="Chart card"/>
          <p:cNvSpPr/>
          <p:nvPr/>
        </p:nvSpPr>
        <p:spPr>
          <a:xfrm>
            <a:off x="612648" y="1298448"/>
            <a:ext cx="3840480" cy="228600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graphicFrame>
        <p:nvGraphicFramePr>
          <p:cNvPr id="2007" name="Chart 2006"/>
          <p:cNvGraphicFramePr>
            <a:graphicFrameLocks noGrp="1"/>
          </p:cNvGraphicFramePr>
          <p:nvPr/>
        </p:nvGraphicFramePr>
        <p:xfrm>
          <a:off x="704088" y="1353312"/>
          <a:ext cx="3657600" cy="2194560"/>
        </p:xfrm>
        <a:graphic>
          <a:graphicData uri="http://schemas.openxmlformats.org/drawingml/2006/chart">
            <c:chart xmlns:c="http://schemas.openxmlformats.org/drawingml/2006/chart" r:id="rId3"/>
          </a:graphicData>
        </a:graphic>
      </p:graphicFrame>
      <p:sp>
        <p:nvSpPr>
          <p:cNvPr id="2007" name="Chart card"/>
          <p:cNvSpPr/>
          <p:nvPr/>
        </p:nvSpPr>
        <p:spPr>
          <a:xfrm>
            <a:off x="4690872" y="1298448"/>
            <a:ext cx="3840480" cy="2286000"/>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graphicFrame>
        <p:nvGraphicFramePr>
          <p:cNvPr id="2008" name="Chart 2007"/>
          <p:cNvGraphicFramePr>
            <a:graphicFrameLocks noGrp="1"/>
          </p:cNvGraphicFramePr>
          <p:nvPr/>
        </p:nvGraphicFramePr>
        <p:xfrm>
          <a:off x="4782312" y="1353312"/>
          <a:ext cx="3657600" cy="2194560"/>
        </p:xfrm>
        <a:graphic>
          <a:graphicData uri="http://schemas.openxmlformats.org/drawingml/2006/chart">
            <c:chart xmlns:c="http://schemas.openxmlformats.org/drawingml/2006/chart" r:id="rId4"/>
          </a:graphicData>
        </a:graphic>
      </p:graphicFrame>
      <p:sp>
        <p:nvSpPr>
          <p:cNvPr id="2008" name="Code card"/>
          <p:cNvSpPr/>
          <p:nvPr/>
        </p:nvSpPr>
        <p:spPr>
          <a:xfrm>
            <a:off x="612648" y="3685032"/>
            <a:ext cx="3840480" cy="749808"/>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09" name="Kicker"/>
          <p:cNvSpPr txBox="1"/>
          <p:nvPr/>
        </p:nvSpPr>
        <p:spPr>
          <a:xfrm>
            <a:off x="758952" y="3776472"/>
            <a:ext cx="356616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1" i="0" dirty="0">
                <a:solidFill>
                  <a:srgbClr val="E8A93A"/>
                </a:solidFill>
                <a:latin typeface="Inter"/>
                <a:ea typeface="Inter"/>
                <a:cs typeface="Inter"/>
                <a:sym typeface="Inter"/>
              </a:rPr>
              <a:t>DATA STORY 3</a:t>
            </a:r>
          </a:p>
        </p:txBody>
      </p:sp>
      <p:sp>
        <p:nvSpPr>
          <p:cNvPr id="2010" name="Code"/>
          <p:cNvSpPr txBox="1"/>
          <p:nvPr/>
        </p:nvSpPr>
        <p:spPr>
          <a:xfrm>
            <a:off x="758952" y="3995928"/>
            <a:ext cx="3566160" cy="36576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JOIN</a:t>
            </a:r>
            <a:r>
              <a:rPr lang="en-US" sz="950" b="0" i="0" dirty="0">
                <a:solidFill>
                  <a:srgbClr val="F6F4EF"/>
                </a:solidFill>
                <a:latin typeface="Courier New"/>
                <a:ea typeface="Courier New"/>
                <a:cs typeface="Courier New"/>
                <a:sym typeface="Courier New"/>
              </a:rPr>
              <a:t xml:space="preserve"> themes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t </a:t>
            </a:r>
            <a:r>
              <a:rPr lang="en-US" sz="950" b="1" i="0" dirty="0">
                <a:solidFill>
                  <a:srgbClr val="E8A93A"/>
                </a:solidFill>
                <a:latin typeface="Courier New"/>
                <a:ea typeface="Courier New"/>
                <a:cs typeface="Courier New"/>
                <a:sym typeface="Courier New"/>
              </a:rPr>
              <a:t>ON</a:t>
            </a:r>
            <a:r>
              <a:rPr lang="en-US" sz="950" b="0" i="0" dirty="0">
                <a:solidFill>
                  <a:srgbClr val="F6F4EF"/>
                </a:solidFill>
                <a:latin typeface="Courier New"/>
                <a:ea typeface="Courier New"/>
                <a:cs typeface="Courier New"/>
                <a:sym typeface="Courier New"/>
              </a:rPr>
              <a:t xml:space="preserve"> s.theme_id = t.id</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GROUP BY</a:t>
            </a:r>
            <a:r>
              <a:rPr lang="en-US" sz="950" b="0" i="0" dirty="0">
                <a:solidFill>
                  <a:srgbClr val="F6F4EF"/>
                </a:solidFill>
                <a:latin typeface="Courier New"/>
                <a:ea typeface="Courier New"/>
                <a:cs typeface="Courier New"/>
                <a:sym typeface="Courier New"/>
              </a:rPr>
              <a:t xml:space="preserve"> t.name  </a:t>
            </a:r>
            <a:r>
              <a:rPr lang="en-US" sz="950" b="0" i="0" dirty="0">
                <a:solidFill>
                  <a:srgbClr val="A9A3B5"/>
                </a:solidFill>
                <a:latin typeface="Courier New"/>
                <a:ea typeface="Courier New"/>
                <a:cs typeface="Courier New"/>
                <a:sym typeface="Courier New"/>
              </a:rPr>
              <a:t>-- Technic: 435</a:t>
            </a:r>
          </a:p>
        </p:txBody>
      </p:sp>
      <p:sp>
        <p:nvSpPr>
          <p:cNvPr id="2011" name="Code card"/>
          <p:cNvSpPr/>
          <p:nvPr/>
        </p:nvSpPr>
        <p:spPr>
          <a:xfrm>
            <a:off x="4690872" y="3685032"/>
            <a:ext cx="3840480" cy="749808"/>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2" name="Kicker"/>
          <p:cNvSpPr txBox="1"/>
          <p:nvPr/>
        </p:nvSpPr>
        <p:spPr>
          <a:xfrm>
            <a:off x="4837176" y="3776472"/>
            <a:ext cx="356616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1" i="0" dirty="0">
                <a:solidFill>
                  <a:srgbClr val="E8A93A"/>
                </a:solidFill>
                <a:latin typeface="Inter"/>
                <a:ea typeface="Inter"/>
                <a:cs typeface="Inter"/>
                <a:sym typeface="Inter"/>
              </a:rPr>
              <a:t>DATA STORY 4</a:t>
            </a:r>
          </a:p>
        </p:txBody>
      </p:sp>
      <p:sp>
        <p:nvSpPr>
          <p:cNvPr id="2013" name="Code"/>
          <p:cNvSpPr txBox="1"/>
          <p:nvPr/>
        </p:nvSpPr>
        <p:spPr>
          <a:xfrm>
            <a:off x="4837176" y="3995928"/>
            <a:ext cx="3566160" cy="36576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JOIN</a:t>
            </a:r>
            <a:r>
              <a:rPr lang="en-US" sz="950" b="0" i="0" dirty="0">
                <a:solidFill>
                  <a:srgbClr val="F6F4EF"/>
                </a:solidFill>
                <a:latin typeface="Courier New"/>
                <a:ea typeface="Courier New"/>
                <a:cs typeface="Courier New"/>
                <a:sym typeface="Courier New"/>
              </a:rPr>
              <a:t xml:space="preserve"> colors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c </a:t>
            </a:r>
            <a:r>
              <a:rPr lang="en-US" sz="950" b="1" i="0" dirty="0">
                <a:solidFill>
                  <a:srgbClr val="E8A93A"/>
                </a:solidFill>
                <a:latin typeface="Courier New"/>
                <a:ea typeface="Courier New"/>
                <a:cs typeface="Courier New"/>
                <a:sym typeface="Courier New"/>
              </a:rPr>
              <a:t>ON</a:t>
            </a:r>
            <a:r>
              <a:rPr lang="en-US" sz="950" b="0" i="0" dirty="0">
                <a:solidFill>
                  <a:srgbClr val="F6F4EF"/>
                </a:solidFill>
                <a:latin typeface="Courier New"/>
                <a:ea typeface="Courier New"/>
                <a:cs typeface="Courier New"/>
                <a:sym typeface="Courier New"/>
              </a:rPr>
              <a:t xml:space="preserve"> ip.color_id = c.id</a:t>
            </a:r>
          </a:p>
          <a:p>
            <a:pPr marL="0" indent="0" algn="l">
              <a:lnSpc>
                <a:spcPct val="120000"/>
              </a:lnSpc>
              <a:spcBef>
                <a:spcPts val="0"/>
              </a:spcBef>
              <a:spcAft>
                <a:spcPts val="0"/>
              </a:spcAft>
              <a:buNone/>
            </a:pPr>
            <a:r>
              <a:rPr lang="en-US" sz="950" b="1" i="0" dirty="0">
                <a:solidFill>
                  <a:srgbClr val="E8A93A"/>
                </a:solidFill>
                <a:latin typeface="Courier New"/>
                <a:ea typeface="Courier New"/>
                <a:cs typeface="Courier New"/>
                <a:sym typeface="Courier New"/>
              </a:rPr>
              <a:t>SUM</a:t>
            </a:r>
            <a:r>
              <a:rPr lang="en-US" sz="950" b="0" i="0" dirty="0">
                <a:solidFill>
                  <a:srgbClr val="F6F4EF"/>
                </a:solidFill>
                <a:latin typeface="Courier New"/>
                <a:ea typeface="Courier New"/>
                <a:cs typeface="Courier New"/>
                <a:sym typeface="Courier New"/>
              </a:rPr>
              <a:t xml:space="preserve">(ip.quantity)  </a:t>
            </a:r>
            <a:r>
              <a:rPr lang="en-US" sz="950" b="0" i="0" dirty="0">
                <a:solidFill>
                  <a:srgbClr val="A9A3B5"/>
                </a:solidFill>
                <a:latin typeface="Courier New"/>
                <a:ea typeface="Courier New"/>
                <a:cs typeface="Courier New"/>
                <a:sym typeface="Courier New"/>
              </a:rPr>
              <a:t>-- Black: 391,036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3DA9273E-7B42-406A-8276-0C802C18AB4D}"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5 · PUTTING IT TOGETHER</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SQL runs in a different order than you write it</a:t>
            </a:r>
          </a:p>
        </p:txBody>
      </p:sp>
      <p:sp>
        <p:nvSpPr>
          <p:cNvPr id="2006" name="Text"/>
          <p:cNvSpPr txBox="1"/>
          <p:nvPr/>
        </p:nvSpPr>
        <p:spPr>
          <a:xfrm>
            <a:off x="612648" y="1389888"/>
            <a:ext cx="109728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1" i="0" dirty="0">
                <a:solidFill>
                  <a:srgbClr val="5A2D8C"/>
                </a:solidFill>
                <a:latin typeface="Inter"/>
                <a:ea typeface="Inter"/>
                <a:cs typeface="Inter"/>
                <a:sym typeface="Inter"/>
              </a:rPr>
              <a:t>YOU WRITE</a:t>
            </a:r>
          </a:p>
        </p:txBody>
      </p:sp>
      <p:sp>
        <p:nvSpPr>
          <p:cNvPr id="2007" name="Text"/>
          <p:cNvSpPr txBox="1"/>
          <p:nvPr/>
        </p:nvSpPr>
        <p:spPr>
          <a:xfrm>
            <a:off x="612648" y="1865376"/>
            <a:ext cx="1097280" cy="182880"/>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00" b="1" i="0" dirty="0">
                <a:solidFill>
                  <a:srgbClr val="5A2D8C"/>
                </a:solidFill>
                <a:latin typeface="Inter"/>
                <a:ea typeface="Inter"/>
                <a:cs typeface="Inter"/>
                <a:sym typeface="Inter"/>
              </a:rPr>
              <a:t>SQL RUNS</a:t>
            </a:r>
          </a:p>
        </p:txBody>
      </p:sp>
      <p:sp>
        <p:nvSpPr>
          <p:cNvPr id="2008" name="Shape"/>
          <p:cNvSpPr/>
          <p:nvPr/>
        </p:nvSpPr>
        <p:spPr>
          <a:xfrm>
            <a:off x="1783080" y="1325880"/>
            <a:ext cx="859536" cy="310896"/>
          </a:xfrm>
          <a:prstGeom prst="roundRect">
            <a:avLst>
              <a:gd name="adj" fmla="val 8000"/>
            </a:avLst>
          </a:prstGeom>
          <a:solidFill>
            <a:srgbClr val="FDFCFA"/>
          </a:solidFill>
          <a:ln w="9525">
            <a:solidFill>
              <a:srgbClr val="DDD8E3"/>
            </a:solidFill>
          </a:ln>
        </p:spPr>
        <p:txBody>
          <a:bodyPr wrap="square" lIns="0" tIns="0" rIns="0" bIns="0" anchor="ctr" anchorCtr="0">
            <a:noAutofit/>
          </a:bodyPr>
          <a:lstStyle/>
          <a:p>
            <a:pPr marL="0" indent="0" algn="ctr">
              <a:lnSpc>
                <a:spcPct val="100000"/>
              </a:lnSpc>
              <a:spcBef>
                <a:spcPts val="0"/>
              </a:spcBef>
              <a:spcAft>
                <a:spcPts val="0"/>
              </a:spcAft>
              <a:buNone/>
            </a:pPr>
            <a:r>
              <a:rPr lang="en-US" sz="900" b="1" i="0" dirty="0">
                <a:solidFill>
                  <a:srgbClr val="5A2D8C"/>
                </a:solidFill>
                <a:latin typeface="Courier New"/>
                <a:ea typeface="Courier New"/>
                <a:cs typeface="Courier New"/>
                <a:sym typeface="Courier New"/>
              </a:rPr>
              <a:t>SELECT</a:t>
            </a:r>
          </a:p>
        </p:txBody>
      </p:sp>
      <p:sp>
        <p:nvSpPr>
          <p:cNvPr id="2009" name="Shape"/>
          <p:cNvSpPr/>
          <p:nvPr/>
        </p:nvSpPr>
        <p:spPr>
          <a:xfrm>
            <a:off x="2761488" y="1325880"/>
            <a:ext cx="859536" cy="310896"/>
          </a:xfrm>
          <a:prstGeom prst="roundRect">
            <a:avLst>
              <a:gd name="adj" fmla="val 8000"/>
            </a:avLst>
          </a:prstGeom>
          <a:solidFill>
            <a:srgbClr val="FDFCFA"/>
          </a:solidFill>
          <a:ln w="9525">
            <a:solidFill>
              <a:srgbClr val="DDD8E3"/>
            </a:solidFill>
          </a:ln>
        </p:spPr>
        <p:txBody>
          <a:bodyPr wrap="square" lIns="0" tIns="0" rIns="0"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FROM</a:t>
            </a:r>
          </a:p>
        </p:txBody>
      </p:sp>
      <p:sp>
        <p:nvSpPr>
          <p:cNvPr id="2010" name="Shape"/>
          <p:cNvSpPr/>
          <p:nvPr/>
        </p:nvSpPr>
        <p:spPr>
          <a:xfrm>
            <a:off x="3739896" y="1325880"/>
            <a:ext cx="859536" cy="310896"/>
          </a:xfrm>
          <a:prstGeom prst="roundRect">
            <a:avLst>
              <a:gd name="adj" fmla="val 8000"/>
            </a:avLst>
          </a:prstGeom>
          <a:solidFill>
            <a:srgbClr val="FDFCFA"/>
          </a:solidFill>
          <a:ln w="9525">
            <a:solidFill>
              <a:srgbClr val="DDD8E3"/>
            </a:solidFill>
          </a:ln>
        </p:spPr>
        <p:txBody>
          <a:bodyPr wrap="square" lIns="0" tIns="0" rIns="0"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WHERE</a:t>
            </a:r>
          </a:p>
        </p:txBody>
      </p:sp>
      <p:sp>
        <p:nvSpPr>
          <p:cNvPr id="2011" name="Shape"/>
          <p:cNvSpPr/>
          <p:nvPr/>
        </p:nvSpPr>
        <p:spPr>
          <a:xfrm>
            <a:off x="4718304" y="1325880"/>
            <a:ext cx="859536" cy="310896"/>
          </a:xfrm>
          <a:prstGeom prst="roundRect">
            <a:avLst>
              <a:gd name="adj" fmla="val 8000"/>
            </a:avLst>
          </a:prstGeom>
          <a:solidFill>
            <a:srgbClr val="FDFCFA"/>
          </a:solidFill>
          <a:ln w="9525">
            <a:solidFill>
              <a:srgbClr val="DDD8E3"/>
            </a:solidFill>
          </a:ln>
        </p:spPr>
        <p:txBody>
          <a:bodyPr wrap="square" lIns="0" tIns="0" rIns="0"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GROUP BY</a:t>
            </a:r>
          </a:p>
        </p:txBody>
      </p:sp>
      <p:sp>
        <p:nvSpPr>
          <p:cNvPr id="2012" name="Shape"/>
          <p:cNvSpPr/>
          <p:nvPr/>
        </p:nvSpPr>
        <p:spPr>
          <a:xfrm>
            <a:off x="5696712" y="1325880"/>
            <a:ext cx="859536" cy="310896"/>
          </a:xfrm>
          <a:prstGeom prst="roundRect">
            <a:avLst>
              <a:gd name="adj" fmla="val 8000"/>
            </a:avLst>
          </a:prstGeom>
          <a:solidFill>
            <a:srgbClr val="FDFCFA"/>
          </a:solidFill>
          <a:ln w="9525">
            <a:solidFill>
              <a:srgbClr val="DDD8E3"/>
            </a:solidFill>
          </a:ln>
        </p:spPr>
        <p:txBody>
          <a:bodyPr wrap="square" lIns="0" tIns="0" rIns="0"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HAVING</a:t>
            </a:r>
          </a:p>
        </p:txBody>
      </p:sp>
      <p:sp>
        <p:nvSpPr>
          <p:cNvPr id="2013" name="Shape"/>
          <p:cNvSpPr/>
          <p:nvPr/>
        </p:nvSpPr>
        <p:spPr>
          <a:xfrm>
            <a:off x="6675120" y="1325880"/>
            <a:ext cx="859536" cy="310896"/>
          </a:xfrm>
          <a:prstGeom prst="roundRect">
            <a:avLst>
              <a:gd name="adj" fmla="val 8000"/>
            </a:avLst>
          </a:prstGeom>
          <a:solidFill>
            <a:srgbClr val="FDFCFA"/>
          </a:solidFill>
          <a:ln w="9525">
            <a:solidFill>
              <a:srgbClr val="DDD8E3"/>
            </a:solidFill>
          </a:ln>
        </p:spPr>
        <p:txBody>
          <a:bodyPr wrap="square" lIns="0" tIns="0" rIns="0"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ORDER BY</a:t>
            </a:r>
          </a:p>
        </p:txBody>
      </p:sp>
      <p:sp>
        <p:nvSpPr>
          <p:cNvPr id="2014" name="Shape"/>
          <p:cNvSpPr/>
          <p:nvPr/>
        </p:nvSpPr>
        <p:spPr>
          <a:xfrm>
            <a:off x="7653528" y="1325880"/>
            <a:ext cx="859536" cy="310896"/>
          </a:xfrm>
          <a:prstGeom prst="roundRect">
            <a:avLst>
              <a:gd name="adj" fmla="val 8000"/>
            </a:avLst>
          </a:prstGeom>
          <a:solidFill>
            <a:srgbClr val="FDFCFA"/>
          </a:solidFill>
          <a:ln w="9525">
            <a:solidFill>
              <a:srgbClr val="DDD8E3"/>
            </a:solidFill>
          </a:ln>
        </p:spPr>
        <p:txBody>
          <a:bodyPr wrap="square" lIns="0" tIns="0" rIns="0" bIns="0" anchor="ctr" anchorCtr="0">
            <a:noAutofit/>
          </a:bodyPr>
          <a:lstStyle/>
          <a:p>
            <a:pPr marL="0" indent="0" algn="ctr">
              <a:lnSpc>
                <a:spcPct val="100000"/>
              </a:lnSpc>
              <a:spcBef>
                <a:spcPts val="0"/>
              </a:spcBef>
              <a:spcAft>
                <a:spcPts val="0"/>
              </a:spcAft>
              <a:buNone/>
            </a:pPr>
            <a:r>
              <a:rPr lang="en-US" sz="900" b="1" i="0" dirty="0">
                <a:solidFill>
                  <a:srgbClr val="1D1B24"/>
                </a:solidFill>
                <a:latin typeface="Courier New"/>
                <a:ea typeface="Courier New"/>
                <a:cs typeface="Courier New"/>
                <a:sym typeface="Courier New"/>
              </a:rPr>
              <a:t>LIMIT</a:t>
            </a:r>
          </a:p>
        </p:txBody>
      </p:sp>
      <p:sp>
        <p:nvSpPr>
          <p:cNvPr id="2015" name="Shape"/>
          <p:cNvSpPr/>
          <p:nvPr/>
        </p:nvSpPr>
        <p:spPr>
          <a:xfrm>
            <a:off x="1783080" y="1801368"/>
            <a:ext cx="859536" cy="310896"/>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850" b="0" i="0" dirty="0">
                <a:solidFill>
                  <a:srgbClr val="A9A3B5"/>
                </a:solidFill>
                <a:latin typeface="Courier New"/>
                <a:ea typeface="Courier New"/>
                <a:cs typeface="Courier New"/>
                <a:sym typeface="Courier New"/>
              </a:rPr>
              <a:t xml:space="preserve">1 </a:t>
            </a:r>
            <a:r>
              <a:rPr lang="en-US" sz="900" b="1" i="0" dirty="0">
                <a:solidFill>
                  <a:srgbClr val="F6F4EF"/>
                </a:solidFill>
                <a:latin typeface="Courier New"/>
                <a:ea typeface="Courier New"/>
                <a:cs typeface="Courier New"/>
                <a:sym typeface="Courier New"/>
              </a:rPr>
              <a:t>FROM</a:t>
            </a:r>
          </a:p>
        </p:txBody>
      </p:sp>
      <p:sp>
        <p:nvSpPr>
          <p:cNvPr id="2016" name="Shape"/>
          <p:cNvSpPr/>
          <p:nvPr/>
        </p:nvSpPr>
        <p:spPr>
          <a:xfrm>
            <a:off x="2761488" y="1801368"/>
            <a:ext cx="859536" cy="310896"/>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850" b="0" i="0" dirty="0">
                <a:solidFill>
                  <a:srgbClr val="A9A3B5"/>
                </a:solidFill>
                <a:latin typeface="Courier New"/>
                <a:ea typeface="Courier New"/>
                <a:cs typeface="Courier New"/>
                <a:sym typeface="Courier New"/>
              </a:rPr>
              <a:t xml:space="preserve">2 </a:t>
            </a:r>
            <a:r>
              <a:rPr lang="en-US" sz="900" b="1" i="0" dirty="0">
                <a:solidFill>
                  <a:srgbClr val="F6F4EF"/>
                </a:solidFill>
                <a:latin typeface="Courier New"/>
                <a:ea typeface="Courier New"/>
                <a:cs typeface="Courier New"/>
                <a:sym typeface="Courier New"/>
              </a:rPr>
              <a:t>WHERE</a:t>
            </a:r>
          </a:p>
        </p:txBody>
      </p:sp>
      <p:sp>
        <p:nvSpPr>
          <p:cNvPr id="2017" name="Shape"/>
          <p:cNvSpPr/>
          <p:nvPr/>
        </p:nvSpPr>
        <p:spPr>
          <a:xfrm>
            <a:off x="3739896" y="1801368"/>
            <a:ext cx="859536" cy="310896"/>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850" b="0" i="0" dirty="0">
                <a:solidFill>
                  <a:srgbClr val="A9A3B5"/>
                </a:solidFill>
                <a:latin typeface="Courier New"/>
                <a:ea typeface="Courier New"/>
                <a:cs typeface="Courier New"/>
                <a:sym typeface="Courier New"/>
              </a:rPr>
              <a:t xml:space="preserve">3 </a:t>
            </a:r>
            <a:r>
              <a:rPr lang="en-US" sz="900" b="1" i="0" dirty="0">
                <a:solidFill>
                  <a:srgbClr val="F6F4EF"/>
                </a:solidFill>
                <a:latin typeface="Courier New"/>
                <a:ea typeface="Courier New"/>
                <a:cs typeface="Courier New"/>
                <a:sym typeface="Courier New"/>
              </a:rPr>
              <a:t>GROUP BY</a:t>
            </a:r>
          </a:p>
        </p:txBody>
      </p:sp>
      <p:sp>
        <p:nvSpPr>
          <p:cNvPr id="2018" name="Shape"/>
          <p:cNvSpPr/>
          <p:nvPr/>
        </p:nvSpPr>
        <p:spPr>
          <a:xfrm>
            <a:off x="4718304" y="1801368"/>
            <a:ext cx="859536" cy="310896"/>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850" b="0" i="0" dirty="0">
                <a:solidFill>
                  <a:srgbClr val="A9A3B5"/>
                </a:solidFill>
                <a:latin typeface="Courier New"/>
                <a:ea typeface="Courier New"/>
                <a:cs typeface="Courier New"/>
                <a:sym typeface="Courier New"/>
              </a:rPr>
              <a:t xml:space="preserve">4 </a:t>
            </a:r>
            <a:r>
              <a:rPr lang="en-US" sz="900" b="1" i="0" dirty="0">
                <a:solidFill>
                  <a:srgbClr val="F6F4EF"/>
                </a:solidFill>
                <a:latin typeface="Courier New"/>
                <a:ea typeface="Courier New"/>
                <a:cs typeface="Courier New"/>
                <a:sym typeface="Courier New"/>
              </a:rPr>
              <a:t>HAVING</a:t>
            </a:r>
          </a:p>
        </p:txBody>
      </p:sp>
      <p:sp>
        <p:nvSpPr>
          <p:cNvPr id="2019" name="Shape"/>
          <p:cNvSpPr/>
          <p:nvPr/>
        </p:nvSpPr>
        <p:spPr>
          <a:xfrm>
            <a:off x="5696712" y="1801368"/>
            <a:ext cx="859536" cy="310896"/>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850" b="0" i="0" dirty="0">
                <a:solidFill>
                  <a:srgbClr val="A9A3B5"/>
                </a:solidFill>
                <a:latin typeface="Courier New"/>
                <a:ea typeface="Courier New"/>
                <a:cs typeface="Courier New"/>
                <a:sym typeface="Courier New"/>
              </a:rPr>
              <a:t xml:space="preserve">5 </a:t>
            </a:r>
            <a:r>
              <a:rPr lang="en-US" sz="900" b="1" i="0" dirty="0">
                <a:solidFill>
                  <a:srgbClr val="E8A93A"/>
                </a:solidFill>
                <a:latin typeface="Courier New"/>
                <a:ea typeface="Courier New"/>
                <a:cs typeface="Courier New"/>
                <a:sym typeface="Courier New"/>
              </a:rPr>
              <a:t>SELECT</a:t>
            </a:r>
          </a:p>
        </p:txBody>
      </p:sp>
      <p:sp>
        <p:nvSpPr>
          <p:cNvPr id="2020" name="Shape"/>
          <p:cNvSpPr/>
          <p:nvPr/>
        </p:nvSpPr>
        <p:spPr>
          <a:xfrm>
            <a:off x="6675120" y="1801368"/>
            <a:ext cx="859536" cy="310896"/>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850" b="0" i="0" dirty="0">
                <a:solidFill>
                  <a:srgbClr val="A9A3B5"/>
                </a:solidFill>
                <a:latin typeface="Courier New"/>
                <a:ea typeface="Courier New"/>
                <a:cs typeface="Courier New"/>
                <a:sym typeface="Courier New"/>
              </a:rPr>
              <a:t xml:space="preserve">6 </a:t>
            </a:r>
            <a:r>
              <a:rPr lang="en-US" sz="900" b="1" i="0" dirty="0">
                <a:solidFill>
                  <a:srgbClr val="F6F4EF"/>
                </a:solidFill>
                <a:latin typeface="Courier New"/>
                <a:ea typeface="Courier New"/>
                <a:cs typeface="Courier New"/>
                <a:sym typeface="Courier New"/>
              </a:rPr>
              <a:t>ORDER BY</a:t>
            </a:r>
          </a:p>
        </p:txBody>
      </p:sp>
      <p:sp>
        <p:nvSpPr>
          <p:cNvPr id="2021" name="Shape"/>
          <p:cNvSpPr/>
          <p:nvPr/>
        </p:nvSpPr>
        <p:spPr>
          <a:xfrm>
            <a:off x="7653528" y="1801368"/>
            <a:ext cx="859536" cy="310896"/>
          </a:xfrm>
          <a:prstGeom prst="roundRect">
            <a:avLst>
              <a:gd name="adj" fmla="val 8000"/>
            </a:avLst>
          </a:prstGeom>
          <a:solidFill>
            <a:srgbClr val="1D1B24"/>
          </a:solidFill>
          <a:ln>
            <a:noFill/>
          </a:ln>
        </p:spPr>
        <p:txBody>
          <a:bodyPr wrap="square" lIns="0" tIns="0" rIns="0" bIns="0" anchor="ctr" anchorCtr="0">
            <a:noAutofit/>
          </a:bodyPr>
          <a:lstStyle/>
          <a:p>
            <a:pPr marL="0" indent="0" algn="ctr">
              <a:lnSpc>
                <a:spcPct val="100000"/>
              </a:lnSpc>
              <a:spcBef>
                <a:spcPts val="0"/>
              </a:spcBef>
              <a:spcAft>
                <a:spcPts val="0"/>
              </a:spcAft>
              <a:buNone/>
            </a:pPr>
            <a:r>
              <a:rPr lang="en-US" sz="850" b="0" i="0" dirty="0">
                <a:solidFill>
                  <a:srgbClr val="A9A3B5"/>
                </a:solidFill>
                <a:latin typeface="Courier New"/>
                <a:ea typeface="Courier New"/>
                <a:cs typeface="Courier New"/>
                <a:sym typeface="Courier New"/>
              </a:rPr>
              <a:t xml:space="preserve">7 </a:t>
            </a:r>
            <a:r>
              <a:rPr lang="en-US" sz="900" b="1" i="0" dirty="0">
                <a:solidFill>
                  <a:srgbClr val="F6F4EF"/>
                </a:solidFill>
                <a:latin typeface="Courier New"/>
                <a:ea typeface="Courier New"/>
                <a:cs typeface="Courier New"/>
                <a:sym typeface="Courier New"/>
              </a:rPr>
              <a:t>LIMIT</a:t>
            </a:r>
          </a:p>
        </p:txBody>
      </p:sp>
      <p:sp>
        <p:nvSpPr>
          <p:cNvPr id="2022" name="Text"/>
          <p:cNvSpPr txBox="1"/>
          <p:nvPr/>
        </p:nvSpPr>
        <p:spPr>
          <a:xfrm>
            <a:off x="612648" y="2286000"/>
            <a:ext cx="7918704" cy="201168"/>
          </a:xfrm>
          <a:prstGeom prst="rect">
            <a:avLst/>
          </a:prstGeom>
          <a:noFill/>
          <a:ln>
            <a:noFill/>
          </a:ln>
        </p:spPr>
        <p:txBody>
          <a:bodyPr wrap="square" lIns="0" tIns="0" rIns="0" bIns="0" anchor="t" anchorCtr="0">
            <a:noAutofit/>
          </a:bodyPr>
          <a:lstStyle/>
          <a:p>
            <a:pPr marL="0" indent="0" algn="l">
              <a:lnSpc>
                <a:spcPct val="100000"/>
              </a:lnSpc>
              <a:spcBef>
                <a:spcPts val="0"/>
              </a:spcBef>
              <a:spcAft>
                <a:spcPts val="0"/>
              </a:spcAft>
              <a:buNone/>
            </a:pPr>
            <a:r>
              <a:rPr lang="en-US" sz="1050" b="0" i="0" dirty="0">
                <a:solidFill>
                  <a:srgbClr val="3D3947"/>
                </a:solidFill>
                <a:latin typeface="Inter"/>
                <a:ea typeface="Inter"/>
                <a:cs typeface="Inter"/>
                <a:sym typeface="Inter"/>
              </a:rPr>
              <a:t xml:space="preserve">SELECT runs fifth, so </a:t>
            </a:r>
            <a:r>
              <a:rPr lang="en-US" sz="1050" b="1" i="0" dirty="0">
                <a:solidFill>
                  <a:srgbClr val="1D1B24"/>
                </a:solidFill>
                <a:latin typeface="Courier New"/>
                <a:ea typeface="Courier New"/>
                <a:cs typeface="Courier New"/>
                <a:sym typeface="Courier New"/>
              </a:rPr>
              <a:t>WHERE</a:t>
            </a:r>
            <a:r>
              <a:rPr lang="en-US" sz="1050" b="0" i="0" dirty="0">
                <a:solidFill>
                  <a:srgbClr val="3D3947"/>
                </a:solidFill>
                <a:latin typeface="Inter"/>
                <a:ea typeface="Inter"/>
                <a:cs typeface="Inter"/>
                <a:sym typeface="Inter"/>
              </a:rPr>
              <a:t xml:space="preserve"> cannot use </a:t>
            </a:r>
            <a:r>
              <a:rPr lang="en-US" sz="1050" b="1" i="0" dirty="0">
                <a:solidFill>
                  <a:srgbClr val="1D1B24"/>
                </a:solidFill>
                <a:latin typeface="Courier New"/>
                <a:ea typeface="Courier New"/>
                <a:cs typeface="Courier New"/>
                <a:sym typeface="Courier New"/>
              </a:rPr>
              <a:t>COUNT(*)</a:t>
            </a:r>
            <a:r>
              <a:rPr lang="en-US" sz="1050" b="0" i="0" dirty="0">
                <a:solidFill>
                  <a:srgbClr val="3D3947"/>
                </a:solidFill>
                <a:latin typeface="Inter"/>
                <a:ea typeface="Inter"/>
                <a:cs typeface="Inter"/>
                <a:sym typeface="Inter"/>
              </a:rPr>
              <a:t>: the groups do not exist yet.</a:t>
            </a:r>
          </a:p>
        </p:txBody>
      </p:sp>
      <p:sp>
        <p:nvSpPr>
          <p:cNvPr id="2023" name="Card"/>
          <p:cNvSpPr/>
          <p:nvPr/>
        </p:nvSpPr>
        <p:spPr>
          <a:xfrm>
            <a:off x="612648" y="2670048"/>
            <a:ext cx="3840480" cy="176479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4" name="Kicker"/>
          <p:cNvSpPr txBox="1"/>
          <p:nvPr/>
        </p:nvSpPr>
        <p:spPr>
          <a:xfrm>
            <a:off x="777240" y="2779776"/>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WITH: NAME A STEP</a:t>
            </a:r>
          </a:p>
        </p:txBody>
      </p:sp>
      <p:sp>
        <p:nvSpPr>
          <p:cNvPr id="2025" name="Code card"/>
          <p:cNvSpPr/>
          <p:nvPr/>
        </p:nvSpPr>
        <p:spPr>
          <a:xfrm>
            <a:off x="777240" y="3035808"/>
            <a:ext cx="3511296" cy="1261872"/>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6" name="Code"/>
          <p:cNvSpPr txBox="1"/>
          <p:nvPr/>
        </p:nvSpPr>
        <p:spPr>
          <a:xfrm>
            <a:off x="914400" y="3127248"/>
            <a:ext cx="3291840" cy="1115568"/>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WITH</a:t>
            </a:r>
            <a:r>
              <a:rPr lang="en-US" sz="950" b="0" i="0" dirty="0">
                <a:solidFill>
                  <a:srgbClr val="F6F4EF"/>
                </a:solidFill>
                <a:latin typeface="Courier New"/>
                <a:ea typeface="Courier New"/>
                <a:cs typeface="Courier New"/>
                <a:sym typeface="Courier New"/>
              </a:rPr>
              <a:t xml:space="preserve"> yearly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SELECT</a:t>
            </a:r>
            <a:r>
              <a:rPr lang="en-US" sz="950" b="0" i="0" dirty="0">
                <a:solidFill>
                  <a:srgbClr val="F6F4EF"/>
                </a:solidFill>
                <a:latin typeface="Courier New"/>
                <a:ea typeface="Courier New"/>
                <a:cs typeface="Courier New"/>
                <a:sym typeface="Courier New"/>
              </a:rPr>
              <a:t xml:space="preserve"> year, </a:t>
            </a:r>
            <a:r>
              <a:rPr lang="en-US" sz="950" b="1" i="0" dirty="0">
                <a:solidFill>
                  <a:srgbClr val="E8A93A"/>
                </a:solidFill>
                <a:latin typeface="Courier New"/>
                <a:ea typeface="Courier New"/>
                <a:cs typeface="Courier New"/>
                <a:sym typeface="Courier New"/>
              </a:rPr>
              <a:t>COUNT</a:t>
            </a: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AS</a:t>
            </a:r>
            <a:r>
              <a:rPr lang="en-US" sz="950" b="0" i="0" dirty="0">
                <a:solidFill>
                  <a:srgbClr val="F6F4EF"/>
                </a:solidFill>
                <a:latin typeface="Courier New"/>
                <a:ea typeface="Courier New"/>
                <a:cs typeface="Courier New"/>
                <a:sym typeface="Courier New"/>
              </a:rPr>
              <a:t xml:space="preserve"> n</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sets </a:t>
            </a:r>
            <a:r>
              <a:rPr lang="en-US" sz="950" b="1" i="0" dirty="0">
                <a:solidFill>
                  <a:srgbClr val="E8A93A"/>
                </a:solidFill>
                <a:latin typeface="Courier New"/>
                <a:ea typeface="Courier New"/>
                <a:cs typeface="Courier New"/>
                <a:sym typeface="Courier New"/>
              </a:rPr>
              <a:t>GROUP BY</a:t>
            </a:r>
            <a:r>
              <a:rPr lang="en-US" sz="950" b="0" i="0" dirty="0">
                <a:solidFill>
                  <a:srgbClr val="F6F4EF"/>
                </a:solidFill>
                <a:latin typeface="Courier New"/>
                <a:ea typeface="Courier New"/>
                <a:cs typeface="Courier New"/>
                <a:sym typeface="Courier New"/>
              </a:rPr>
              <a:t xml:space="preserve"> year</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a:t>
            </a:r>
          </a:p>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SELECT</a:t>
            </a:r>
            <a:r>
              <a:rPr lang="en-US" sz="950" b="0" i="0" dirty="0">
                <a:solidFill>
                  <a:srgbClr val="F6F4EF"/>
                </a:solidFill>
                <a:latin typeface="Courier New"/>
                <a:ea typeface="Courier New"/>
                <a:cs typeface="Courier New"/>
                <a:sym typeface="Courier New"/>
              </a:rPr>
              <a:t xml:space="preserve"> </a:t>
            </a:r>
            <a:r>
              <a:rPr lang="en-US" sz="950" b="1" i="0" dirty="0">
                <a:solidFill>
                  <a:srgbClr val="E8A93A"/>
                </a:solidFill>
                <a:latin typeface="Courier New"/>
                <a:ea typeface="Courier New"/>
                <a:cs typeface="Courier New"/>
                <a:sym typeface="Courier New"/>
              </a:rPr>
              <a:t>AVG</a:t>
            </a:r>
            <a:r>
              <a:rPr lang="en-US" sz="950" b="0" i="0" dirty="0">
                <a:solidFill>
                  <a:srgbClr val="F6F4EF"/>
                </a:solidFill>
                <a:latin typeface="Courier New"/>
                <a:ea typeface="Courier New"/>
                <a:cs typeface="Courier New"/>
                <a:sym typeface="Courier New"/>
              </a:rPr>
              <a:t xml:space="preserve">(n) </a:t>
            </a: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yearly  </a:t>
            </a:r>
            <a:r>
              <a:rPr lang="en-US" sz="950" b="0" i="0" dirty="0">
                <a:solidFill>
                  <a:srgbClr val="A9A3B5"/>
                </a:solidFill>
                <a:latin typeface="Courier New"/>
                <a:ea typeface="Courier New"/>
                <a:cs typeface="Courier New"/>
                <a:sym typeface="Courier New"/>
              </a:rPr>
              <a:t>-- 177</a:t>
            </a:r>
          </a:p>
        </p:txBody>
      </p:sp>
      <p:sp>
        <p:nvSpPr>
          <p:cNvPr id="2027" name="Card"/>
          <p:cNvSpPr/>
          <p:nvPr/>
        </p:nvSpPr>
        <p:spPr>
          <a:xfrm>
            <a:off x="4690872" y="2670048"/>
            <a:ext cx="3840480" cy="1764792"/>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8" name="Kicker"/>
          <p:cNvSpPr txBox="1"/>
          <p:nvPr/>
        </p:nvSpPr>
        <p:spPr>
          <a:xfrm>
            <a:off x="4855464" y="2779776"/>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SPOT THE BUG</a:t>
            </a:r>
          </a:p>
        </p:txBody>
      </p:sp>
      <p:sp>
        <p:nvSpPr>
          <p:cNvPr id="2029" name="Code card"/>
          <p:cNvSpPr/>
          <p:nvPr/>
        </p:nvSpPr>
        <p:spPr>
          <a:xfrm>
            <a:off x="4855464" y="3035808"/>
            <a:ext cx="3511296" cy="914400"/>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30" name="Code"/>
          <p:cNvSpPr txBox="1"/>
          <p:nvPr/>
        </p:nvSpPr>
        <p:spPr>
          <a:xfrm>
            <a:off x="4992624" y="3127248"/>
            <a:ext cx="3291840" cy="777240"/>
          </a:xfrm>
          <a:prstGeom prst="rect">
            <a:avLst/>
          </a:prstGeom>
          <a:noFill/>
          <a:ln>
            <a:noFill/>
          </a:ln>
        </p:spPr>
        <p:txBody>
          <a:bodyPr wrap="square" lIns="0" tIns="0" rIns="0" bIns="0" anchor="t" anchorCtr="0">
            <a:noAutofit/>
          </a:bodyPr>
          <a:lstStyle/>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SELECT</a:t>
            </a:r>
            <a:r>
              <a:rPr lang="en-US" sz="950" b="0" i="0" dirty="0">
                <a:solidFill>
                  <a:srgbClr val="F6F4EF"/>
                </a:solidFill>
                <a:latin typeface="Courier New"/>
                <a:ea typeface="Courier New"/>
                <a:cs typeface="Courier New"/>
                <a:sym typeface="Courier New"/>
              </a:rPr>
              <a:t xml:space="preserve"> year, </a:t>
            </a:r>
            <a:r>
              <a:rPr lang="en-US" sz="950" b="1" i="0" dirty="0">
                <a:solidFill>
                  <a:srgbClr val="E8A93A"/>
                </a:solidFill>
                <a:latin typeface="Courier New"/>
                <a:ea typeface="Courier New"/>
                <a:cs typeface="Courier New"/>
                <a:sym typeface="Courier New"/>
              </a:rPr>
              <a:t>COUNT</a:t>
            </a:r>
            <a:r>
              <a:rPr lang="en-US" sz="950" b="0" i="0" dirty="0">
                <a:solidFill>
                  <a:srgbClr val="F6F4EF"/>
                </a:solidFill>
                <a:latin typeface="Courier New"/>
                <a:ea typeface="Courier New"/>
                <a:cs typeface="Courier New"/>
                <a:sym typeface="Courier New"/>
              </a:rPr>
              <a:t>(*)</a:t>
            </a:r>
          </a:p>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FROM</a:t>
            </a:r>
            <a:r>
              <a:rPr lang="en-US" sz="950" b="0" i="0" dirty="0">
                <a:solidFill>
                  <a:srgbClr val="F6F4EF"/>
                </a:solidFill>
                <a:latin typeface="Courier New"/>
                <a:ea typeface="Courier New"/>
                <a:cs typeface="Courier New"/>
                <a:sym typeface="Courier New"/>
              </a:rPr>
              <a:t xml:space="preserve"> sets</a:t>
            </a:r>
          </a:p>
          <a:p>
            <a:pPr marL="0" indent="0" algn="l">
              <a:lnSpc>
                <a:spcPct val="115000"/>
              </a:lnSpc>
              <a:spcBef>
                <a:spcPts val="0"/>
              </a:spcBef>
              <a:spcAft>
                <a:spcPts val="0"/>
              </a:spcAft>
              <a:buNone/>
            </a:pPr>
            <a:r>
              <a:rPr lang="en-US" sz="950" b="1" i="0" dirty="0">
                <a:solidFill>
                  <a:srgbClr val="F08A7E"/>
                </a:solidFill>
                <a:latin typeface="Courier New"/>
                <a:ea typeface="Courier New"/>
                <a:cs typeface="Courier New"/>
                <a:sym typeface="Courier New"/>
              </a:rPr>
              <a:t>WHERE COUNT(*) &gt; 500</a:t>
            </a:r>
          </a:p>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GROUP BY</a:t>
            </a:r>
            <a:r>
              <a:rPr lang="en-US" sz="950" b="0" i="0" dirty="0">
                <a:solidFill>
                  <a:srgbClr val="F6F4EF"/>
                </a:solidFill>
                <a:latin typeface="Courier New"/>
                <a:ea typeface="Courier New"/>
                <a:cs typeface="Courier New"/>
                <a:sym typeface="Courier New"/>
              </a:rPr>
              <a:t xml:space="preserve"> year</a:t>
            </a:r>
          </a:p>
        </p:txBody>
      </p:sp>
      <p:sp>
        <p:nvSpPr>
          <p:cNvPr id="2031" name="Text"/>
          <p:cNvSpPr txBox="1"/>
          <p:nvPr/>
        </p:nvSpPr>
        <p:spPr>
          <a:xfrm>
            <a:off x="4855464" y="4041648"/>
            <a:ext cx="3520440" cy="320040"/>
          </a:xfrm>
          <a:prstGeom prst="rect">
            <a:avLst/>
          </a:prstGeom>
          <a:noFill/>
          <a:ln>
            <a:noFill/>
          </a:ln>
        </p:spPr>
        <p:txBody>
          <a:bodyPr wrap="square" lIns="0" tIns="0" rIns="0" bIns="0" anchor="t" anchorCtr="0">
            <a:noAutofit/>
          </a:bodyPr>
          <a:lstStyle/>
          <a:p>
            <a:pPr marL="0" indent="0" algn="l">
              <a:lnSpc>
                <a:spcPct val="120000"/>
              </a:lnSpc>
              <a:spcBef>
                <a:spcPts val="0"/>
              </a:spcBef>
              <a:spcAft>
                <a:spcPts val="0"/>
              </a:spcAft>
              <a:buNone/>
            </a:pPr>
            <a:r>
              <a:rPr lang="en-US" sz="1000" b="0" i="0" dirty="0">
                <a:solidFill>
                  <a:srgbClr val="3D3947"/>
                </a:solidFill>
                <a:latin typeface="Inter"/>
                <a:ea typeface="Inter"/>
                <a:cs typeface="Inter"/>
                <a:sym typeface="Inter"/>
              </a:rPr>
              <a:t xml:space="preserve">Error: misuse of aggregate. Fix: move it to </a:t>
            </a:r>
            <a:r>
              <a:rPr lang="en-US" sz="1000" b="1" i="0" dirty="0">
                <a:solidFill>
                  <a:srgbClr val="1D1B24"/>
                </a:solidFill>
                <a:latin typeface="Courier New"/>
                <a:ea typeface="Courier New"/>
                <a:cs typeface="Courier New"/>
                <a:sym typeface="Courier New"/>
              </a:rPr>
              <a:t>HAVING</a:t>
            </a:r>
            <a:r>
              <a:rPr lang="en-US" sz="1000" b="0" i="0" dirty="0">
                <a:solidFill>
                  <a:srgbClr val="3D3947"/>
                </a:solidFill>
                <a:latin typeface="Inter"/>
                <a:ea typeface="Inter"/>
                <a:cs typeface="Inter"/>
                <a:sym typeface="Inter"/>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gradFill>
          <a:gsLst>
            <a:gs pos="0">
              <a:srgbClr val="FDEEE6"/>
            </a:gs>
            <a:gs pos="100000">
              <a:srgbClr val="E0E3FD"/>
            </a:gs>
          </a:gsLst>
          <a:path path="circle">
            <a:fillToRect b="0%" l="0%" r="100%" t="100%"/>
          </a:path>
          <a:tileRect b="-100%" l="-100%" r="0%" t="0%"/>
        </a:gradFill>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8872" y="100584"/>
            <a:ext cx="1828803" cy="283464"/>
          </a:xfrm>
          <a:prstGeom prst="rect">
            <a:avLst/>
          </a:prstGeom>
        </p:spPr>
      </p:pic>
      <p:sp>
        <p:nvSpPr>
          <p:cNvPr id="2002" name="Footer"/>
          <p:cNvSpPr txBox="1"/>
          <p:nvPr/>
        </p:nvSpPr>
        <p:spPr>
          <a:xfrm>
            <a:off x="612648" y="4681728"/>
            <a:ext cx="3657600" cy="146304"/>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900" b="0" i="0" dirty="0">
                <a:solidFill>
                  <a:srgbClr val="625D6E"/>
                </a:solidFill>
                <a:latin typeface="Inter"/>
                <a:ea typeface="Inter"/>
                <a:cs typeface="Inter"/>
                <a:sym typeface="Inter"/>
              </a:rPr>
              <a:t>Data Science Bootcamp · Fall 2026</a:t>
            </a:r>
          </a:p>
        </p:txBody>
      </p:sp>
      <p:sp>
        <p:nvSpPr>
          <p:cNvPr id="2003" name="Slide number"/>
          <p:cNvSpPr txBox="1"/>
          <p:nvPr/>
        </p:nvSpPr>
        <p:spPr>
          <a:xfrm>
            <a:off x="8074152" y="4681728"/>
            <a:ext cx="457200" cy="146304"/>
          </a:xfrm>
          <a:prstGeom prst="rect">
            <a:avLst/>
          </a:prstGeom>
          <a:noFill/>
          <a:ln>
            <a:noFill/>
          </a:ln>
        </p:spPr>
        <p:txBody>
          <a:bodyPr wrap="square" lIns="0" tIns="0" rIns="0" bIns="0" anchor="t" anchorCtr="0">
            <a:noAutofit/>
          </a:bodyPr>
          <a:lstStyle/>
          <a:p>
            <a:pPr algn="r">
              <a:buNone/>
            </a:pPr>
            <a:fld id="{C8FC896B-AB59-4ED7-A92B-79FA82033DFA}" type="slidenum">
              <a:rPr lang="en-US" sz="900" dirty="0">
                <a:solidFill>
                  <a:srgbClr val="625D6E"/>
                </a:solidFill>
                <a:latin typeface="Inter"/>
              </a:rPr>
              <a:t>‹#›</a:t>
            </a:fld>
          </a:p>
        </p:txBody>
      </p:sp>
      <p:sp>
        <p:nvSpPr>
          <p:cNvPr id="2004" name="Section label"/>
          <p:cNvSpPr txBox="1"/>
          <p:nvPr/>
        </p:nvSpPr>
        <p:spPr>
          <a:xfrm>
            <a:off x="612648" y="475488"/>
            <a:ext cx="7315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SECTION 5 · DRAWING INSIGHTS</a:t>
            </a:r>
          </a:p>
        </p:txBody>
      </p:sp>
      <p:sp>
        <p:nvSpPr>
          <p:cNvPr id="2005" name="Title"/>
          <p:cNvSpPr txBox="1"/>
          <p:nvPr/>
        </p:nvSpPr>
        <p:spPr>
          <a:xfrm>
            <a:off x="612648" y="694944"/>
            <a:ext cx="7918704" cy="420624"/>
          </a:xfrm>
          <a:prstGeom prst="rect">
            <a:avLst/>
          </a:prstGeom>
          <a:noFill/>
          <a:ln>
            <a:noFill/>
          </a:ln>
        </p:spPr>
        <p:txBody>
          <a:bodyPr wrap="square" lIns="0" tIns="0" rIns="0" bIns="0" anchor="t" anchorCtr="0">
            <a:noAutofit/>
          </a:bodyPr>
          <a:lstStyle/>
          <a:p>
            <a:pPr marL="0" indent="0" algn="l">
              <a:lnSpc>
                <a:spcPct val="110000"/>
              </a:lnSpc>
              <a:spcBef>
                <a:spcPts val="0"/>
              </a:spcBef>
              <a:spcAft>
                <a:spcPts val="0"/>
              </a:spcAft>
              <a:buNone/>
            </a:pPr>
            <a:r>
              <a:rPr lang="en-US" sz="2700" b="1" i="0" dirty="0">
                <a:solidFill>
                  <a:srgbClr val="1D1B24"/>
                </a:solidFill>
                <a:latin typeface="Space Grotesk"/>
                <a:ea typeface="Space Grotesk"/>
                <a:cs typeface="Space Grotesk"/>
                <a:sym typeface="Space Grotesk"/>
              </a:rPr>
              <a:t>What we learned today</a:t>
            </a:r>
          </a:p>
        </p:txBody>
      </p:sp>
      <p:sp>
        <p:nvSpPr>
          <p:cNvPr id="2006" name="Kicker"/>
          <p:cNvSpPr txBox="1"/>
          <p:nvPr/>
        </p:nvSpPr>
        <p:spPr>
          <a:xfrm>
            <a:off x="612648" y="1298448"/>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THE INSIGHT</a:t>
            </a:r>
          </a:p>
        </p:txBody>
      </p:sp>
      <p:sp>
        <p:nvSpPr>
          <p:cNvPr id="2007" name="Kicker"/>
          <p:cNvSpPr txBox="1"/>
          <p:nvPr/>
        </p:nvSpPr>
        <p:spPr>
          <a:xfrm>
            <a:off x="4572000" y="1298448"/>
            <a:ext cx="2743200" cy="164592"/>
          </a:xfrm>
          <a:prstGeom prst="rect">
            <a:avLst/>
          </a:prstGeom>
          <a:noFill/>
          <a:ln>
            <a:noFill/>
          </a:ln>
        </p:spPr>
        <p:txBody>
          <a:bodyPr wrap="square" lIns="0" tIns="0" rIns="0" bIns="0" anchor="t" anchorCtr="0">
            <a:noAutofit/>
          </a:bodyPr>
          <a:lstStyle/>
          <a:p>
            <a:pPr marL="0" indent="0" algn="l">
              <a:lnSpc>
                <a:spcPct val="125000"/>
              </a:lnSpc>
              <a:spcBef>
                <a:spcPts val="0"/>
              </a:spcBef>
              <a:spcAft>
                <a:spcPts val="0"/>
              </a:spcAft>
              <a:buNone/>
            </a:pPr>
            <a:r>
              <a:rPr lang="en-US" sz="1000" b="1" i="0" dirty="0">
                <a:solidFill>
                  <a:srgbClr val="5A2D8C"/>
                </a:solidFill>
                <a:latin typeface="Inter"/>
                <a:ea typeface="Inter"/>
                <a:cs typeface="Inter"/>
                <a:sym typeface="Inter"/>
              </a:rPr>
              <a:t>THE EVIDENCE</a:t>
            </a:r>
          </a:p>
        </p:txBody>
      </p:sp>
      <p:sp>
        <p:nvSpPr>
          <p:cNvPr id="2008" name="Card"/>
          <p:cNvSpPr/>
          <p:nvPr/>
        </p:nvSpPr>
        <p:spPr>
          <a:xfrm>
            <a:off x="612648" y="1554480"/>
            <a:ext cx="3611880" cy="603504"/>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09" name="Text"/>
          <p:cNvSpPr txBox="1"/>
          <p:nvPr/>
        </p:nvSpPr>
        <p:spPr>
          <a:xfrm>
            <a:off x="777240" y="1554480"/>
            <a:ext cx="3383280" cy="603504"/>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050" b="0" i="0" dirty="0">
                <a:solidFill>
                  <a:srgbClr val="1D1B24"/>
                </a:solidFill>
                <a:latin typeface="Inter"/>
                <a:ea typeface="Inter"/>
                <a:cs typeface="Inter"/>
                <a:sym typeface="Inter"/>
              </a:rPr>
              <a:t>The biggest sets are not always models</a:t>
            </a:r>
          </a:p>
        </p:txBody>
      </p:sp>
      <p:sp>
        <p:nvSpPr>
          <p:cNvPr id="2010" name="Arrow"/>
          <p:cNvSpPr/>
          <p:nvPr/>
        </p:nvSpPr>
        <p:spPr>
          <a:xfrm>
            <a:off x="4261104" y="1755648"/>
            <a:ext cx="274320" cy="201168"/>
          </a:xfrm>
          <a:prstGeom prst="righ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1" name="Code card"/>
          <p:cNvSpPr/>
          <p:nvPr/>
        </p:nvSpPr>
        <p:spPr>
          <a:xfrm>
            <a:off x="4572000" y="1554480"/>
            <a:ext cx="3959352" cy="603504"/>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2" name="Text"/>
          <p:cNvSpPr txBox="1"/>
          <p:nvPr/>
        </p:nvSpPr>
        <p:spPr>
          <a:xfrm>
            <a:off x="4736592" y="1554480"/>
            <a:ext cx="3703320" cy="603504"/>
          </a:xfrm>
          <a:prstGeom prst="rect">
            <a:avLst/>
          </a:prstGeom>
          <a:noFill/>
          <a:ln>
            <a:noFill/>
          </a:ln>
        </p:spPr>
        <p:txBody>
          <a:bodyPr wrap="square" lIns="0" tIns="0" rIns="0" bIns="0" anchor="ctr" anchorCtr="0">
            <a:noAutofit/>
          </a:bodyPr>
          <a:lstStyle/>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Taj Mahal: </a:t>
            </a:r>
            <a:r>
              <a:rPr lang="en-US" sz="950" b="1" i="0" dirty="0">
                <a:solidFill>
                  <a:srgbClr val="E8A93A"/>
                </a:solidFill>
                <a:latin typeface="Courier New"/>
                <a:ea typeface="Courier New"/>
                <a:cs typeface="Courier New"/>
                <a:sym typeface="Courier New"/>
              </a:rPr>
              <a:t>5,922</a:t>
            </a:r>
            <a:r>
              <a:rPr lang="en-US" sz="950" b="0" i="0" dirty="0">
                <a:solidFill>
                  <a:srgbClr val="F6F4EF"/>
                </a:solidFill>
                <a:latin typeface="Courier New"/>
                <a:ea typeface="Courier New"/>
                <a:cs typeface="Courier New"/>
                <a:sym typeface="Courier New"/>
              </a:rPr>
              <a:t xml:space="preserve"> parts; 2 of the top 3</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are bags of bricks</a:t>
            </a:r>
          </a:p>
        </p:txBody>
      </p:sp>
      <p:sp>
        <p:nvSpPr>
          <p:cNvPr id="2013" name="Card"/>
          <p:cNvSpPr/>
          <p:nvPr/>
        </p:nvSpPr>
        <p:spPr>
          <a:xfrm>
            <a:off x="612648" y="2276856"/>
            <a:ext cx="3611880" cy="603504"/>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4" name="Text"/>
          <p:cNvSpPr txBox="1"/>
          <p:nvPr/>
        </p:nvSpPr>
        <p:spPr>
          <a:xfrm>
            <a:off x="777240" y="2276856"/>
            <a:ext cx="3383280" cy="603504"/>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050" b="0" i="0" dirty="0">
                <a:solidFill>
                  <a:srgbClr val="1D1B24"/>
                </a:solidFill>
                <a:latin typeface="Inter"/>
                <a:ea typeface="Inter"/>
                <a:cs typeface="Inter"/>
                <a:sym typeface="Inter"/>
              </a:rPr>
              <a:t>LEGO makes more sets, and bigger ones</a:t>
            </a:r>
          </a:p>
        </p:txBody>
      </p:sp>
      <p:sp>
        <p:nvSpPr>
          <p:cNvPr id="2015" name="Arrow"/>
          <p:cNvSpPr/>
          <p:nvPr/>
        </p:nvSpPr>
        <p:spPr>
          <a:xfrm>
            <a:off x="4261104" y="2478024"/>
            <a:ext cx="274320" cy="201168"/>
          </a:xfrm>
          <a:prstGeom prst="righ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6" name="Code card"/>
          <p:cNvSpPr/>
          <p:nvPr/>
        </p:nvSpPr>
        <p:spPr>
          <a:xfrm>
            <a:off x="4572000" y="2276856"/>
            <a:ext cx="3959352" cy="603504"/>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7" name="Text"/>
          <p:cNvSpPr txBox="1"/>
          <p:nvPr/>
        </p:nvSpPr>
        <p:spPr>
          <a:xfrm>
            <a:off x="4736592" y="2276856"/>
            <a:ext cx="3703320" cy="603504"/>
          </a:xfrm>
          <a:prstGeom prst="rect">
            <a:avLst/>
          </a:prstGeom>
          <a:noFill/>
          <a:ln>
            <a:noFill/>
          </a:ln>
        </p:spPr>
        <p:txBody>
          <a:bodyPr wrap="square" lIns="0" tIns="0" rIns="0" bIns="0" anchor="ctr" anchorCtr="0">
            <a:noAutofit/>
          </a:bodyPr>
          <a:lstStyle/>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132</a:t>
            </a:r>
            <a:r>
              <a:rPr lang="en-US" sz="950" b="0" i="0" dirty="0">
                <a:solidFill>
                  <a:srgbClr val="F6F4EF"/>
                </a:solidFill>
                <a:latin typeface="Courier New"/>
                <a:ea typeface="Courier New"/>
                <a:cs typeface="Courier New"/>
                <a:sym typeface="Courier New"/>
              </a:rPr>
              <a:t xml:space="preserve"> sets in the 1950s, </a:t>
            </a:r>
            <a:r>
              <a:rPr lang="en-US" sz="950" b="1" i="0" dirty="0">
                <a:solidFill>
                  <a:srgbClr val="E8A93A"/>
                </a:solidFill>
                <a:latin typeface="Courier New"/>
                <a:ea typeface="Courier New"/>
                <a:cs typeface="Courier New"/>
                <a:sym typeface="Courier New"/>
              </a:rPr>
              <a:t>4,425</a:t>
            </a:r>
            <a:r>
              <a:rPr lang="en-US" sz="950" b="0" i="0" dirty="0">
                <a:solidFill>
                  <a:srgbClr val="F6F4EF"/>
                </a:solidFill>
                <a:latin typeface="Courier New"/>
                <a:ea typeface="Courier New"/>
                <a:cs typeface="Courier New"/>
                <a:sym typeface="Courier New"/>
              </a:rPr>
              <a:t xml:space="preserve"> in the 2010s;</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average size </a:t>
            </a:r>
            <a:r>
              <a:rPr lang="en-US" sz="950" b="1" i="0" dirty="0">
                <a:solidFill>
                  <a:srgbClr val="E8A93A"/>
                </a:solidFill>
                <a:latin typeface="Courier New"/>
                <a:ea typeface="Courier New"/>
                <a:cs typeface="Courier New"/>
                <a:sym typeface="Courier New"/>
              </a:rPr>
              <a:t>33</a:t>
            </a:r>
            <a:r>
              <a:rPr lang="en-US" sz="950" b="0" i="0" dirty="0">
                <a:solidFill>
                  <a:srgbClr val="F6F4EF"/>
                </a:solidFill>
                <a:latin typeface="Courier New"/>
                <a:ea typeface="Courier New"/>
                <a:cs typeface="Courier New"/>
                <a:sym typeface="Courier New"/>
              </a:rPr>
              <a:t xml:space="preserve"> to </a:t>
            </a:r>
            <a:r>
              <a:rPr lang="en-US" sz="950" b="1" i="0" dirty="0">
                <a:solidFill>
                  <a:srgbClr val="E8A93A"/>
                </a:solidFill>
                <a:latin typeface="Courier New"/>
                <a:ea typeface="Courier New"/>
                <a:cs typeface="Courier New"/>
                <a:sym typeface="Courier New"/>
              </a:rPr>
              <a:t>194</a:t>
            </a:r>
            <a:r>
              <a:rPr lang="en-US" sz="950" b="0" i="0" dirty="0">
                <a:solidFill>
                  <a:srgbClr val="F6F4EF"/>
                </a:solidFill>
                <a:latin typeface="Courier New"/>
                <a:ea typeface="Courier New"/>
                <a:cs typeface="Courier New"/>
                <a:sym typeface="Courier New"/>
              </a:rPr>
              <a:t xml:space="preserve"> parts</a:t>
            </a:r>
          </a:p>
        </p:txBody>
      </p:sp>
      <p:sp>
        <p:nvSpPr>
          <p:cNvPr id="2018" name="Card"/>
          <p:cNvSpPr/>
          <p:nvPr/>
        </p:nvSpPr>
        <p:spPr>
          <a:xfrm>
            <a:off x="612648" y="2999232"/>
            <a:ext cx="3611880" cy="603504"/>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19" name="Text"/>
          <p:cNvSpPr txBox="1"/>
          <p:nvPr/>
        </p:nvSpPr>
        <p:spPr>
          <a:xfrm>
            <a:off x="777240" y="2999232"/>
            <a:ext cx="3383280" cy="603504"/>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050" b="0" i="0" dirty="0">
                <a:solidFill>
                  <a:srgbClr val="1D1B24"/>
                </a:solidFill>
                <a:latin typeface="Inter"/>
                <a:ea typeface="Inter"/>
                <a:cs typeface="Inter"/>
                <a:sym typeface="Inter"/>
              </a:rPr>
              <a:t>Always check where the data ends</a:t>
            </a:r>
          </a:p>
        </p:txBody>
      </p:sp>
      <p:sp>
        <p:nvSpPr>
          <p:cNvPr id="2020" name="Arrow"/>
          <p:cNvSpPr/>
          <p:nvPr/>
        </p:nvSpPr>
        <p:spPr>
          <a:xfrm>
            <a:off x="4261104" y="3200400"/>
            <a:ext cx="274320" cy="201168"/>
          </a:xfrm>
          <a:prstGeom prst="righ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1" name="Code card"/>
          <p:cNvSpPr/>
          <p:nvPr/>
        </p:nvSpPr>
        <p:spPr>
          <a:xfrm>
            <a:off x="4572000" y="2999232"/>
            <a:ext cx="3959352" cy="603504"/>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2" name="Text"/>
          <p:cNvSpPr txBox="1"/>
          <p:nvPr/>
        </p:nvSpPr>
        <p:spPr>
          <a:xfrm>
            <a:off x="4736592" y="2999232"/>
            <a:ext cx="3703320" cy="603504"/>
          </a:xfrm>
          <a:prstGeom prst="rect">
            <a:avLst/>
          </a:prstGeom>
          <a:noFill/>
          <a:ln>
            <a:noFill/>
          </a:ln>
        </p:spPr>
        <p:txBody>
          <a:bodyPr wrap="square" lIns="0" tIns="0" rIns="0" bIns="0" anchor="ctr" anchorCtr="0">
            <a:noAutofit/>
          </a:bodyPr>
          <a:lstStyle/>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2017</a:t>
            </a:r>
            <a:r>
              <a:rPr lang="en-US" sz="950" b="0" i="0" dirty="0">
                <a:solidFill>
                  <a:srgbClr val="F6F4EF"/>
                </a:solidFill>
                <a:latin typeface="Courier New"/>
                <a:ea typeface="Courier New"/>
                <a:cs typeface="Courier New"/>
                <a:sym typeface="Courier New"/>
              </a:rPr>
              <a:t xml:space="preserve"> has only </a:t>
            </a:r>
            <a:r>
              <a:rPr lang="en-US" sz="950" b="1" i="0" dirty="0">
                <a:solidFill>
                  <a:srgbClr val="E8A93A"/>
                </a:solidFill>
                <a:latin typeface="Courier New"/>
                <a:ea typeface="Courier New"/>
                <a:cs typeface="Courier New"/>
                <a:sym typeface="Courier New"/>
              </a:rPr>
              <a:t>296</a:t>
            </a:r>
            <a:r>
              <a:rPr lang="en-US" sz="950" b="0" i="0" dirty="0">
                <a:solidFill>
                  <a:srgbClr val="F6F4EF"/>
                </a:solidFill>
                <a:latin typeface="Courier New"/>
                <a:ea typeface="Courier New"/>
                <a:cs typeface="Courier New"/>
                <a:sym typeface="Courier New"/>
              </a:rPr>
              <a:t xml:space="preserve"> sets:</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the snapshot stops mid-year</a:t>
            </a:r>
          </a:p>
        </p:txBody>
      </p:sp>
      <p:sp>
        <p:nvSpPr>
          <p:cNvPr id="2023" name="Card"/>
          <p:cNvSpPr/>
          <p:nvPr/>
        </p:nvSpPr>
        <p:spPr>
          <a:xfrm>
            <a:off x="612648" y="3721608"/>
            <a:ext cx="3611880" cy="603504"/>
          </a:xfrm>
          <a:prstGeom prst="roundRect">
            <a:avLst>
              <a:gd name="adj" fmla="val 8000"/>
            </a:avLst>
          </a:prstGeom>
          <a:solidFill>
            <a:srgbClr val="FDFCFA"/>
          </a:solidFill>
          <a:ln w="9525">
            <a:solidFill>
              <a:srgbClr val="DDD8E3"/>
            </a:solid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4" name="Text"/>
          <p:cNvSpPr txBox="1"/>
          <p:nvPr/>
        </p:nvSpPr>
        <p:spPr>
          <a:xfrm>
            <a:off x="777240" y="3721608"/>
            <a:ext cx="3383280" cy="603504"/>
          </a:xfrm>
          <a:prstGeom prst="rect">
            <a:avLst/>
          </a:prstGeom>
          <a:noFill/>
          <a:ln>
            <a:noFill/>
          </a:ln>
        </p:spPr>
        <p:txBody>
          <a:bodyPr wrap="square" lIns="0" tIns="0" rIns="0" bIns="0" anchor="ctr" anchorCtr="0">
            <a:noAutofit/>
          </a:bodyPr>
          <a:lstStyle/>
          <a:p>
            <a:pPr marL="0" indent="0" algn="l">
              <a:lnSpc>
                <a:spcPct val="100000"/>
              </a:lnSpc>
              <a:spcBef>
                <a:spcPts val="0"/>
              </a:spcBef>
              <a:spcAft>
                <a:spcPts val="0"/>
              </a:spcAft>
              <a:buNone/>
            </a:pPr>
            <a:r>
              <a:rPr lang="en-US" sz="1050" b="0" i="0" dirty="0">
                <a:solidFill>
                  <a:srgbClr val="1D1B24"/>
                </a:solidFill>
                <a:latin typeface="Inter"/>
                <a:ea typeface="Inter"/>
                <a:cs typeface="Inter"/>
                <a:sym typeface="Inter"/>
              </a:rPr>
              <a:t>Black is LEGO's most used color</a:t>
            </a:r>
          </a:p>
        </p:txBody>
      </p:sp>
      <p:sp>
        <p:nvSpPr>
          <p:cNvPr id="2025" name="Arrow"/>
          <p:cNvSpPr/>
          <p:nvPr/>
        </p:nvSpPr>
        <p:spPr>
          <a:xfrm>
            <a:off x="4261104" y="3922776"/>
            <a:ext cx="274320" cy="201168"/>
          </a:xfrm>
          <a:prstGeom prst="rightArrow">
            <a:avLst>
              <a:gd name="adj1" fmla="val 50000"/>
              <a:gd name="adj2" fmla="val 50000"/>
            </a:avLst>
          </a:prstGeom>
          <a:solidFill>
            <a:srgbClr val="5A2D8C"/>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6" name="Code card"/>
          <p:cNvSpPr/>
          <p:nvPr/>
        </p:nvSpPr>
        <p:spPr>
          <a:xfrm>
            <a:off x="4572000" y="3721608"/>
            <a:ext cx="3959352" cy="603504"/>
          </a:xfrm>
          <a:prstGeom prst="roundRect">
            <a:avLst>
              <a:gd name="adj" fmla="val 8000"/>
            </a:avLst>
          </a:prstGeom>
          <a:solidFill>
            <a:srgbClr val="1D1B24"/>
          </a:solidFill>
          <a:ln>
            <a:noFill/>
          </a:ln>
        </p:spPr>
        <p:txBody>
          <a:bodyPr wrap="square" lIns="54864" tIns="27432" rIns="54864" bIns="27432" anchor="ctr" anchorCtr="0">
            <a:noAutofit/>
          </a:bodyPr>
          <a:lstStyle/>
          <a:p>
            <a:pPr marL="0" indent="0" algn="l">
              <a:lnSpc>
                <a:spcPct val="100000"/>
              </a:lnSpc>
              <a:spcBef>
                <a:spcPts val="0"/>
              </a:spcBef>
              <a:spcAft>
                <a:spcPts val="0"/>
              </a:spcAft>
              <a:buNone/>
            </a:pPr>
            <a:r>
              <a:rPr lang="en-US" sz="800" b="0" i="0" dirty="0">
                <a:solidFill>
                  <a:srgbClr val="1D1B24"/>
                </a:solidFill>
                <a:latin typeface="Inter"/>
                <a:ea typeface="Inter"/>
                <a:cs typeface="Inter"/>
                <a:sym typeface="Inter"/>
              </a:rPr>
              <a:t xml:space="preserve"> </a:t>
            </a:r>
          </a:p>
        </p:txBody>
      </p:sp>
      <p:sp>
        <p:nvSpPr>
          <p:cNvPr id="2027" name="Text"/>
          <p:cNvSpPr txBox="1"/>
          <p:nvPr/>
        </p:nvSpPr>
        <p:spPr>
          <a:xfrm>
            <a:off x="4736592" y="3721608"/>
            <a:ext cx="3703320" cy="603504"/>
          </a:xfrm>
          <a:prstGeom prst="rect">
            <a:avLst/>
          </a:prstGeom>
          <a:noFill/>
          <a:ln>
            <a:noFill/>
          </a:ln>
        </p:spPr>
        <p:txBody>
          <a:bodyPr wrap="square" lIns="0" tIns="0" rIns="0" bIns="0" anchor="ctr" anchorCtr="0">
            <a:noAutofit/>
          </a:bodyPr>
          <a:lstStyle/>
          <a:p>
            <a:pPr marL="0" indent="0" algn="l">
              <a:lnSpc>
                <a:spcPct val="115000"/>
              </a:lnSpc>
              <a:spcBef>
                <a:spcPts val="0"/>
              </a:spcBef>
              <a:spcAft>
                <a:spcPts val="0"/>
              </a:spcAft>
              <a:buNone/>
            </a:pPr>
            <a:r>
              <a:rPr lang="en-US" sz="950" b="1" i="0" dirty="0">
                <a:solidFill>
                  <a:srgbClr val="E8A93A"/>
                </a:solidFill>
                <a:latin typeface="Courier New"/>
                <a:ea typeface="Courier New"/>
                <a:cs typeface="Courier New"/>
                <a:sym typeface="Courier New"/>
              </a:rPr>
              <a:t>391,036</a:t>
            </a:r>
            <a:r>
              <a:rPr lang="en-US" sz="950" b="0" i="0" dirty="0">
                <a:solidFill>
                  <a:srgbClr val="F6F4EF"/>
                </a:solidFill>
                <a:latin typeface="Courier New"/>
                <a:ea typeface="Courier New"/>
                <a:cs typeface="Courier New"/>
                <a:sym typeface="Courier New"/>
              </a:rPr>
              <a:t xml:space="preserve"> pieces; the palette grew</a:t>
            </a:r>
          </a:p>
          <a:p>
            <a:pPr marL="0" indent="0" algn="l">
              <a:lnSpc>
                <a:spcPct val="115000"/>
              </a:lnSpc>
              <a:spcBef>
                <a:spcPts val="0"/>
              </a:spcBef>
              <a:spcAft>
                <a:spcPts val="0"/>
              </a:spcAft>
              <a:buNone/>
            </a:pPr>
            <a:r>
              <a:rPr lang="en-US" sz="950" b="0" i="0" dirty="0">
                <a:solidFill>
                  <a:srgbClr val="F6F4EF"/>
                </a:solidFill>
                <a:latin typeface="Courier New"/>
                <a:ea typeface="Courier New"/>
                <a:cs typeface="Courier New"/>
                <a:sym typeface="Courier New"/>
              </a:rPr>
              <a:t xml:space="preserve">from </a:t>
            </a:r>
            <a:r>
              <a:rPr lang="en-US" sz="950" b="1" i="0" dirty="0">
                <a:solidFill>
                  <a:srgbClr val="E8A93A"/>
                </a:solidFill>
                <a:latin typeface="Courier New"/>
                <a:ea typeface="Courier New"/>
                <a:cs typeface="Courier New"/>
                <a:sym typeface="Courier New"/>
              </a:rPr>
              <a:t>15</a:t>
            </a:r>
            <a:r>
              <a:rPr lang="en-US" sz="950" b="0" i="0" dirty="0">
                <a:solidFill>
                  <a:srgbClr val="F6F4EF"/>
                </a:solidFill>
                <a:latin typeface="Courier New"/>
                <a:ea typeface="Courier New"/>
                <a:cs typeface="Courier New"/>
                <a:sym typeface="Courier New"/>
              </a:rPr>
              <a:t xml:space="preserve"> to </a:t>
            </a:r>
            <a:r>
              <a:rPr lang="en-US" sz="950" b="1" i="0" dirty="0">
                <a:solidFill>
                  <a:srgbClr val="E8A93A"/>
                </a:solidFill>
                <a:latin typeface="Courier New"/>
                <a:ea typeface="Courier New"/>
                <a:cs typeface="Courier New"/>
                <a:sym typeface="Courier New"/>
              </a:rPr>
              <a:t>117</a:t>
            </a:r>
            <a:r>
              <a:rPr lang="en-US" sz="950" b="0" i="0" dirty="0">
                <a:solidFill>
                  <a:srgbClr val="F6F4EF"/>
                </a:solidFill>
                <a:latin typeface="Courier New"/>
                <a:ea typeface="Courier New"/>
                <a:cs typeface="Courier New"/>
                <a:sym typeface="Courier New"/>
              </a:rPr>
              <a:t xml:space="preserve"> colors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