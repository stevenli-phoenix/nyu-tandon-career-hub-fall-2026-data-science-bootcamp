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5143500" cx="9144000"/>
  <p:notesSz cx="6858000" cy="9144000"/>
  <p:embeddedFontLst>
    <p:embeddedFont>
      <p:font typeface="Inter"/>
      <p:regular r:id="rId18"/>
      <p:bold r:id="rId19"/>
      <p:italic r:id="rId20"/>
      <p:boldItalic r:id="rId21"/>
    </p:embeddedFont>
    <p:embeddedFont>
      <p:font typeface="Space Grotesk"/>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11" Type="http://schemas.openxmlformats.org/officeDocument/2006/relationships/slide" Target="slides/slide4.xml"/><Relationship Id="rId22" Type="http://schemas.openxmlformats.org/officeDocument/2006/relationships/font" Target="fonts/SpaceGrotesk-regular.fntdata"/><Relationship Id="rId10" Type="http://schemas.openxmlformats.org/officeDocument/2006/relationships/slide" Target="slides/slide3.xml"/><Relationship Id="rId21" Type="http://schemas.openxmlformats.org/officeDocument/2006/relationships/font" Target="fonts/Inter-boldItalic.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SpaceGrotes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19" Type="http://schemas.openxmlformats.org/officeDocument/2006/relationships/font" Target="fonts/Inter-bold.fntdata"/><Relationship Id="rId6" Type="http://schemas.openxmlformats.org/officeDocument/2006/relationships/slideMaster" Target="slideMasters/slideMaster3.xml"/><Relationship Id="rId18" Type="http://schemas.openxmlformats.org/officeDocument/2006/relationships/font" Target="fonts/Inter-regular.fntdata"/><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4c515f6aea982df0_3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4c515f6aea982df0_3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Welcome everyone. Today has two halves: first, how the next nine weeks work; then we jump straight into Python using a dataset you all helped create.</a:t>
            </a:r>
            <a:endParaRPr/>
          </a:p>
        </p:txBody>
      </p:sp>
      <p:sp>
        <p:nvSpPr>
          <p:cNvPr id="57" name="Google Shape;57;h4c515f6aea982df0_3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4c515f6aea982df0_3_12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h4c515f6aea982df0_3_12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Coaching path in Handshake: Undergraduate/Graduate Students, then NYU Tandon Career Hub, then Technical Interview Prep Appointment. Discussion board hours are in the syllabus.</a:t>
            </a:r>
            <a:endParaRPr/>
          </a:p>
        </p:txBody>
      </p:sp>
      <p:sp>
        <p:nvSpPr>
          <p:cNvPr id="69" name="Google Shape;69;h4c515f6aea982df0_3_12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2bb1b310374d68cb_22_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h2bb1b310374d68cb_22_9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the Week 1 notebook in Colab and upload responses.csv from the Files panel. We'll run a full, if modest, exploratory data analysis using only the standard language, so nothing happens by magic.</a:t>
            </a:r>
            <a:endParaRPr/>
          </a:p>
        </p:txBody>
      </p:sp>
      <p:sp>
        <p:nvSpPr>
          <p:cNvPr id="92" name="Google Shape;92;h2bb1b310374d68cb_22_9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4c515f6aea982df0_3_3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h4c515f6aea982df0_3_3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Same topic both days each week; you must stay in your chosen section. Highlighted rows are the two project presentation weeks. No sessions Thanksgiving week, but the team is available for questions and 1:1 coaching, so use that week for your project.</a:t>
            </a:r>
            <a:endParaRPr/>
          </a:p>
        </p:txBody>
      </p:sp>
      <p:sp>
        <p:nvSpPr>
          <p:cNvPr id="101" name="Google Shape;101;h4c515f6aea982df0_3_3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h443a5e8747a74121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h443a5e8747a74121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Same topic both days each week; you must stay in your chosen section. Highlighted rows are the two project presentation weeks. No sessions Thanksgiving week, but the team is available for questions and 1:1 coaching, so use that week for your project.</a:t>
            </a:r>
            <a:endParaRPr/>
          </a:p>
        </p:txBody>
      </p:sp>
      <p:sp>
        <p:nvSpPr>
          <p:cNvPr id="113" name="Google Shape;113;h443a5e8747a74121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443a5e8747a74121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h443a5e8747a74121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STORY: before trusting a long list of numbers, look at pieces of it: the first hour, the last hour, one full day, the same hour every day.</a:t>
            </a:r>
            <a:endParaRPr/>
          </a:p>
          <a:p>
            <a:pPr indent="-298450" lvl="0" marL="457200" rtl="0" algn="l">
              <a:lnSpc>
                <a:spcPct val="100000"/>
              </a:lnSpc>
              <a:spcBef>
                <a:spcPts val="0"/>
              </a:spcBef>
              <a:spcAft>
                <a:spcPts val="0"/>
              </a:spcAft>
              <a:buSzPts val="1100"/>
              <a:buChar char="●"/>
            </a:pPr>
            <a:r>
              <a:rPr lang="en" sz="1100"/>
              <a:t>Top picture: the first five hourly counts from our data (44, 30, 25, 20, 18). Same five numbers, two ways to count them: from the front (0 to 4) or from the back (-5 to -1).</a:t>
            </a:r>
            <a:endParaRPr/>
          </a:p>
          <a:p>
            <a:pPr indent="-298450" lvl="0" marL="457200" rtl="0" algn="l">
              <a:lnSpc>
                <a:spcPct val="100000"/>
              </a:lnSpc>
              <a:spcBef>
                <a:spcPts val="0"/>
              </a:spcBef>
              <a:spcAft>
                <a:spcPts val="0"/>
              </a:spcAft>
              <a:buSzPts val="1100"/>
              <a:buChar char="●"/>
            </a:pPr>
            <a:r>
              <a:rPr lang="en" sz="1100"/>
              <a:t>Column 1 is indexing, column 2 is slicing with start:stop:step (stop is excluded), column 3 is the surprise.</a:t>
            </a:r>
            <a:endParaRPr/>
          </a:p>
          <a:p>
            <a:pPr indent="-298450" lvl="0" marL="457200" rtl="0" algn="l">
              <a:lnSpc>
                <a:spcPct val="100000"/>
              </a:lnSpc>
              <a:spcBef>
                <a:spcPts val="0"/>
              </a:spcBef>
              <a:spcAft>
                <a:spcPts val="0"/>
              </a:spcAft>
              <a:buSzPts val="1100"/>
              <a:buChar char="●"/>
            </a:pPr>
            <a:r>
              <a:rPr lang="en" sz="1100"/>
              <a:t>CURIOUS hook for column 3: a slice is a view, not a copy. Change the slice and the original array changes too. .copy() is the cure. Let them predict before you run it.</a:t>
            </a:r>
            <a:endParaRPr/>
          </a:p>
          <a:p>
            <a:pPr indent="-298450" lvl="0" marL="457200" rtl="0" algn="l">
              <a:lnSpc>
                <a:spcPct val="100000"/>
              </a:lnSpc>
              <a:spcBef>
                <a:spcPts val="0"/>
              </a:spcBef>
              <a:spcAft>
                <a:spcPts val="0"/>
              </a:spcAft>
              <a:buSzPts val="1100"/>
              <a:buChar char="●"/>
            </a:pPr>
            <a:r>
              <a:rPr lang="en" sz="1100"/>
              <a:t>Also mention np.random.randint for random spot checks: a good habit with big tables.</a:t>
            </a:r>
            <a:endParaRPr/>
          </a:p>
          <a:p>
            <a:pPr indent="-298450" lvl="0" marL="457200" rtl="0" algn="l">
              <a:lnSpc>
                <a:spcPct val="100000"/>
              </a:lnSpc>
              <a:spcBef>
                <a:spcPts val="0"/>
              </a:spcBef>
              <a:spcAft>
                <a:spcPts val="0"/>
              </a:spcAft>
              <a:buSzPts val="1100"/>
              <a:buChar char="●"/>
            </a:pPr>
            <a:r>
              <a:rPr lang="en" sz="1100"/>
              <a:t>Try it 2: first and last count with negative indexing, then a two-column array and the Manhattan-bound count from row 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443a5e8747a74121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h443a5e8747a74121_0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STORY: a year of hourly counts is one long row of numbers. To compare days we need a grid with one row per day and one column per hour. Then we squash the grid down into a typical day.</a:t>
            </a:r>
            <a:endParaRPr/>
          </a:p>
          <a:p>
            <a:pPr indent="-298450" lvl="0" marL="457200" rtl="0" algn="l">
              <a:lnSpc>
                <a:spcPct val="100000"/>
              </a:lnSpc>
              <a:spcBef>
                <a:spcPts val="0"/>
              </a:spcBef>
              <a:spcAft>
                <a:spcPts val="0"/>
              </a:spcAft>
              <a:buSzPts val="1100"/>
              <a:buChar char="●"/>
            </a:pPr>
            <a:r>
              <a:rPr lang="en" sz="1100"/>
              <a:t>Left picture: 7,296 hourly counts in a row become a 304 x 24 grid. Our study window runs 1 Oct 2017 to 1 Aug 2018, which is 304 days, and 304 x 24 = 7,296.</a:t>
            </a:r>
            <a:endParaRPr/>
          </a:p>
          <a:p>
            <a:pPr indent="-298450" lvl="0" marL="457200" rtl="0" algn="l">
              <a:lnSpc>
                <a:spcPct val="100000"/>
              </a:lnSpc>
              <a:spcBef>
                <a:spcPts val="0"/>
              </a:spcBef>
              <a:spcAft>
                <a:spcPts val="0"/>
              </a:spcAft>
              <a:buSzPts val="1100"/>
              <a:buChar char="●"/>
            </a:pPr>
            <a:r>
              <a:rPr lang="en" sz="1100"/>
              <a:t>TOOL: reshape. The number of values must match, so we check the length first.</a:t>
            </a:r>
            <a:endParaRPr/>
          </a:p>
          <a:p>
            <a:pPr indent="-298450" lvl="0" marL="457200" rtl="0" algn="l">
              <a:lnSpc>
                <a:spcPct val="100000"/>
              </a:lnSpc>
              <a:spcBef>
                <a:spcPts val="0"/>
              </a:spcBef>
              <a:spcAft>
                <a:spcPts val="0"/>
              </a:spcAft>
              <a:buSzPts val="1100"/>
              <a:buChar char="●"/>
            </a:pPr>
            <a:r>
              <a:rPr lang="en" sz="1100"/>
              <a:t>axis tells NumPy which direction to collapse: axis=0 collapses the days and leaves 24 hourly values (a typical day); axis=1 collapses the hours and leaves 304 daily totals.</a:t>
            </a:r>
            <a:endParaRPr/>
          </a:p>
          <a:p>
            <a:pPr indent="-298450" lvl="0" marL="457200" rtl="0" algn="l">
              <a:lnSpc>
                <a:spcPct val="100000"/>
              </a:lnSpc>
              <a:spcBef>
                <a:spcPts val="0"/>
              </a:spcBef>
              <a:spcAft>
                <a:spcPts val="0"/>
              </a:spcAft>
              <a:buSzPts val="1100"/>
              <a:buChar char="●"/>
            </a:pPr>
            <a:r>
              <a:rPr lang="en" sz="1100"/>
              <a:t>np.newaxis turns a 24-value profile into a row so NumPy can line it up against the whole grid. np.where makes element-by-element decisions, for example which direction dominates each hour.</a:t>
            </a:r>
            <a:endParaRPr/>
          </a:p>
          <a:p>
            <a:pPr indent="-298450" lvl="0" marL="457200" rtl="0" algn="l">
              <a:lnSpc>
                <a:spcPct val="100000"/>
              </a:lnSpc>
              <a:spcBef>
                <a:spcPts val="0"/>
              </a:spcBef>
              <a:spcAft>
                <a:spcPts val="0"/>
              </a:spcAft>
              <a:buSzPts val="1100"/>
              <a:buChar char="●"/>
            </a:pPr>
            <a:r>
              <a:rPr lang="en" sz="1100"/>
              <a:t>Try it 3: first seven days, total per day with sum(axis=1), which day is largest, and show that day's 24 values.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443a5e8747a74121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h443a5e8747a74121_0_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Now the table itself. pandas keeps labels on rows and columns and lets each column have its own type. The two objects to know: DataFrame (the table) and Series (one column).</a:t>
            </a:r>
            <a:endParaRPr/>
          </a:p>
          <a:p>
            <a:pPr indent="-298450" lvl="0" marL="457200" rtl="0" algn="l">
              <a:lnSpc>
                <a:spcPct val="100000"/>
              </a:lnSpc>
              <a:spcBef>
                <a:spcPts val="0"/>
              </a:spcBef>
              <a:spcAft>
                <a:spcPts val="0"/>
              </a:spcAft>
              <a:buSzPts val="1100"/>
              <a:buChar char="●"/>
            </a:pPr>
            <a:r>
              <a:rPr lang="en" sz="1100"/>
              <a:t>Row 1: what did we just load? head, tail, shape (rows, columns) and info. Row 2: describe gives headline statistics; compare the mean and the median of Pedestrians and ask what the gap suggests. dtypes shows the type of every column.</a:t>
            </a:r>
            <a:endParaRPr/>
          </a:p>
          <a:p>
            <a:pPr indent="-298450" lvl="0" marL="457200" rtl="0" algn="l">
              <a:lnSpc>
                <a:spcPct val="100000"/>
              </a:lnSpc>
              <a:spcBef>
                <a:spcPts val="0"/>
              </a:spcBef>
              <a:spcAft>
                <a:spcPts val="0"/>
              </a:spcAft>
              <a:buSzPts val="1100"/>
              <a:buChar char="●"/>
            </a:pPr>
            <a:r>
              <a:rPr lang="en" sz="1100"/>
              <a:t>Row 3: sum and value_counts answer how many people and how common each weather label is.</a:t>
            </a:r>
            <a:endParaRPr/>
          </a:p>
          <a:p>
            <a:pPr indent="-298450" lvl="0" marL="457200" rtl="0" algn="l">
              <a:lnSpc>
                <a:spcPct val="100000"/>
              </a:lnSpc>
              <a:spcBef>
                <a:spcPts val="0"/>
              </a:spcBef>
              <a:spcAft>
                <a:spcPts val="0"/>
              </a:spcAft>
              <a:buSzPts val="1100"/>
              <a:buChar char="●"/>
            </a:pPr>
            <a:r>
              <a:rPr lang="en" sz="1100"/>
              <a:t>Row 4 is the busiest-hours story: sort_values, a True/False filter for rainy hours, then idxmax to find the busiest row and .loc to read it in full.</a:t>
            </a:r>
            <a:endParaRPr/>
          </a:p>
          <a:p>
            <a:pPr indent="-298450" lvl="0" marL="457200" rtl="0" algn="l">
              <a:lnSpc>
                <a:spcPct val="100000"/>
              </a:lnSpc>
              <a:spcBef>
                <a:spcPts val="0"/>
              </a:spcBef>
              <a:spcAft>
                <a:spcPts val="0"/>
              </a:spcAft>
              <a:buSzPts val="1100"/>
              <a:buChar char="●"/>
            </a:pPr>
            <a:r>
              <a:rPr lang="en" sz="1100"/>
              <a:t>CURIOUS hook: idxmax does not give you the count, it gives you something else. Ask what it hands back and why that is the key to .loc.</a:t>
            </a:r>
            <a:endParaRPr/>
          </a:p>
          <a:p>
            <a:pPr indent="-298450" lvl="0" marL="457200" rtl="0" algn="l">
              <a:lnSpc>
                <a:spcPct val="100000"/>
              </a:lnSpc>
              <a:spcBef>
                <a:spcPts val="0"/>
              </a:spcBef>
              <a:spcAft>
                <a:spcPts val="0"/>
              </a:spcAft>
              <a:buSzPts val="1100"/>
              <a:buChar char="●"/>
            </a:pPr>
            <a:r>
              <a:rPr lang="en" sz="1100"/>
              <a:t>Try it 4: use head, tail, shape, describe and dtypes to answer four questions about the table.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443a5e8747a74121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h443a5e8747a74121_0_3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STORY: when do people cross, and does weather change the crowd? The answer is to compare groups of rows with each other: all the 3 PM hours against all the other 3 PM hours, every rainy hour against every dry one.</a:t>
            </a:r>
            <a:endParaRPr/>
          </a:p>
          <a:p>
            <a:pPr indent="-298450" lvl="0" marL="457200" rtl="0" algn="l">
              <a:lnSpc>
                <a:spcPct val="100000"/>
              </a:lnSpc>
              <a:spcBef>
                <a:spcPts val="0"/>
              </a:spcBef>
              <a:spcAft>
                <a:spcPts val="0"/>
              </a:spcAft>
              <a:buSzPts val="1100"/>
              <a:buChar char="●"/>
            </a:pPr>
            <a:r>
              <a:rPr lang="en" sz="1100"/>
              <a:t>TOOL: groupby. Think of it as split, apply, combine. Split the rows into 24 piles by hour (we first make an hour column with .dt.hour), apply mean to each pile, and get one number per pile back, which is a Series.</a:t>
            </a:r>
            <a:endParaRPr/>
          </a:p>
          <a:p>
            <a:pPr indent="-298450" lvl="0" marL="457200" rtl="0" algn="l">
              <a:lnSpc>
                <a:spcPct val="100000"/>
              </a:lnSpc>
              <a:spcBef>
                <a:spcPts val="0"/>
              </a:spcBef>
              <a:spcAft>
                <a:spcPts val="0"/>
              </a:spcAft>
              <a:buSzPts val="1100"/>
              <a:buChar char="●"/>
            </a:pPr>
            <a:r>
              <a:rPr lang="en" sz="1100"/>
              <a:t>Column 1: rename tidies column names with spaces so we can use dot access, and it returns a new table. Column 2: the same groupby idea with several statistics via agg, plus describe for the full spread. Column 3: apply with a lambda to make weather labels readable, and building a Series or a DataFrame ourselves.</a:t>
            </a:r>
            <a:endParaRPr/>
          </a:p>
          <a:p>
            <a:pPr indent="-298450" lvl="0" marL="457200" rtl="0" algn="l">
              <a:lnSpc>
                <a:spcPct val="100000"/>
              </a:lnSpc>
              <a:spcBef>
                <a:spcPts val="0"/>
              </a:spcBef>
              <a:spcAft>
                <a:spcPts val="0"/>
              </a:spcAft>
              <a:buSzPts val="1100"/>
              <a:buChar char="●"/>
            </a:pPr>
            <a:r>
              <a:rPr lang="en" sz="1100"/>
              <a:t>CURIOUS hook (the notebook's extra challenge): why is a groupby result sometimes a Series and sometimes a DataFrame?</a:t>
            </a:r>
            <a:endParaRPr/>
          </a:p>
          <a:p>
            <a:pPr indent="-298450" lvl="0" marL="457200" rtl="0" algn="l">
              <a:lnSpc>
                <a:spcPct val="100000"/>
              </a:lnSpc>
              <a:spcBef>
                <a:spcPts val="0"/>
              </a:spcBef>
              <a:spcAft>
                <a:spcPts val="0"/>
              </a:spcAft>
              <a:buSzPts val="1100"/>
              <a:buChar char="●"/>
            </a:pPr>
            <a:r>
              <a:rPr lang="en" sz="1100"/>
              <a:t>Try it 5: mean pedestrians per hour of day, sorted from busiest to quietest, report the top hour. Then point to the take-home and the Final Investigation.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4c515f6aea982df0_3_19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h4c515f6aea982df0_3_19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Take-home exercises are at the end of the notebook, with an extended challenge for anyone who wants more. Week 2 is Oct 6 for Section 1 and Oct 8 for Section 2.</a:t>
            </a:r>
            <a:endParaRPr/>
          </a:p>
        </p:txBody>
      </p:sp>
      <p:sp>
        <p:nvSpPr>
          <p:cNvPr id="325" name="Google Shape;325;h4c515f6aea982df0_3_19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53"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D9D3E4"/>
            </a:gs>
            <a:gs pos="100000">
              <a:srgbClr val="F7EAD2"/>
            </a:gs>
          </a:gsLst>
          <a:path path="circle">
            <a:fillToRect b="0%" l="0%" r="100%" t="100%"/>
          </a:path>
          <a:tileRect b="-100%" l="-100%" r="0%" t="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D3E4"/>
            </a:gs>
            <a:gs pos="100000">
              <a:srgbClr val="F7EAD2"/>
            </a:gs>
          </a:gsLst>
          <a:path path="circle">
            <a:fillToRect b="0%" l="0%" r="100%" t="100%"/>
          </a:path>
          <a:tileRect b="-100%" l="-100%" r="0%" t="0%"/>
        </a:gra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D3E4"/>
            </a:gs>
            <a:gs pos="100000">
              <a:srgbClr val="F7EAD2"/>
            </a:gs>
          </a:gsLst>
          <a:path path="circle">
            <a:fillToRect b="0%" l="0%" r="100%" t="100%"/>
          </a:path>
          <a:tileRect b="-100%" l="-100%" r="0%" t="0%"/>
        </a:gradFill>
      </p:bgPr>
    </p:bg>
    <p:spTree>
      <p:nvGrpSpPr>
        <p:cNvPr id="52" name="Shape 5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s://nyu.zoom.us" TargetMode="External"/><Relationship Id="rId4" Type="http://schemas.openxmlformats.org/officeDocument/2006/relationships/hyperlink" Target="https://brightspace.nyu.edu/d2l/home" TargetMode="External"/><Relationship Id="rId5" Type="http://schemas.openxmlformats.org/officeDocument/2006/relationships/hyperlink" Target="https://github.com/angelin-jacob/NYU-Tandon-Career-Hub-Fall-2026-Data-Science-Bootcamp" TargetMode="External"/><Relationship Id="rId6" Type="http://schemas.openxmlformats.org/officeDocument/2006/relationships/hyperlink" Target="mailto:datasciencebootcamp@nyu.edu" TargetMode="External"/><Relationship Id="rId7" Type="http://schemas.openxmlformats.org/officeDocument/2006/relationships/hyperlink" Target="https://nyu.joinhandshake.com/stu/appointm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www.nyc.gov/opendata" TargetMode="External"/><Relationship Id="rId6" Type="http://schemas.openxmlformats.org/officeDocument/2006/relationships/hyperlink" Target="https://data.cityofnewyork.us/Transportation/Brooklyn-Bridge-Automated-Pedestrian-Counts-Demons/6fi9-q3ta/about_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EF8A9"/>
            </a:gs>
            <a:gs pos="100000">
              <a:srgbClr val="A3E7FF"/>
            </a:gs>
          </a:gsLst>
          <a:path path="circle">
            <a:fillToRect b="0%" l="0%" r="100%" t="100%"/>
          </a:path>
          <a:tileRect b="-100%" l="-100%" r="0%" t="0%"/>
        </a:gradFill>
      </p:bgPr>
    </p:bg>
    <p:spTree>
      <p:nvGrpSpPr>
        <p:cNvPr id="58" name="Shape 58"/>
        <p:cNvGrpSpPr/>
        <p:nvPr/>
      </p:nvGrpSpPr>
      <p:grpSpPr>
        <a:xfrm>
          <a:off x="0" y="0"/>
          <a:ext cx="0" cy="0"/>
          <a:chOff x="0" y="0"/>
          <a:chExt cx="0" cy="0"/>
        </a:xfrm>
      </p:grpSpPr>
      <p:sp>
        <p:nvSpPr>
          <p:cNvPr id="59" name="Google Shape;59;p17"/>
          <p:cNvSpPr/>
          <p:nvPr/>
        </p:nvSpPr>
        <p:spPr>
          <a:xfrm>
            <a:off x="609594" y="1680953"/>
            <a:ext cx="2920800" cy="291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A93A"/>
              </a:buClr>
              <a:buSzPts val="1100"/>
              <a:buFont typeface="Inter"/>
              <a:buNone/>
            </a:pPr>
            <a:r>
              <a:rPr b="1" i="0" lang="en" sz="1100" u="none" cap="none" strike="noStrike">
                <a:solidFill>
                  <a:srgbClr val="5A2D8C"/>
                </a:solidFill>
                <a:latin typeface="Inter"/>
                <a:ea typeface="Inter"/>
                <a:cs typeface="Inter"/>
                <a:sym typeface="Inter"/>
              </a:rPr>
              <a:t>NYU TANDON CAREER HUB · FALL 2026</a:t>
            </a:r>
            <a:endParaRPr b="0" i="0" sz="1100" u="none" cap="none" strike="noStrike">
              <a:solidFill>
                <a:srgbClr val="5A2D8C"/>
              </a:solidFill>
              <a:latin typeface="Calibri"/>
              <a:ea typeface="Calibri"/>
              <a:cs typeface="Calibri"/>
              <a:sym typeface="Calibri"/>
            </a:endParaRPr>
          </a:p>
        </p:txBody>
      </p:sp>
      <p:sp>
        <p:nvSpPr>
          <p:cNvPr id="60" name="Google Shape;60;p17"/>
          <p:cNvSpPr/>
          <p:nvPr/>
        </p:nvSpPr>
        <p:spPr>
          <a:xfrm>
            <a:off x="609591" y="2039364"/>
            <a:ext cx="7358062" cy="65910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6F4EF"/>
              </a:buClr>
              <a:buSzPts val="4800"/>
              <a:buFont typeface="Space Grotesk"/>
              <a:buNone/>
            </a:pPr>
            <a:r>
              <a:rPr b="1" i="0" lang="en" sz="4800" u="none" cap="none" strike="noStrike">
                <a:solidFill>
                  <a:srgbClr val="351C75"/>
                </a:solidFill>
                <a:latin typeface="Space Grotesk"/>
                <a:ea typeface="Space Grotesk"/>
                <a:cs typeface="Space Grotesk"/>
                <a:sym typeface="Space Grotesk"/>
              </a:rPr>
              <a:t>Data Science Bootcamp</a:t>
            </a:r>
            <a:endParaRPr b="0" i="0" sz="4800" u="none" cap="none" strike="noStrike">
              <a:solidFill>
                <a:srgbClr val="351C75"/>
              </a:solidFill>
              <a:latin typeface="Calibri"/>
              <a:ea typeface="Calibri"/>
              <a:cs typeface="Calibri"/>
              <a:sym typeface="Calibri"/>
            </a:endParaRPr>
          </a:p>
        </p:txBody>
      </p:sp>
      <p:sp>
        <p:nvSpPr>
          <p:cNvPr id="61" name="Google Shape;61;p17"/>
          <p:cNvSpPr/>
          <p:nvPr/>
        </p:nvSpPr>
        <p:spPr>
          <a:xfrm>
            <a:off x="609591" y="2831781"/>
            <a:ext cx="6376988" cy="29145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D3E4"/>
              </a:buClr>
              <a:buSzPts val="1700"/>
              <a:buFont typeface="Inter"/>
              <a:buNone/>
            </a:pPr>
            <a:r>
              <a:rPr b="0" i="0" lang="en" sz="1700" u="none" cap="none" strike="noStrike">
                <a:solidFill>
                  <a:srgbClr val="20124D"/>
                </a:solidFill>
                <a:latin typeface="Inter"/>
                <a:ea typeface="Inter"/>
                <a:cs typeface="Inter"/>
                <a:sym typeface="Inter"/>
              </a:rPr>
              <a:t>Week </a:t>
            </a:r>
            <a:r>
              <a:rPr lang="en" sz="1700">
                <a:solidFill>
                  <a:srgbClr val="20124D"/>
                </a:solidFill>
                <a:latin typeface="Inter"/>
                <a:ea typeface="Inter"/>
                <a:cs typeface="Inter"/>
                <a:sym typeface="Inter"/>
              </a:rPr>
              <a:t>2</a:t>
            </a:r>
            <a:r>
              <a:rPr b="0" i="0" lang="en" sz="1700" u="none" cap="none" strike="noStrike">
                <a:solidFill>
                  <a:srgbClr val="20124D"/>
                </a:solidFill>
                <a:latin typeface="Inter"/>
                <a:ea typeface="Inter"/>
                <a:cs typeface="Inter"/>
                <a:sym typeface="Inter"/>
              </a:rPr>
              <a:t> · </a:t>
            </a:r>
            <a:r>
              <a:rPr lang="en" sz="1700">
                <a:solidFill>
                  <a:srgbClr val="20124D"/>
                </a:solidFill>
                <a:latin typeface="Inter"/>
                <a:ea typeface="Inter"/>
                <a:cs typeface="Inter"/>
                <a:sym typeface="Inter"/>
              </a:rPr>
              <a:t>Numpy &amp; Pandas</a:t>
            </a:r>
            <a:endParaRPr b="0" i="0" sz="1700" u="none" cap="none" strike="noStrike">
              <a:solidFill>
                <a:srgbClr val="20124D"/>
              </a:solidFill>
              <a:latin typeface="Calibri"/>
              <a:ea typeface="Calibri"/>
              <a:cs typeface="Calibri"/>
              <a:sym typeface="Calibri"/>
            </a:endParaRPr>
          </a:p>
        </p:txBody>
      </p:sp>
      <p:sp>
        <p:nvSpPr>
          <p:cNvPr id="62" name="Google Shape;62;p17"/>
          <p:cNvSpPr/>
          <p:nvPr/>
        </p:nvSpPr>
        <p:spPr>
          <a:xfrm>
            <a:off x="609604" y="4347275"/>
            <a:ext cx="2424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z="1100" u="none" cap="none" strike="noStrike">
                <a:solidFill>
                  <a:srgbClr val="1D1B24"/>
                </a:solidFill>
                <a:latin typeface="Inter"/>
                <a:ea typeface="Inter"/>
                <a:cs typeface="Inter"/>
                <a:sym typeface="Inter"/>
              </a:rPr>
              <a:t>Instructor: </a:t>
            </a:r>
            <a:r>
              <a:rPr b="1" i="0" lang="en" sz="1100" u="none" cap="none" strike="noStrike">
                <a:solidFill>
                  <a:srgbClr val="1D1B24"/>
                </a:solidFill>
                <a:latin typeface="Inter"/>
                <a:ea typeface="Inter"/>
                <a:cs typeface="Inter"/>
                <a:sym typeface="Inter"/>
              </a:rPr>
              <a:t>Angelin Ann Jacob</a:t>
            </a:r>
            <a:endParaRPr b="0" i="0" sz="1100" u="none" cap="none" strike="noStrike">
              <a:solidFill>
                <a:srgbClr val="1D1B24"/>
              </a:solidFill>
              <a:latin typeface="Calibri"/>
              <a:ea typeface="Calibri"/>
              <a:cs typeface="Calibri"/>
              <a:sym typeface="Calibri"/>
            </a:endParaRPr>
          </a:p>
        </p:txBody>
      </p:sp>
      <p:sp>
        <p:nvSpPr>
          <p:cNvPr id="63" name="Google Shape;63;p17"/>
          <p:cNvSpPr/>
          <p:nvPr/>
        </p:nvSpPr>
        <p:spPr>
          <a:xfrm>
            <a:off x="3407779" y="4347275"/>
            <a:ext cx="18693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z="1100" u="none" cap="none" strike="noStrike">
                <a:solidFill>
                  <a:srgbClr val="1D1B24"/>
                </a:solidFill>
                <a:latin typeface="Inter"/>
                <a:ea typeface="Inter"/>
                <a:cs typeface="Inter"/>
                <a:sym typeface="Inter"/>
              </a:rPr>
              <a:t>Section 1 · Tue </a:t>
            </a:r>
            <a:r>
              <a:rPr lang="en" sz="1100">
                <a:solidFill>
                  <a:srgbClr val="1D1B24"/>
                </a:solidFill>
                <a:latin typeface="Inter"/>
                <a:ea typeface="Inter"/>
                <a:cs typeface="Inter"/>
                <a:sym typeface="Inter"/>
              </a:rPr>
              <a:t>Oct 6</a:t>
            </a:r>
            <a:endParaRPr b="0" i="0" sz="1100" u="none" cap="none" strike="noStrike">
              <a:solidFill>
                <a:srgbClr val="1D1B24"/>
              </a:solidFill>
              <a:latin typeface="Calibri"/>
              <a:ea typeface="Calibri"/>
              <a:cs typeface="Calibri"/>
              <a:sym typeface="Calibri"/>
            </a:endParaRPr>
          </a:p>
        </p:txBody>
      </p:sp>
      <p:sp>
        <p:nvSpPr>
          <p:cNvPr id="64" name="Google Shape;64;p17"/>
          <p:cNvSpPr/>
          <p:nvPr/>
        </p:nvSpPr>
        <p:spPr>
          <a:xfrm>
            <a:off x="5665707" y="4347275"/>
            <a:ext cx="1845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z="1100" u="none" cap="none" strike="noStrike">
                <a:solidFill>
                  <a:srgbClr val="1D1B24"/>
                </a:solidFill>
                <a:latin typeface="Inter"/>
                <a:ea typeface="Inter"/>
                <a:cs typeface="Inter"/>
                <a:sym typeface="Inter"/>
              </a:rPr>
              <a:t>Section 2 · Thu </a:t>
            </a:r>
            <a:r>
              <a:rPr lang="en" sz="1100">
                <a:solidFill>
                  <a:srgbClr val="1D1B24"/>
                </a:solidFill>
                <a:latin typeface="Inter"/>
                <a:ea typeface="Inter"/>
                <a:cs typeface="Inter"/>
                <a:sym typeface="Inter"/>
              </a:rPr>
              <a:t>Oct 8</a:t>
            </a:r>
            <a:endParaRPr b="0" i="0" sz="1100" u="none" cap="none" strike="noStrike">
              <a:solidFill>
                <a:srgbClr val="1D1B24"/>
              </a:solidFill>
              <a:latin typeface="Calibri"/>
              <a:ea typeface="Calibri"/>
              <a:cs typeface="Calibri"/>
              <a:sym typeface="Calibri"/>
            </a:endParaRPr>
          </a:p>
        </p:txBody>
      </p:sp>
      <p:pic>
        <p:nvPicPr>
          <p:cNvPr id="65" name="Google Shape;65;p17" title="NYUTandon_LongLogo_Black.png"/>
          <p:cNvPicPr preferRelativeResize="0"/>
          <p:nvPr/>
        </p:nvPicPr>
        <p:blipFill>
          <a:blip r:embed="rId3">
            <a:alphaModFix/>
          </a:blip>
          <a:stretch>
            <a:fillRect/>
          </a:stretch>
        </p:blipFill>
        <p:spPr>
          <a:xfrm>
            <a:off x="118474" y="96475"/>
            <a:ext cx="1826033" cy="287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EF8A9"/>
            </a:gs>
            <a:gs pos="100000">
              <a:srgbClr val="A3E7FF"/>
            </a:gs>
          </a:gsLst>
          <a:path path="circle">
            <a:fillToRect b="0%" l="0%" r="100%" t="100%"/>
          </a:path>
          <a:tileRect b="-100%" l="-100%" r="0%" t="0%"/>
        </a:gradFill>
      </p:bgPr>
    </p:bg>
    <p:spTree>
      <p:nvGrpSpPr>
        <p:cNvPr id="70" name="Shape 70"/>
        <p:cNvGrpSpPr/>
        <p:nvPr/>
      </p:nvGrpSpPr>
      <p:grpSpPr>
        <a:xfrm>
          <a:off x="0" y="0"/>
          <a:ext cx="0" cy="0"/>
          <a:chOff x="0" y="0"/>
          <a:chExt cx="0" cy="0"/>
        </a:xfrm>
      </p:grpSpPr>
      <p:sp>
        <p:nvSpPr>
          <p:cNvPr id="71" name="Google Shape;71;p18"/>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1B24"/>
              </a:buClr>
              <a:buSzPts val="2700"/>
              <a:buFont typeface="Space Grotesk"/>
              <a:buNone/>
            </a:pPr>
            <a:r>
              <a:rPr b="1" lang="en" sz="2700">
                <a:solidFill>
                  <a:srgbClr val="1D1B24"/>
                </a:solidFill>
                <a:latin typeface="Space Grotesk"/>
                <a:ea typeface="Space Grotesk"/>
                <a:cs typeface="Space Grotesk"/>
                <a:sym typeface="Space Grotesk"/>
              </a:rPr>
              <a:t>Useful Links</a:t>
            </a:r>
            <a:endParaRPr b="0" i="0" sz="2700" u="none" cap="none" strike="noStrike">
              <a:solidFill>
                <a:schemeClr val="dk1"/>
              </a:solidFill>
              <a:latin typeface="Calibri"/>
              <a:ea typeface="Calibri"/>
              <a:cs typeface="Calibri"/>
              <a:sym typeface="Calibri"/>
            </a:endParaRPr>
          </a:p>
        </p:txBody>
      </p:sp>
      <p:sp>
        <p:nvSpPr>
          <p:cNvPr id="72" name="Google Shape;72;p18"/>
          <p:cNvSpPr/>
          <p:nvPr/>
        </p:nvSpPr>
        <p:spPr>
          <a:xfrm>
            <a:off x="611972"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8"/>
          <p:cNvSpPr/>
          <p:nvPr/>
        </p:nvSpPr>
        <p:spPr>
          <a:xfrm>
            <a:off x="803067"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z="1400" u="sng" cap="none" strike="noStrike">
                <a:solidFill>
                  <a:srgbClr val="351C75"/>
                </a:solidFill>
                <a:latin typeface="Space Grotesk"/>
                <a:ea typeface="Space Grotesk"/>
                <a:cs typeface="Space Grotesk"/>
                <a:sym typeface="Space Grotesk"/>
                <a:hlinkClick r:id="rId3">
                  <a:extLst>
                    <a:ext uri="{A12FA001-AC4F-418D-AE19-62706E023703}">
                      <ahyp:hlinkClr val="tx"/>
                    </a:ext>
                  </a:extLst>
                </a:hlinkClick>
              </a:rPr>
              <a:t>Zoom</a:t>
            </a:r>
            <a:endParaRPr b="0" i="0" sz="1400" u="none" cap="none" strike="noStrike">
              <a:solidFill>
                <a:srgbClr val="351C75"/>
              </a:solidFill>
              <a:latin typeface="Calibri"/>
              <a:ea typeface="Calibri"/>
              <a:cs typeface="Calibri"/>
              <a:sym typeface="Calibri"/>
            </a:endParaRPr>
          </a:p>
        </p:txBody>
      </p:sp>
      <p:sp>
        <p:nvSpPr>
          <p:cNvPr id="74" name="Google Shape;74;p18"/>
          <p:cNvSpPr/>
          <p:nvPr/>
        </p:nvSpPr>
        <p:spPr>
          <a:xfrm>
            <a:off x="803067" y="1671665"/>
            <a:ext cx="2243826" cy="5389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z="1000" u="none" cap="none" strike="noStrike">
                <a:solidFill>
                  <a:srgbClr val="1D1B24"/>
                </a:solidFill>
                <a:latin typeface="Inter"/>
                <a:ea typeface="Inter"/>
                <a:cs typeface="Inter"/>
                <a:sym typeface="Inter"/>
              </a:rPr>
              <a:t>All sessions are virtual. </a:t>
            </a:r>
            <a:r>
              <a:rPr lang="en" sz="1000">
                <a:solidFill>
                  <a:srgbClr val="1D1B24"/>
                </a:solidFill>
                <a:latin typeface="Inter"/>
                <a:ea typeface="Inter"/>
                <a:cs typeface="Inter"/>
                <a:sym typeface="Inter"/>
              </a:rPr>
              <a:t>Use ONLY </a:t>
            </a:r>
            <a:r>
              <a:rPr b="1" i="0" lang="en" sz="1000" u="none" cap="none" strike="noStrike">
                <a:solidFill>
                  <a:srgbClr val="1D1B24"/>
                </a:solidFill>
                <a:latin typeface="Inter"/>
                <a:ea typeface="Inter"/>
                <a:cs typeface="Inter"/>
                <a:sym typeface="Inter"/>
              </a:rPr>
              <a:t>your NYU </a:t>
            </a:r>
            <a:r>
              <a:rPr b="1" lang="en" sz="1000">
                <a:solidFill>
                  <a:srgbClr val="1D1B24"/>
                </a:solidFill>
                <a:latin typeface="Inter"/>
                <a:ea typeface="Inter"/>
                <a:cs typeface="Inter"/>
                <a:sym typeface="Inter"/>
              </a:rPr>
              <a:t>SSO Login to be considered for </a:t>
            </a:r>
            <a:r>
              <a:rPr b="1" i="0" lang="en" sz="1000" u="none" cap="none" strike="noStrike">
                <a:solidFill>
                  <a:srgbClr val="1D1B24"/>
                </a:solidFill>
                <a:latin typeface="Inter"/>
                <a:ea typeface="Inter"/>
                <a:cs typeface="Inter"/>
                <a:sym typeface="Inter"/>
              </a:rPr>
              <a:t>attendance </a:t>
            </a:r>
            <a:endParaRPr b="1" i="0" sz="1000" u="none" cap="none" strike="noStrike">
              <a:solidFill>
                <a:schemeClr val="dk1"/>
              </a:solidFill>
              <a:latin typeface="Calibri"/>
              <a:ea typeface="Calibri"/>
              <a:cs typeface="Calibri"/>
              <a:sym typeface="Calibri"/>
            </a:endParaRPr>
          </a:p>
        </p:txBody>
      </p:sp>
      <p:sp>
        <p:nvSpPr>
          <p:cNvPr id="75" name="Google Shape;75;p18"/>
          <p:cNvSpPr/>
          <p:nvPr/>
        </p:nvSpPr>
        <p:spPr>
          <a:xfrm>
            <a:off x="3291669"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8"/>
          <p:cNvSpPr/>
          <p:nvPr/>
        </p:nvSpPr>
        <p:spPr>
          <a:xfrm>
            <a:off x="3482765"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z="1400" u="sng" cap="none" strike="noStrike">
                <a:solidFill>
                  <a:srgbClr val="351C75"/>
                </a:solidFill>
                <a:latin typeface="Space Grotesk"/>
                <a:ea typeface="Space Grotesk"/>
                <a:cs typeface="Space Grotesk"/>
                <a:sym typeface="Space Grotesk"/>
                <a:hlinkClick r:id="rId4">
                  <a:extLst>
                    <a:ext uri="{A12FA001-AC4F-418D-AE19-62706E023703}">
                      <ahyp:hlinkClr val="tx"/>
                    </a:ext>
                  </a:extLst>
                </a:hlinkClick>
              </a:rPr>
              <a:t>Brightspace</a:t>
            </a:r>
            <a:endParaRPr b="0" i="0" sz="1400" u="none" cap="none" strike="noStrike">
              <a:solidFill>
                <a:srgbClr val="351C75"/>
              </a:solidFill>
              <a:latin typeface="Calibri"/>
              <a:ea typeface="Calibri"/>
              <a:cs typeface="Calibri"/>
              <a:sym typeface="Calibri"/>
            </a:endParaRPr>
          </a:p>
        </p:txBody>
      </p:sp>
      <p:sp>
        <p:nvSpPr>
          <p:cNvPr id="77" name="Google Shape;77;p18"/>
          <p:cNvSpPr/>
          <p:nvPr/>
        </p:nvSpPr>
        <p:spPr>
          <a:xfrm>
            <a:off x="3482765" y="1671665"/>
            <a:ext cx="2243826" cy="5389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z="1000" u="none" cap="none" strike="noStrike">
                <a:solidFill>
                  <a:srgbClr val="1D1B24"/>
                </a:solidFill>
                <a:latin typeface="Inter"/>
                <a:ea typeface="Inter"/>
                <a:cs typeface="Inter"/>
                <a:sym typeface="Inter"/>
              </a:rPr>
              <a:t>Assignments, submissions and the discussion board, monitored Monday to Thursday.</a:t>
            </a:r>
            <a:endParaRPr b="0" i="0" sz="1000" u="none" cap="none" strike="noStrike">
              <a:solidFill>
                <a:schemeClr val="dk1"/>
              </a:solidFill>
              <a:latin typeface="Calibri"/>
              <a:ea typeface="Calibri"/>
              <a:cs typeface="Calibri"/>
              <a:sym typeface="Calibri"/>
            </a:endParaRPr>
          </a:p>
        </p:txBody>
      </p:sp>
      <p:sp>
        <p:nvSpPr>
          <p:cNvPr id="78" name="Google Shape;78;p18"/>
          <p:cNvSpPr/>
          <p:nvPr/>
        </p:nvSpPr>
        <p:spPr>
          <a:xfrm>
            <a:off x="5971366"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8"/>
          <p:cNvSpPr/>
          <p:nvPr/>
        </p:nvSpPr>
        <p:spPr>
          <a:xfrm>
            <a:off x="6162461"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z="1400" u="sng" cap="none" strike="noStrike">
                <a:solidFill>
                  <a:srgbClr val="351C75"/>
                </a:solidFill>
                <a:latin typeface="Space Grotesk"/>
                <a:ea typeface="Space Grotesk"/>
                <a:cs typeface="Space Grotesk"/>
                <a:sym typeface="Space Grotesk"/>
                <a:hlinkClick r:id="rId5">
                  <a:extLst>
                    <a:ext uri="{A12FA001-AC4F-418D-AE19-62706E023703}">
                      <ahyp:hlinkClr val="tx"/>
                    </a:ext>
                  </a:extLst>
                </a:hlinkClick>
              </a:rPr>
              <a:t>GitHub</a:t>
            </a:r>
            <a:endParaRPr b="0" i="0" sz="1400" u="none" cap="none" strike="noStrike">
              <a:solidFill>
                <a:srgbClr val="351C75"/>
              </a:solidFill>
              <a:latin typeface="Calibri"/>
              <a:ea typeface="Calibri"/>
              <a:cs typeface="Calibri"/>
              <a:sym typeface="Calibri"/>
            </a:endParaRPr>
          </a:p>
        </p:txBody>
      </p:sp>
      <p:sp>
        <p:nvSpPr>
          <p:cNvPr id="80" name="Google Shape;80;p18"/>
          <p:cNvSpPr/>
          <p:nvPr/>
        </p:nvSpPr>
        <p:spPr>
          <a:xfrm>
            <a:off x="6162461" y="1671665"/>
            <a:ext cx="2243826" cy="36563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z="1000" u="none" cap="none" strike="noStrike">
                <a:solidFill>
                  <a:srgbClr val="1D1B24"/>
                </a:solidFill>
                <a:latin typeface="Inter"/>
                <a:ea typeface="Inter"/>
                <a:cs typeface="Inter"/>
                <a:sym typeface="Inter"/>
              </a:rPr>
              <a:t>Slides and Colab notebooks for every session.</a:t>
            </a:r>
            <a:endParaRPr b="0" i="0" sz="1000" u="none" cap="none" strike="noStrike">
              <a:solidFill>
                <a:schemeClr val="dk1"/>
              </a:solidFill>
              <a:latin typeface="Calibri"/>
              <a:ea typeface="Calibri"/>
              <a:cs typeface="Calibri"/>
              <a:sym typeface="Calibri"/>
            </a:endParaRPr>
          </a:p>
        </p:txBody>
      </p:sp>
      <p:sp>
        <p:nvSpPr>
          <p:cNvPr id="81" name="Google Shape;81;p18"/>
          <p:cNvSpPr/>
          <p:nvPr/>
        </p:nvSpPr>
        <p:spPr>
          <a:xfrm>
            <a:off x="2070697" y="2482496"/>
            <a:ext cx="2560800" cy="1164900"/>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8"/>
          <p:cNvSpPr/>
          <p:nvPr/>
        </p:nvSpPr>
        <p:spPr>
          <a:xfrm>
            <a:off x="2261792" y="2673591"/>
            <a:ext cx="22437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z="1400" u="none" cap="none" strike="noStrike">
                <a:solidFill>
                  <a:srgbClr val="351C75"/>
                </a:solidFill>
                <a:latin typeface="Space Grotesk"/>
                <a:ea typeface="Space Grotesk"/>
                <a:cs typeface="Space Grotesk"/>
                <a:sym typeface="Space Grotesk"/>
              </a:rPr>
              <a:t>Email</a:t>
            </a:r>
            <a:endParaRPr b="0" i="0" sz="1400" u="none" cap="none" strike="noStrike">
              <a:solidFill>
                <a:srgbClr val="351C75"/>
              </a:solidFill>
              <a:latin typeface="Calibri"/>
              <a:ea typeface="Calibri"/>
              <a:cs typeface="Calibri"/>
              <a:sym typeface="Calibri"/>
            </a:endParaRPr>
          </a:p>
        </p:txBody>
      </p:sp>
      <p:sp>
        <p:nvSpPr>
          <p:cNvPr id="83" name="Google Shape;83;p18"/>
          <p:cNvSpPr/>
          <p:nvPr/>
        </p:nvSpPr>
        <p:spPr>
          <a:xfrm>
            <a:off x="2261792" y="2936412"/>
            <a:ext cx="2243700" cy="5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z="1000" u="sng" cap="none" strike="noStrike">
                <a:solidFill>
                  <a:schemeClr val="hlink"/>
                </a:solidFill>
                <a:latin typeface="Inter"/>
                <a:ea typeface="Inter"/>
                <a:cs typeface="Inter"/>
                <a:sym typeface="Inter"/>
                <a:hlinkClick r:id="rId6"/>
              </a:rPr>
              <a:t>datasciencebootcamp@nyu.edu</a:t>
            </a:r>
            <a:r>
              <a:rPr lang="en" sz="1000">
                <a:solidFill>
                  <a:srgbClr val="1D1B24"/>
                </a:solidFill>
                <a:latin typeface="Inter"/>
                <a:ea typeface="Inter"/>
                <a:cs typeface="Inter"/>
                <a:sym typeface="Inter"/>
              </a:rPr>
              <a:t> </a:t>
            </a:r>
            <a:r>
              <a:rPr b="0" i="0" lang="en" sz="1000" u="none" cap="none" strike="noStrike">
                <a:solidFill>
                  <a:srgbClr val="1D1B24"/>
                </a:solidFill>
                <a:latin typeface="Inter"/>
                <a:ea typeface="Inter"/>
                <a:cs typeface="Inter"/>
                <a:sym typeface="Inter"/>
              </a:rPr>
              <a:t>for questions, extensions and attendance approvals.</a:t>
            </a:r>
            <a:endParaRPr b="0" i="0" sz="1000" u="none" cap="none" strike="noStrike">
              <a:solidFill>
                <a:schemeClr val="dk1"/>
              </a:solidFill>
              <a:latin typeface="Calibri"/>
              <a:ea typeface="Calibri"/>
              <a:cs typeface="Calibri"/>
              <a:sym typeface="Calibri"/>
            </a:endParaRPr>
          </a:p>
        </p:txBody>
      </p:sp>
      <p:sp>
        <p:nvSpPr>
          <p:cNvPr id="84" name="Google Shape;84;p18"/>
          <p:cNvSpPr/>
          <p:nvPr/>
        </p:nvSpPr>
        <p:spPr>
          <a:xfrm>
            <a:off x="4750394" y="2482496"/>
            <a:ext cx="2560800" cy="1164900"/>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8"/>
          <p:cNvSpPr/>
          <p:nvPr/>
        </p:nvSpPr>
        <p:spPr>
          <a:xfrm>
            <a:off x="4941490" y="2673591"/>
            <a:ext cx="22437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z="1400" u="none" cap="none" strike="noStrike">
                <a:solidFill>
                  <a:srgbClr val="20124D"/>
                </a:solidFill>
                <a:latin typeface="Space Grotesk"/>
                <a:ea typeface="Space Grotesk"/>
                <a:cs typeface="Space Grotesk"/>
                <a:sym typeface="Space Grotesk"/>
              </a:rPr>
              <a:t>1:1 coaching</a:t>
            </a:r>
            <a:endParaRPr b="0" i="0" sz="1400" u="none" cap="none" strike="noStrike">
              <a:solidFill>
                <a:srgbClr val="20124D"/>
              </a:solidFill>
              <a:latin typeface="Calibri"/>
              <a:ea typeface="Calibri"/>
              <a:cs typeface="Calibri"/>
              <a:sym typeface="Calibri"/>
            </a:endParaRPr>
          </a:p>
        </p:txBody>
      </p:sp>
      <p:sp>
        <p:nvSpPr>
          <p:cNvPr id="86" name="Google Shape;86;p18"/>
          <p:cNvSpPr/>
          <p:nvPr/>
        </p:nvSpPr>
        <p:spPr>
          <a:xfrm>
            <a:off x="4941490" y="2936412"/>
            <a:ext cx="2243700" cy="5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z="1000" u="none" cap="none" strike="noStrike">
                <a:solidFill>
                  <a:srgbClr val="1D1B24"/>
                </a:solidFill>
                <a:latin typeface="Inter"/>
                <a:ea typeface="Inter"/>
                <a:cs typeface="Inter"/>
                <a:sym typeface="Inter"/>
              </a:rPr>
              <a:t>Optional 30-minute technical interview prep. </a:t>
            </a:r>
            <a:r>
              <a:rPr b="0" i="0" lang="en" sz="1000" u="sng" cap="none" strike="noStrike">
                <a:solidFill>
                  <a:schemeClr val="hlink"/>
                </a:solidFill>
                <a:latin typeface="Inter"/>
                <a:ea typeface="Inter"/>
                <a:cs typeface="Inter"/>
                <a:sym typeface="Inter"/>
                <a:hlinkClick r:id="rId7"/>
              </a:rPr>
              <a:t>Book it through Handshake.</a:t>
            </a:r>
            <a:endParaRPr b="0" i="0" sz="1000" u="none" cap="none" strike="noStrike">
              <a:solidFill>
                <a:schemeClr val="dk1"/>
              </a:solidFill>
              <a:latin typeface="Calibri"/>
              <a:ea typeface="Calibri"/>
              <a:cs typeface="Calibri"/>
              <a:sym typeface="Calibri"/>
            </a:endParaRPr>
          </a:p>
        </p:txBody>
      </p:sp>
      <p:sp>
        <p:nvSpPr>
          <p:cNvPr id="87" name="Google Shape;87;p18"/>
          <p:cNvSpPr/>
          <p:nvPr/>
        </p:nvSpPr>
        <p:spPr>
          <a:xfrm>
            <a:off x="8399766" y="4678691"/>
            <a:ext cx="172696" cy="17908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z="900" u="none" cap="none" strike="noStrike">
                <a:solidFill>
                  <a:srgbClr val="625D6E"/>
                </a:solidFill>
                <a:latin typeface="Inter"/>
                <a:ea typeface="Inter"/>
                <a:cs typeface="Inter"/>
                <a:sym typeface="Inter"/>
              </a:rPr>
              <a:t>07</a:t>
            </a:r>
            <a:endParaRPr b="0" i="0" sz="900" u="none" cap="none" strike="noStrike">
              <a:solidFill>
                <a:schemeClr val="dk1"/>
              </a:solidFill>
              <a:latin typeface="Calibri"/>
              <a:ea typeface="Calibri"/>
              <a:cs typeface="Calibri"/>
              <a:sym typeface="Calibri"/>
            </a:endParaRPr>
          </a:p>
        </p:txBody>
      </p:sp>
      <p:sp>
        <p:nvSpPr>
          <p:cNvPr id="88" name="Google Shape;88;p18"/>
          <p:cNvSpPr/>
          <p:nvPr/>
        </p:nvSpPr>
        <p:spPr>
          <a:xfrm>
            <a:off x="609591" y="467869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z="900" u="none" cap="none" strike="noStrike">
                <a:solidFill>
                  <a:srgbClr val="625D6E"/>
                </a:solidFill>
                <a:latin typeface="Inter"/>
                <a:ea typeface="Inter"/>
                <a:cs typeface="Inter"/>
                <a:sym typeface="Inter"/>
              </a:rPr>
              <a:t>Data Science Bootcamp · Fall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EF8A9"/>
            </a:gs>
            <a:gs pos="100000">
              <a:srgbClr val="A3E7FF"/>
            </a:gs>
          </a:gsLst>
          <a:path path="circle">
            <a:fillToRect b="0%" l="0%" r="100%" t="100%"/>
          </a:path>
          <a:tileRect b="-100%" l="-100%" r="0%" t="0%"/>
        </a:gradFill>
      </p:bgPr>
    </p:bg>
    <p:spTree>
      <p:nvGrpSpPr>
        <p:cNvPr id="93" name="Shape 93"/>
        <p:cNvGrpSpPr/>
        <p:nvPr/>
      </p:nvGrpSpPr>
      <p:grpSpPr>
        <a:xfrm>
          <a:off x="0" y="0"/>
          <a:ext cx="0" cy="0"/>
          <a:chOff x="0" y="0"/>
          <a:chExt cx="0" cy="0"/>
        </a:xfrm>
      </p:grpSpPr>
      <p:sp>
        <p:nvSpPr>
          <p:cNvPr id="94" name="Google Shape;94;p19"/>
          <p:cNvSpPr/>
          <p:nvPr/>
        </p:nvSpPr>
        <p:spPr>
          <a:xfrm>
            <a:off x="609601" y="2089800"/>
            <a:ext cx="7841700" cy="1024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3600"/>
              <a:buFont typeface="Space Grotesk"/>
              <a:buNone/>
            </a:pPr>
            <a:r>
              <a:rPr b="1" lang="en" sz="3400">
                <a:solidFill>
                  <a:srgbClr val="3D3947"/>
                </a:solidFill>
                <a:latin typeface="Space Grotesk"/>
                <a:ea typeface="Space Grotesk"/>
                <a:cs typeface="Space Grotesk"/>
                <a:sym typeface="Space Grotesk"/>
              </a:rPr>
              <a:t>Numpy &amp; Pandas </a:t>
            </a:r>
            <a:endParaRPr b="0" i="0" sz="3600" u="none" cap="none" strike="noStrike">
              <a:solidFill>
                <a:srgbClr val="3D3947"/>
              </a:solidFill>
              <a:latin typeface="Calibri"/>
              <a:ea typeface="Calibri"/>
              <a:cs typeface="Calibri"/>
              <a:sym typeface="Calibri"/>
            </a:endParaRPr>
          </a:p>
        </p:txBody>
      </p:sp>
      <p:sp>
        <p:nvSpPr>
          <p:cNvPr id="95" name="Google Shape;95;p19"/>
          <p:cNvSpPr/>
          <p:nvPr/>
        </p:nvSpPr>
        <p:spPr>
          <a:xfrm>
            <a:off x="609591" y="467869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z="900" u="none" cap="none" strike="noStrike">
                <a:solidFill>
                  <a:srgbClr val="625D6E"/>
                </a:solidFill>
                <a:latin typeface="Inter"/>
                <a:ea typeface="Inter"/>
                <a:cs typeface="Inter"/>
                <a:sym typeface="Inter"/>
              </a:rPr>
              <a:t>Data Science Bootcamp · Fall 2026</a:t>
            </a:r>
            <a:endParaRPr b="0" i="0" sz="900" u="none" cap="none" strike="noStrike">
              <a:solidFill>
                <a:schemeClr val="dk1"/>
              </a:solidFill>
              <a:latin typeface="Calibri"/>
              <a:ea typeface="Calibri"/>
              <a:cs typeface="Calibri"/>
              <a:sym typeface="Calibri"/>
            </a:endParaRPr>
          </a:p>
        </p:txBody>
      </p:sp>
      <p:pic>
        <p:nvPicPr>
          <p:cNvPr id="96" name="Google Shape;96;p19" title="NYUTandon_LongLogo_Black.png"/>
          <p:cNvPicPr preferRelativeResize="0"/>
          <p:nvPr/>
        </p:nvPicPr>
        <p:blipFill>
          <a:blip r:embed="rId3">
            <a:alphaModFix/>
          </a:blip>
          <a:stretch>
            <a:fillRect/>
          </a:stretch>
        </p:blipFill>
        <p:spPr>
          <a:xfrm>
            <a:off x="118474" y="96475"/>
            <a:ext cx="1826033" cy="287100"/>
          </a:xfrm>
          <a:prstGeom prst="rect">
            <a:avLst/>
          </a:prstGeom>
          <a:noFill/>
          <a:ln>
            <a:noFill/>
          </a:ln>
        </p:spPr>
      </p:pic>
      <p:sp>
        <p:nvSpPr>
          <p:cNvPr id="97" name="Google Shape;97;p19"/>
          <p:cNvSpPr txBox="1"/>
          <p:nvPr/>
        </p:nvSpPr>
        <p:spPr>
          <a:xfrm>
            <a:off x="534550" y="2730100"/>
            <a:ext cx="7117500" cy="3231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0"/>
              </a:spcAft>
              <a:buNone/>
            </a:pPr>
            <a:r>
              <a:rPr b="1" lang="en" sz="900">
                <a:solidFill>
                  <a:srgbClr val="3D3947"/>
                </a:solidFill>
                <a:latin typeface="Space Grotesk"/>
                <a:ea typeface="Space Grotesk"/>
                <a:cs typeface="Space Grotesk"/>
                <a:sym typeface="Space Grotesk"/>
              </a:rPr>
              <a:t>Get to the libraries used in your day to day tasks as a Data Specialist!</a:t>
            </a:r>
            <a:endParaRPr b="1" sz="900">
              <a:solidFill>
                <a:srgbClr val="3D3947"/>
              </a:solidFill>
              <a:latin typeface="Space Grotesk"/>
              <a:ea typeface="Space Grotesk"/>
              <a:cs typeface="Space Grotesk"/>
              <a:sym typeface="Space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EF8A9"/>
            </a:gs>
            <a:gs pos="100000">
              <a:srgbClr val="A3E7FF"/>
            </a:gs>
          </a:gsLst>
          <a:path path="circle">
            <a:fillToRect b="0%" l="0%" r="100%" t="100%"/>
          </a:path>
          <a:tileRect b="-100%" l="-100%" r="0%" t="0%"/>
        </a:gradFill>
      </p:bgPr>
    </p:bg>
    <p:spTree>
      <p:nvGrpSpPr>
        <p:cNvPr id="102" name="Shape 102"/>
        <p:cNvGrpSpPr/>
        <p:nvPr/>
      </p:nvGrpSpPr>
      <p:grpSpPr>
        <a:xfrm>
          <a:off x="0" y="0"/>
          <a:ext cx="0" cy="0"/>
          <a:chOff x="0" y="0"/>
          <a:chExt cx="0" cy="0"/>
        </a:xfrm>
      </p:grpSpPr>
      <p:sp>
        <p:nvSpPr>
          <p:cNvPr id="103" name="Google Shape;103;p20"/>
          <p:cNvSpPr/>
          <p:nvPr/>
        </p:nvSpPr>
        <p:spPr>
          <a:xfrm>
            <a:off x="8391627" y="4678691"/>
            <a:ext cx="180835" cy="17908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z="900" u="none" cap="none" strike="noStrike">
                <a:solidFill>
                  <a:srgbClr val="625D6E"/>
                </a:solidFill>
                <a:latin typeface="Inter"/>
                <a:ea typeface="Inter"/>
                <a:cs typeface="Inter"/>
                <a:sym typeface="Inter"/>
              </a:rPr>
              <a:t>0</a:t>
            </a:r>
            <a:r>
              <a:rPr lang="en" sz="900">
                <a:solidFill>
                  <a:srgbClr val="625D6E"/>
                </a:solidFill>
                <a:latin typeface="Inter"/>
                <a:ea typeface="Inter"/>
                <a:cs typeface="Inter"/>
                <a:sym typeface="Inter"/>
              </a:rPr>
              <a:t>2</a:t>
            </a:r>
            <a:endParaRPr sz="900">
              <a:solidFill>
                <a:srgbClr val="625D6E"/>
              </a:solidFill>
              <a:latin typeface="Inter"/>
              <a:ea typeface="Inter"/>
              <a:cs typeface="Inter"/>
              <a:sym typeface="Inter"/>
            </a:endParaRPr>
          </a:p>
        </p:txBody>
      </p:sp>
      <p:sp>
        <p:nvSpPr>
          <p:cNvPr id="104" name="Google Shape;104;p20"/>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z="700" u="none" cap="none" strike="noStrike">
                <a:solidFill>
                  <a:srgbClr val="625D6E"/>
                </a:solidFill>
                <a:latin typeface="Inter"/>
                <a:ea typeface="Inter"/>
                <a:cs typeface="Inter"/>
                <a:sym typeface="Inter"/>
              </a:rPr>
              <a:t>Data Science Bootcamp · Fall 2026</a:t>
            </a:r>
            <a:endParaRPr b="0" i="0" sz="700" u="none" cap="none" strike="noStrike">
              <a:solidFill>
                <a:schemeClr val="dk1"/>
              </a:solidFill>
              <a:latin typeface="Calibri"/>
              <a:ea typeface="Calibri"/>
              <a:cs typeface="Calibri"/>
              <a:sym typeface="Calibri"/>
            </a:endParaRPr>
          </a:p>
        </p:txBody>
      </p:sp>
      <p:pic>
        <p:nvPicPr>
          <p:cNvPr id="105" name="Google Shape;105;p20" title="NYUTandon_LongLogo_Black.png"/>
          <p:cNvPicPr preferRelativeResize="0"/>
          <p:nvPr/>
        </p:nvPicPr>
        <p:blipFill>
          <a:blip r:embed="rId3">
            <a:alphaModFix/>
          </a:blip>
          <a:stretch>
            <a:fillRect/>
          </a:stretch>
        </p:blipFill>
        <p:spPr>
          <a:xfrm>
            <a:off x="118474" y="96475"/>
            <a:ext cx="1826033" cy="287100"/>
          </a:xfrm>
          <a:prstGeom prst="rect">
            <a:avLst/>
          </a:prstGeom>
          <a:noFill/>
          <a:ln>
            <a:noFill/>
          </a:ln>
        </p:spPr>
      </p:pic>
      <p:pic>
        <p:nvPicPr>
          <p:cNvPr id="106" name="Google Shape;106;p20"/>
          <p:cNvPicPr preferRelativeResize="0"/>
          <p:nvPr/>
        </p:nvPicPr>
        <p:blipFill rotWithShape="1">
          <a:blip r:embed="rId4">
            <a:alphaModFix/>
          </a:blip>
          <a:srcRect b="0" l="15639" r="17440" t="0"/>
          <a:stretch/>
        </p:blipFill>
        <p:spPr>
          <a:xfrm>
            <a:off x="3779325" y="576600"/>
            <a:ext cx="4793149" cy="3990299"/>
          </a:xfrm>
          <a:prstGeom prst="rect">
            <a:avLst/>
          </a:prstGeom>
          <a:noFill/>
          <a:ln>
            <a:noFill/>
          </a:ln>
        </p:spPr>
      </p:pic>
      <p:sp>
        <p:nvSpPr>
          <p:cNvPr id="107" name="Google Shape;107;p20"/>
          <p:cNvSpPr/>
          <p:nvPr/>
        </p:nvSpPr>
        <p:spPr>
          <a:xfrm>
            <a:off x="302050" y="1870775"/>
            <a:ext cx="3157200" cy="537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3600"/>
              <a:buFont typeface="Space Grotesk"/>
              <a:buNone/>
            </a:pPr>
            <a:r>
              <a:rPr b="1" lang="en" sz="3300">
                <a:solidFill>
                  <a:srgbClr val="3D3947"/>
                </a:solidFill>
                <a:latin typeface="Space Grotesk"/>
                <a:ea typeface="Space Grotesk"/>
                <a:cs typeface="Space Grotesk"/>
                <a:sym typeface="Space Grotesk"/>
              </a:rPr>
              <a:t>NYC Open Data</a:t>
            </a:r>
            <a:endParaRPr b="0" i="0" sz="3500" u="none" cap="none" strike="noStrike">
              <a:solidFill>
                <a:srgbClr val="3D3947"/>
              </a:solidFill>
              <a:latin typeface="Calibri"/>
              <a:ea typeface="Calibri"/>
              <a:cs typeface="Calibri"/>
              <a:sym typeface="Calibri"/>
            </a:endParaRPr>
          </a:p>
        </p:txBody>
      </p:sp>
      <p:sp>
        <p:nvSpPr>
          <p:cNvPr id="108" name="Google Shape;108;p20"/>
          <p:cNvSpPr txBox="1"/>
          <p:nvPr/>
        </p:nvSpPr>
        <p:spPr>
          <a:xfrm>
            <a:off x="253350" y="2567400"/>
            <a:ext cx="3080100" cy="19995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0"/>
              </a:spcAft>
              <a:buClr>
                <a:schemeClr val="dk1"/>
              </a:buClr>
              <a:buSzPts val="1100"/>
              <a:buFont typeface="Arial"/>
              <a:buNone/>
            </a:pPr>
            <a:r>
              <a:rPr b="1" lang="en" sz="900" u="sng">
                <a:solidFill>
                  <a:schemeClr val="hlink"/>
                </a:solidFill>
                <a:latin typeface="Space Grotesk"/>
                <a:ea typeface="Space Grotesk"/>
                <a:cs typeface="Space Grotesk"/>
                <a:sym typeface="Space Grotesk"/>
                <a:hlinkClick r:id="rId5"/>
              </a:rPr>
              <a:t>https://www.nyc.gov/opendata</a:t>
            </a:r>
            <a:r>
              <a:rPr b="1" lang="en" sz="900">
                <a:solidFill>
                  <a:srgbClr val="3D3947"/>
                </a:solidFill>
                <a:latin typeface="Space Grotesk"/>
                <a:ea typeface="Space Grotesk"/>
                <a:cs typeface="Space Grotesk"/>
                <a:sym typeface="Space Grotesk"/>
              </a:rPr>
              <a:t> </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rPr b="1" lang="en" sz="900">
                <a:solidFill>
                  <a:srgbClr val="3D3947"/>
                </a:solidFill>
                <a:latin typeface="Space Grotesk"/>
                <a:ea typeface="Space Grotesk"/>
                <a:cs typeface="Space Grotesk"/>
                <a:sym typeface="Space Grotesk"/>
              </a:rPr>
              <a:t>Dataset name: </a:t>
            </a:r>
            <a:br>
              <a:rPr b="1" lang="en" sz="900">
                <a:solidFill>
                  <a:srgbClr val="3D3947"/>
                </a:solidFill>
                <a:latin typeface="Space Grotesk"/>
                <a:ea typeface="Space Grotesk"/>
                <a:cs typeface="Space Grotesk"/>
                <a:sym typeface="Space Grotesk"/>
              </a:rPr>
            </a:br>
            <a:r>
              <a:rPr b="1" lang="en" sz="900">
                <a:solidFill>
                  <a:srgbClr val="3D3947"/>
                </a:solidFill>
                <a:latin typeface="Space Grotesk"/>
                <a:ea typeface="Space Grotesk"/>
                <a:cs typeface="Space Grotesk"/>
                <a:sym typeface="Space Grotesk"/>
              </a:rPr>
              <a:t>Brooklyn Bridge Automated Pedestrian Counts Demonstration Project (Historic)</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rPr b="1" lang="en" sz="900">
                <a:solidFill>
                  <a:srgbClr val="3D3947"/>
                </a:solidFill>
                <a:latin typeface="Space Grotesk"/>
                <a:ea typeface="Space Grotesk"/>
                <a:cs typeface="Space Grotesk"/>
                <a:sym typeface="Space Grotesk"/>
              </a:rPr>
              <a:t>Data Provided By: </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rPr b="1" lang="en" sz="900">
                <a:solidFill>
                  <a:srgbClr val="3D3947"/>
                </a:solidFill>
                <a:latin typeface="Space Grotesk"/>
                <a:ea typeface="Space Grotesk"/>
                <a:cs typeface="Space Grotesk"/>
                <a:sym typeface="Space Grotesk"/>
              </a:rPr>
              <a:t>Department of Transportation (DOT)</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rPr b="1" lang="en" sz="900">
                <a:solidFill>
                  <a:srgbClr val="3D3947"/>
                </a:solidFill>
                <a:latin typeface="Space Grotesk"/>
                <a:ea typeface="Space Grotesk"/>
                <a:cs typeface="Space Grotesk"/>
                <a:sym typeface="Space Grotesk"/>
              </a:rPr>
              <a:t>Visit: </a:t>
            </a:r>
            <a:r>
              <a:rPr b="1" lang="en" sz="900" u="sng">
                <a:solidFill>
                  <a:schemeClr val="hlink"/>
                </a:solidFill>
                <a:latin typeface="Space Grotesk"/>
                <a:ea typeface="Space Grotesk"/>
                <a:cs typeface="Space Grotesk"/>
                <a:sym typeface="Space Grotesk"/>
                <a:hlinkClick r:id="rId6"/>
              </a:rPr>
              <a:t>NYC Open Data - City of New York - Brooklyn Bridge Automation</a:t>
            </a:r>
            <a:r>
              <a:rPr b="1" lang="en" sz="900">
                <a:solidFill>
                  <a:srgbClr val="3D3947"/>
                </a:solidFill>
                <a:latin typeface="Space Grotesk"/>
                <a:ea typeface="Space Grotesk"/>
                <a:cs typeface="Space Grotesk"/>
                <a:sym typeface="Space Grotesk"/>
              </a:rPr>
              <a:t> </a:t>
            </a:r>
            <a:endParaRPr b="1" sz="900">
              <a:solidFill>
                <a:srgbClr val="3D3947"/>
              </a:solidFill>
              <a:latin typeface="Space Grotesk"/>
              <a:ea typeface="Space Grotesk"/>
              <a:cs typeface="Space Grotesk"/>
              <a:sym typeface="Space Grotesk"/>
            </a:endParaRPr>
          </a:p>
          <a:p>
            <a:pPr indent="0" lvl="0" marL="0" rtl="0" algn="l">
              <a:lnSpc>
                <a:spcPct val="110000"/>
              </a:lnSpc>
              <a:spcBef>
                <a:spcPts val="0"/>
              </a:spcBef>
              <a:spcAft>
                <a:spcPts val="0"/>
              </a:spcAft>
              <a:buNone/>
            </a:pPr>
            <a:r>
              <a:t/>
            </a:r>
            <a:endParaRPr b="1" sz="900">
              <a:solidFill>
                <a:srgbClr val="3D3947"/>
              </a:solidFill>
              <a:latin typeface="Space Grotesk"/>
              <a:ea typeface="Space Grotesk"/>
              <a:cs typeface="Space Grotesk"/>
              <a:sym typeface="Space Grotesk"/>
            </a:endParaRPr>
          </a:p>
        </p:txBody>
      </p:sp>
      <p:sp>
        <p:nvSpPr>
          <p:cNvPr id="109" name="Google Shape;109;p20"/>
          <p:cNvSpPr/>
          <p:nvPr/>
        </p:nvSpPr>
        <p:spPr>
          <a:xfrm>
            <a:off x="167925" y="576500"/>
            <a:ext cx="3402900" cy="3990300"/>
          </a:xfrm>
          <a:prstGeom prst="roundRect">
            <a:avLst>
              <a:gd fmla="val 10280" name="adj"/>
            </a:avLst>
          </a:prstGeom>
          <a:no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EF8A9"/>
            </a:gs>
            <a:gs pos="100000">
              <a:srgbClr val="A3E7FF"/>
            </a:gs>
          </a:gsLst>
          <a:path path="circle">
            <a:fillToRect b="0%" l="0%" r="100%" t="100%"/>
          </a:path>
          <a:tileRect b="-100%" l="-100%" r="0%" t="0%"/>
        </a:gradFill>
      </p:bgPr>
    </p:bg>
    <p:spTree>
      <p:nvGrpSpPr>
        <p:cNvPr id="114" name="Shape 114"/>
        <p:cNvGrpSpPr/>
        <p:nvPr/>
      </p:nvGrpSpPr>
      <p:grpSpPr>
        <a:xfrm>
          <a:off x="0" y="0"/>
          <a:ext cx="0" cy="0"/>
          <a:chOff x="0" y="0"/>
          <a:chExt cx="0" cy="0"/>
        </a:xfrm>
      </p:grpSpPr>
      <p:pic>
        <p:nvPicPr>
          <p:cNvPr descr="image.png" id="115" name="Google Shape;115;p21"/>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116" name="Google Shape;116;p21"/>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073763"/>
                </a:solidFill>
                <a:latin typeface="Inter"/>
                <a:ea typeface="Inter"/>
                <a:cs typeface="Inter"/>
                <a:sym typeface="Inter"/>
              </a:rPr>
              <a:t>HOW TO READ TODAY'S SESSION</a:t>
            </a:r>
            <a:endParaRPr>
              <a:solidFill>
                <a:srgbClr val="073763"/>
              </a:solidFill>
            </a:endParaRPr>
          </a:p>
        </p:txBody>
      </p:sp>
      <p:sp>
        <p:nvSpPr>
          <p:cNvPr id="117" name="Google Shape;117;p21"/>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2700" u="none" cap="none" strike="noStrike">
                <a:solidFill>
                  <a:srgbClr val="1D1B24"/>
                </a:solidFill>
                <a:latin typeface="Space Grotesk"/>
                <a:ea typeface="Space Grotesk"/>
                <a:cs typeface="Space Grotesk"/>
                <a:sym typeface="Space Grotesk"/>
              </a:rPr>
              <a:t>Two </a:t>
            </a:r>
            <a:r>
              <a:rPr b="1" lang="en" sz="2700">
                <a:solidFill>
                  <a:srgbClr val="1D1B24"/>
                </a:solidFill>
                <a:latin typeface="Space Grotesk"/>
                <a:ea typeface="Space Grotesk"/>
                <a:cs typeface="Space Grotesk"/>
                <a:sym typeface="Space Grotesk"/>
              </a:rPr>
              <a:t>parts for </a:t>
            </a:r>
            <a:r>
              <a:rPr b="1" i="0" lang="en" sz="2700" u="none" cap="none" strike="noStrike">
                <a:solidFill>
                  <a:srgbClr val="1D1B24"/>
                </a:solidFill>
                <a:latin typeface="Space Grotesk"/>
                <a:ea typeface="Space Grotesk"/>
                <a:cs typeface="Space Grotesk"/>
                <a:sym typeface="Space Grotesk"/>
              </a:rPr>
              <a:t>every </a:t>
            </a:r>
            <a:r>
              <a:rPr b="1" lang="en" sz="2700">
                <a:solidFill>
                  <a:srgbClr val="1D1B24"/>
                </a:solidFill>
                <a:latin typeface="Space Grotesk"/>
                <a:ea typeface="Space Grotesk"/>
                <a:cs typeface="Space Grotesk"/>
                <a:sym typeface="Space Grotesk"/>
              </a:rPr>
              <a:t>code block</a:t>
            </a:r>
            <a:endParaRPr/>
          </a:p>
        </p:txBody>
      </p:sp>
      <p:sp>
        <p:nvSpPr>
          <p:cNvPr id="118" name="Google Shape;118;p21"/>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u="none" cap="none" strike="noStrike">
                <a:solidFill>
                  <a:srgbClr val="625D6E"/>
                </a:solidFill>
                <a:latin typeface="Inter"/>
                <a:ea typeface="Inter"/>
                <a:cs typeface="Inter"/>
                <a:sym typeface="Inter"/>
              </a:rPr>
              <a:t>Data Science Bootcamp · Fall 2026</a:t>
            </a:r>
            <a:endParaRPr/>
          </a:p>
        </p:txBody>
      </p:sp>
      <p:sp>
        <p:nvSpPr>
          <p:cNvPr id="119" name="Google Shape;119;p21"/>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fld id="{00000000-1234-1234-1234-123412341234}" type="slidenum">
              <a:rPr b="0" i="0" lang="en" sz="900" u="none" cap="none" strike="noStrike">
                <a:solidFill>
                  <a:srgbClr val="625D6E"/>
                </a:solidFill>
                <a:latin typeface="Inter"/>
                <a:ea typeface="Inter"/>
                <a:cs typeface="Inter"/>
                <a:sym typeface="Inter"/>
              </a:rPr>
              <a:t>‹#›</a:t>
            </a:fld>
            <a:endParaRPr/>
          </a:p>
        </p:txBody>
      </p:sp>
      <p:sp>
        <p:nvSpPr>
          <p:cNvPr id="120" name="Google Shape;120;p21"/>
          <p:cNvSpPr/>
          <p:nvPr/>
        </p:nvSpPr>
        <p:spPr>
          <a:xfrm>
            <a:off x="612648" y="1298448"/>
            <a:ext cx="3684900" cy="18288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21"/>
          <p:cNvSpPr txBox="1"/>
          <p:nvPr/>
        </p:nvSpPr>
        <p:spPr>
          <a:xfrm>
            <a:off x="813816" y="146303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073763"/>
                </a:solidFill>
                <a:latin typeface="Inter"/>
                <a:ea typeface="Inter"/>
                <a:cs typeface="Inter"/>
                <a:sym typeface="Inter"/>
              </a:rPr>
              <a:t>THE STORY</a:t>
            </a:r>
            <a:endParaRPr>
              <a:solidFill>
                <a:srgbClr val="073763"/>
              </a:solidFill>
            </a:endParaRPr>
          </a:p>
        </p:txBody>
      </p:sp>
      <p:sp>
        <p:nvSpPr>
          <p:cNvPr id="122" name="Google Shape;122;p21"/>
          <p:cNvSpPr txBox="1"/>
          <p:nvPr/>
        </p:nvSpPr>
        <p:spPr>
          <a:xfrm>
            <a:off x="813816" y="1709928"/>
            <a:ext cx="3282600" cy="215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u="none" cap="none" strike="noStrike">
                <a:solidFill>
                  <a:srgbClr val="073763"/>
                </a:solidFill>
                <a:latin typeface="Space Grotesk"/>
                <a:ea typeface="Space Grotesk"/>
                <a:cs typeface="Space Grotesk"/>
                <a:sym typeface="Space Grotesk"/>
              </a:rPr>
              <a:t>The question about the bridge</a:t>
            </a:r>
            <a:endParaRPr>
              <a:solidFill>
                <a:srgbClr val="073763"/>
              </a:solidFill>
            </a:endParaRPr>
          </a:p>
        </p:txBody>
      </p:sp>
      <p:sp>
        <p:nvSpPr>
          <p:cNvPr id="123" name="Google Shape;123;p21"/>
          <p:cNvSpPr txBox="1"/>
          <p:nvPr/>
        </p:nvSpPr>
        <p:spPr>
          <a:xfrm>
            <a:off x="813816" y="2048255"/>
            <a:ext cx="3282600" cy="660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100" u="none" cap="none" strike="noStrike">
                <a:solidFill>
                  <a:srgbClr val="1D1B24"/>
                </a:solidFill>
                <a:latin typeface="Inter"/>
                <a:ea typeface="Inter"/>
                <a:cs typeface="Inter"/>
                <a:sym typeface="Inter"/>
              </a:rPr>
              <a:t>What we want to know, in plain English.</a:t>
            </a:r>
            <a:endParaRPr/>
          </a:p>
          <a:p>
            <a:pPr indent="0" lvl="0" marL="0" marR="0" rtl="0" algn="l">
              <a:lnSpc>
                <a:spcPct val="130000"/>
              </a:lnSpc>
              <a:spcBef>
                <a:spcPts val="400"/>
              </a:spcBef>
              <a:spcAft>
                <a:spcPts val="0"/>
              </a:spcAft>
              <a:buNone/>
            </a:pPr>
            <a:r>
              <a:rPr b="0" i="1" lang="en" sz="1100" u="none" cap="none" strike="noStrike">
                <a:solidFill>
                  <a:srgbClr val="1D1B24"/>
                </a:solidFill>
                <a:latin typeface="Inter"/>
                <a:ea typeface="Inter"/>
                <a:cs typeface="Inter"/>
                <a:sym typeface="Inter"/>
              </a:rPr>
              <a:t>When do people cross? Which direction dominates? Does rain matter?</a:t>
            </a:r>
            <a:endParaRPr/>
          </a:p>
        </p:txBody>
      </p:sp>
      <p:sp>
        <p:nvSpPr>
          <p:cNvPr id="124" name="Google Shape;124;p21"/>
          <p:cNvSpPr/>
          <p:nvPr/>
        </p:nvSpPr>
        <p:spPr>
          <a:xfrm>
            <a:off x="4846320" y="1298448"/>
            <a:ext cx="3684900" cy="18288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70AD47"/>
              </a:solidFill>
              <a:latin typeface="Arial"/>
              <a:ea typeface="Arial"/>
              <a:cs typeface="Arial"/>
              <a:sym typeface="Arial"/>
            </a:endParaRPr>
          </a:p>
        </p:txBody>
      </p:sp>
      <p:sp>
        <p:nvSpPr>
          <p:cNvPr id="125" name="Google Shape;125;p21"/>
          <p:cNvSpPr txBox="1"/>
          <p:nvPr/>
        </p:nvSpPr>
        <p:spPr>
          <a:xfrm>
            <a:off x="5047488" y="146303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FFC000"/>
                </a:solidFill>
                <a:latin typeface="Inter"/>
                <a:ea typeface="Inter"/>
                <a:cs typeface="Inter"/>
                <a:sym typeface="Inter"/>
              </a:rPr>
              <a:t>THE TOOL</a:t>
            </a:r>
            <a:endParaRPr>
              <a:solidFill>
                <a:srgbClr val="FFC000"/>
              </a:solidFill>
            </a:endParaRPr>
          </a:p>
        </p:txBody>
      </p:sp>
      <p:sp>
        <p:nvSpPr>
          <p:cNvPr id="126" name="Google Shape;126;p21"/>
          <p:cNvSpPr txBox="1"/>
          <p:nvPr/>
        </p:nvSpPr>
        <p:spPr>
          <a:xfrm>
            <a:off x="5047488" y="1709928"/>
            <a:ext cx="3282600" cy="215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u="none" cap="none" strike="noStrike">
                <a:solidFill>
                  <a:srgbClr val="F6F4EF"/>
                </a:solidFill>
                <a:latin typeface="Space Grotesk"/>
                <a:ea typeface="Space Grotesk"/>
                <a:cs typeface="Space Grotesk"/>
                <a:sym typeface="Space Grotesk"/>
              </a:rPr>
              <a:t>The library and function</a:t>
            </a:r>
            <a:endParaRPr/>
          </a:p>
        </p:txBody>
      </p:sp>
      <p:sp>
        <p:nvSpPr>
          <p:cNvPr id="127" name="Google Shape;127;p21"/>
          <p:cNvSpPr txBox="1"/>
          <p:nvPr/>
        </p:nvSpPr>
        <p:spPr>
          <a:xfrm>
            <a:off x="5047488" y="2048255"/>
            <a:ext cx="3282600" cy="169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100" u="none" cap="none" strike="noStrike">
                <a:solidFill>
                  <a:srgbClr val="F6F4EF"/>
                </a:solidFill>
                <a:latin typeface="Inter"/>
                <a:ea typeface="Inter"/>
                <a:cs typeface="Inter"/>
                <a:sym typeface="Inter"/>
              </a:rPr>
              <a:t>How we get the answer, in code.</a:t>
            </a:r>
            <a:endParaRPr/>
          </a:p>
        </p:txBody>
      </p:sp>
      <p:sp>
        <p:nvSpPr>
          <p:cNvPr id="128" name="Google Shape;128;p21"/>
          <p:cNvSpPr txBox="1"/>
          <p:nvPr/>
        </p:nvSpPr>
        <p:spPr>
          <a:xfrm>
            <a:off x="5047488" y="2441448"/>
            <a:ext cx="3282600" cy="37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 sz="1050" u="none" cap="none" strike="noStrike">
                <a:solidFill>
                  <a:srgbClr val="E8A93A"/>
                </a:solidFill>
                <a:latin typeface="Courier New"/>
                <a:ea typeface="Courier New"/>
                <a:cs typeface="Courier New"/>
                <a:sym typeface="Courier New"/>
              </a:rPr>
              <a:t>np</a:t>
            </a:r>
            <a:r>
              <a:rPr b="0" i="0" lang="en" sz="1050" u="none" cap="none" strike="noStrike">
                <a:solidFill>
                  <a:srgbClr val="F6F4EF"/>
                </a:solidFill>
                <a:latin typeface="Courier New"/>
                <a:ea typeface="Courier New"/>
                <a:cs typeface="Courier New"/>
                <a:sym typeface="Courier New"/>
              </a:rPr>
              <a:t>.reshape()   </a:t>
            </a:r>
            <a:r>
              <a:rPr b="1" i="0" lang="en" sz="1050" u="none" cap="none" strike="noStrike">
                <a:solidFill>
                  <a:srgbClr val="E8A93A"/>
                </a:solidFill>
                <a:latin typeface="Courier New"/>
                <a:ea typeface="Courier New"/>
                <a:cs typeface="Courier New"/>
                <a:sym typeface="Courier New"/>
              </a:rPr>
              <a:t>pd</a:t>
            </a:r>
            <a:r>
              <a:rPr b="0" i="0" lang="en" sz="1050" u="none" cap="none" strike="noStrike">
                <a:solidFill>
                  <a:srgbClr val="F6F4EF"/>
                </a:solidFill>
                <a:latin typeface="Courier New"/>
                <a:ea typeface="Courier New"/>
                <a:cs typeface="Courier New"/>
                <a:sym typeface="Courier New"/>
              </a:rPr>
              <a:t>.read_csv()</a:t>
            </a:r>
            <a:endParaRPr/>
          </a:p>
          <a:p>
            <a:pPr indent="0" lvl="0" marL="0" marR="0" rtl="0" algn="l">
              <a:lnSpc>
                <a:spcPct val="130000"/>
              </a:lnSpc>
              <a:spcBef>
                <a:spcPts val="0"/>
              </a:spcBef>
              <a:spcAft>
                <a:spcPts val="0"/>
              </a:spcAft>
              <a:buNone/>
            </a:pPr>
            <a:r>
              <a:rPr b="0" i="0" lang="en" sz="1050" u="none" cap="none" strike="noStrike">
                <a:solidFill>
                  <a:srgbClr val="F6F4EF"/>
                </a:solidFill>
                <a:latin typeface="Courier New"/>
                <a:ea typeface="Courier New"/>
                <a:cs typeface="Courier New"/>
                <a:sym typeface="Courier New"/>
              </a:rPr>
              <a:t>df.</a:t>
            </a:r>
            <a:r>
              <a:rPr b="1" i="0" lang="en" sz="1050" u="none" cap="none" strike="noStrike">
                <a:solidFill>
                  <a:srgbClr val="E8A93A"/>
                </a:solidFill>
                <a:latin typeface="Courier New"/>
                <a:ea typeface="Courier New"/>
                <a:cs typeface="Courier New"/>
                <a:sym typeface="Courier New"/>
              </a:rPr>
              <a:t>groupby</a:t>
            </a:r>
            <a:r>
              <a:rPr b="0" i="0" lang="en" sz="1050" u="none" cap="none" strike="noStrike">
                <a:solidFill>
                  <a:srgbClr val="F6F4EF"/>
                </a:solidFill>
                <a:latin typeface="Courier New"/>
                <a:ea typeface="Courier New"/>
                <a:cs typeface="Courier New"/>
                <a:sym typeface="Courier New"/>
              </a:rPr>
              <a:t>()   df.</a:t>
            </a:r>
            <a:r>
              <a:rPr b="1" i="0" lang="en" sz="1050" u="none" cap="none" strike="noStrike">
                <a:solidFill>
                  <a:srgbClr val="E8A93A"/>
                </a:solidFill>
                <a:latin typeface="Courier New"/>
                <a:ea typeface="Courier New"/>
                <a:cs typeface="Courier New"/>
                <a:sym typeface="Courier New"/>
              </a:rPr>
              <a:t>sort_values</a:t>
            </a:r>
            <a:r>
              <a:rPr b="0" i="0" lang="en" sz="1050" u="none" cap="none" strike="noStrike">
                <a:solidFill>
                  <a:srgbClr val="F6F4EF"/>
                </a:solidFill>
                <a:latin typeface="Courier New"/>
                <a:ea typeface="Courier New"/>
                <a:cs typeface="Courier New"/>
                <a:sym typeface="Courier New"/>
              </a:rPr>
              <a:t>()</a:t>
            </a:r>
            <a:endParaRPr/>
          </a:p>
        </p:txBody>
      </p:sp>
      <p:sp>
        <p:nvSpPr>
          <p:cNvPr id="129" name="Google Shape;129;p21"/>
          <p:cNvSpPr/>
          <p:nvPr/>
        </p:nvSpPr>
        <p:spPr>
          <a:xfrm>
            <a:off x="612648" y="3337560"/>
            <a:ext cx="7918800" cy="10974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21"/>
          <p:cNvSpPr txBox="1"/>
          <p:nvPr/>
        </p:nvSpPr>
        <p:spPr>
          <a:xfrm>
            <a:off x="813816" y="3465576"/>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073763"/>
                </a:solidFill>
                <a:latin typeface="Inter"/>
                <a:ea typeface="Inter"/>
                <a:cs typeface="Inter"/>
                <a:sym typeface="Inter"/>
              </a:rPr>
              <a:t>EXAMPLE</a:t>
            </a:r>
            <a:endParaRPr>
              <a:solidFill>
                <a:srgbClr val="073763"/>
              </a:solidFill>
            </a:endParaRPr>
          </a:p>
        </p:txBody>
      </p:sp>
      <p:sp>
        <p:nvSpPr>
          <p:cNvPr id="131" name="Google Shape;131;p21"/>
          <p:cNvSpPr txBox="1"/>
          <p:nvPr/>
        </p:nvSpPr>
        <p:spPr>
          <a:xfrm>
            <a:off x="867091" y="3828408"/>
            <a:ext cx="3154800" cy="1692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1" i="0" lang="en" sz="1100" u="none" cap="none" strike="noStrike">
                <a:solidFill>
                  <a:srgbClr val="073763"/>
                </a:solidFill>
                <a:latin typeface="Inter"/>
                <a:ea typeface="Inter"/>
                <a:cs typeface="Inter"/>
                <a:sym typeface="Inter"/>
              </a:rPr>
              <a:t>Story: </a:t>
            </a:r>
            <a:r>
              <a:rPr b="0" i="0" lang="en" sz="1100" u="none" cap="none" strike="noStrike">
                <a:solidFill>
                  <a:srgbClr val="073763"/>
                </a:solidFill>
                <a:latin typeface="Inter"/>
                <a:ea typeface="Inter"/>
                <a:cs typeface="Inter"/>
                <a:sym typeface="Inter"/>
              </a:rPr>
              <a:t>Which hours of the day are busiest?</a:t>
            </a:r>
            <a:endParaRPr>
              <a:solidFill>
                <a:srgbClr val="073763"/>
              </a:solidFill>
            </a:endParaRPr>
          </a:p>
        </p:txBody>
      </p:sp>
      <p:sp>
        <p:nvSpPr>
          <p:cNvPr id="132" name="Google Shape;132;p21"/>
          <p:cNvSpPr/>
          <p:nvPr/>
        </p:nvSpPr>
        <p:spPr>
          <a:xfrm>
            <a:off x="4149679" y="3803837"/>
            <a:ext cx="292500" cy="201300"/>
          </a:xfrm>
          <a:prstGeom prst="rightArrow">
            <a:avLst>
              <a:gd fmla="val 50000" name="adj1"/>
              <a:gd fmla="val 50000" name="adj2"/>
            </a:avLst>
          </a:prstGeom>
          <a:noFill/>
          <a:ln cap="flat" cmpd="sng" w="9525">
            <a:solidFill>
              <a:srgbClr val="445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73763"/>
              </a:solidFill>
              <a:latin typeface="Arial"/>
              <a:ea typeface="Arial"/>
              <a:cs typeface="Arial"/>
              <a:sym typeface="Arial"/>
            </a:endParaRPr>
          </a:p>
        </p:txBody>
      </p:sp>
      <p:sp>
        <p:nvSpPr>
          <p:cNvPr id="133" name="Google Shape;133;p21"/>
          <p:cNvSpPr/>
          <p:nvPr/>
        </p:nvSpPr>
        <p:spPr>
          <a:xfrm>
            <a:off x="4846325" y="3566150"/>
            <a:ext cx="3502200" cy="685800"/>
          </a:xfrm>
          <a:prstGeom prst="roundRect">
            <a:avLst>
              <a:gd fmla="val 14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70AD47"/>
              </a:solidFill>
              <a:latin typeface="Arial"/>
              <a:ea typeface="Arial"/>
              <a:cs typeface="Arial"/>
              <a:sym typeface="Arial"/>
            </a:endParaRPr>
          </a:p>
        </p:txBody>
      </p:sp>
      <p:sp>
        <p:nvSpPr>
          <p:cNvPr id="134" name="Google Shape;134;p21"/>
          <p:cNvSpPr txBox="1"/>
          <p:nvPr/>
        </p:nvSpPr>
        <p:spPr>
          <a:xfrm>
            <a:off x="5047538" y="3718625"/>
            <a:ext cx="3282600" cy="3717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 sz="1050" u="none" cap="none" strike="noStrike">
                <a:solidFill>
                  <a:srgbClr val="F6F4EF"/>
                </a:solidFill>
                <a:latin typeface="Courier New"/>
                <a:ea typeface="Courier New"/>
                <a:cs typeface="Courier New"/>
                <a:sym typeface="Courier New"/>
              </a:rPr>
              <a:t>bridge.</a:t>
            </a:r>
            <a:r>
              <a:rPr b="1" i="0" lang="en" sz="1050" u="none" cap="none" strike="noStrike">
                <a:solidFill>
                  <a:srgbClr val="E8A93A"/>
                </a:solidFill>
                <a:latin typeface="Courier New"/>
                <a:ea typeface="Courier New"/>
                <a:cs typeface="Courier New"/>
                <a:sym typeface="Courier New"/>
              </a:rPr>
              <a:t>groupby</a:t>
            </a:r>
            <a:r>
              <a:rPr b="0" i="0" lang="en" sz="1050" u="none" cap="none" strike="noStrike">
                <a:solidFill>
                  <a:srgbClr val="F6F4EF"/>
                </a:solidFill>
                <a:latin typeface="Courier New"/>
                <a:ea typeface="Courier New"/>
                <a:cs typeface="Courier New"/>
                <a:sym typeface="Courier New"/>
              </a:rPr>
              <a:t>("hour")</a:t>
            </a:r>
            <a:endParaRPr/>
          </a:p>
          <a:p>
            <a:pPr indent="0" lvl="0" marL="0" marR="0" rtl="0" algn="l">
              <a:lnSpc>
                <a:spcPct val="130000"/>
              </a:lnSpc>
              <a:spcBef>
                <a:spcPts val="0"/>
              </a:spcBef>
              <a:spcAft>
                <a:spcPts val="0"/>
              </a:spcAft>
              <a:buNone/>
            </a:pPr>
            <a:r>
              <a:rPr b="0" i="0" lang="en" sz="1050" u="none" cap="none" strike="noStrike">
                <a:solidFill>
                  <a:srgbClr val="F6F4EF"/>
                </a:solidFill>
                <a:latin typeface="Courier New"/>
                <a:ea typeface="Courier New"/>
                <a:cs typeface="Courier New"/>
                <a:sym typeface="Courier New"/>
              </a:rPr>
              <a:t>      .pedestrians.</a:t>
            </a:r>
            <a:r>
              <a:rPr b="1" i="0" lang="en" sz="1050" u="none" cap="none" strike="noStrike">
                <a:solidFill>
                  <a:srgbClr val="E8A93A"/>
                </a:solidFill>
                <a:latin typeface="Courier New"/>
                <a:ea typeface="Courier New"/>
                <a:cs typeface="Courier New"/>
                <a:sym typeface="Courier New"/>
              </a:rPr>
              <a:t>mean</a:t>
            </a:r>
            <a:r>
              <a:rPr b="0" i="0" lang="en" sz="1050" u="none" cap="none" strike="noStrike">
                <a:solidFill>
                  <a:srgbClr val="F6F4EF"/>
                </a:solidFill>
                <a:latin typeface="Courier New"/>
                <a:ea typeface="Courier New"/>
                <a:cs typeface="Courier New"/>
                <a:sym typeface="Courier New"/>
              </a:rPr>
              <a:t>()</a:t>
            </a:r>
            <a:endParaRPr/>
          </a:p>
        </p:txBody>
      </p:sp>
      <p:sp>
        <p:nvSpPr>
          <p:cNvPr id="135" name="Google Shape;135;p21"/>
          <p:cNvSpPr/>
          <p:nvPr/>
        </p:nvSpPr>
        <p:spPr>
          <a:xfrm>
            <a:off x="4441717" y="2112212"/>
            <a:ext cx="292500" cy="201300"/>
          </a:xfrm>
          <a:prstGeom prst="rightArrow">
            <a:avLst>
              <a:gd fmla="val 50000" name="adj1"/>
              <a:gd fmla="val 50000" name="adj2"/>
            </a:avLst>
          </a:prstGeom>
          <a:noFill/>
          <a:ln cap="flat" cmpd="sng" w="9525">
            <a:solidFill>
              <a:srgbClr val="625D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7376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FFCF"/>
            </a:gs>
            <a:gs pos="100000">
              <a:srgbClr val="D0F3FF"/>
            </a:gs>
          </a:gsLst>
          <a:path path="circle">
            <a:fillToRect b="0%" l="0%" r="100%" t="100%"/>
          </a:path>
          <a:tileRect b="-100%" l="-100%" r="0%" t="0%"/>
        </a:gradFill>
      </p:bgPr>
    </p:bg>
    <p:spTree>
      <p:nvGrpSpPr>
        <p:cNvPr id="139" name="Shape 139"/>
        <p:cNvGrpSpPr/>
        <p:nvPr/>
      </p:nvGrpSpPr>
      <p:grpSpPr>
        <a:xfrm>
          <a:off x="0" y="0"/>
          <a:ext cx="0" cy="0"/>
          <a:chOff x="0" y="0"/>
          <a:chExt cx="0" cy="0"/>
        </a:xfrm>
      </p:grpSpPr>
      <p:pic>
        <p:nvPicPr>
          <p:cNvPr descr="image.png" id="140" name="Google Shape;140;p22"/>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141" name="Google Shape;141;p22"/>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PART 1 · NUMPY · INDEXING &amp; SLICING</a:t>
            </a:r>
            <a:endParaRPr/>
          </a:p>
        </p:txBody>
      </p:sp>
      <p:sp>
        <p:nvSpPr>
          <p:cNvPr id="142" name="Google Shape;142;p22"/>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2700" u="none" cap="none" strike="noStrike">
                <a:solidFill>
                  <a:srgbClr val="1D1B24"/>
                </a:solidFill>
                <a:latin typeface="Space Grotesk"/>
                <a:ea typeface="Space Grotesk"/>
                <a:cs typeface="Space Grotesk"/>
                <a:sym typeface="Space Grotesk"/>
              </a:rPr>
              <a:t>Pick out exactly what you need</a:t>
            </a:r>
            <a:endParaRPr/>
          </a:p>
        </p:txBody>
      </p:sp>
      <p:sp>
        <p:nvSpPr>
          <p:cNvPr id="143" name="Google Shape;143;p22"/>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u="none" cap="none" strike="noStrike">
                <a:solidFill>
                  <a:srgbClr val="625D6E"/>
                </a:solidFill>
                <a:latin typeface="Inter"/>
                <a:ea typeface="Inter"/>
                <a:cs typeface="Inter"/>
                <a:sym typeface="Inter"/>
              </a:rPr>
              <a:t>Data Science Bootcamp · Fall 2026</a:t>
            </a:r>
            <a:endParaRPr/>
          </a:p>
        </p:txBody>
      </p:sp>
      <p:sp>
        <p:nvSpPr>
          <p:cNvPr id="144" name="Google Shape;144;p22"/>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fld id="{00000000-1234-1234-1234-123412341234}" type="slidenum">
              <a:rPr b="0" i="0" lang="en" sz="900" u="none" cap="none" strike="noStrike">
                <a:solidFill>
                  <a:srgbClr val="625D6E"/>
                </a:solidFill>
                <a:latin typeface="Inter"/>
                <a:ea typeface="Inter"/>
                <a:cs typeface="Inter"/>
                <a:sym typeface="Inter"/>
              </a:rPr>
              <a:t>‹#›</a:t>
            </a:fld>
            <a:endParaRPr/>
          </a:p>
        </p:txBody>
      </p:sp>
      <p:sp>
        <p:nvSpPr>
          <p:cNvPr id="145" name="Google Shape;145;p22"/>
          <p:cNvSpPr/>
          <p:nvPr/>
        </p:nvSpPr>
        <p:spPr>
          <a:xfrm>
            <a:off x="612648" y="1627632"/>
            <a:ext cx="567000"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p22"/>
          <p:cNvSpPr txBox="1"/>
          <p:nvPr/>
        </p:nvSpPr>
        <p:spPr>
          <a:xfrm>
            <a:off x="612648" y="1736576"/>
            <a:ext cx="567000"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1100" u="none" cap="none" strike="noStrike">
                <a:solidFill>
                  <a:srgbClr val="1D1B24"/>
                </a:solidFill>
                <a:latin typeface="Courier New"/>
                <a:ea typeface="Courier New"/>
                <a:cs typeface="Courier New"/>
                <a:sym typeface="Courier New"/>
              </a:rPr>
              <a:t>44</a:t>
            </a:r>
            <a:endParaRPr/>
          </a:p>
        </p:txBody>
      </p:sp>
      <p:sp>
        <p:nvSpPr>
          <p:cNvPr id="147" name="Google Shape;147;p22"/>
          <p:cNvSpPr txBox="1"/>
          <p:nvPr/>
        </p:nvSpPr>
        <p:spPr>
          <a:xfrm>
            <a:off x="612648" y="1426464"/>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0</a:t>
            </a:r>
            <a:endParaRPr/>
          </a:p>
        </p:txBody>
      </p:sp>
      <p:sp>
        <p:nvSpPr>
          <p:cNvPr id="148" name="Google Shape;148;p22"/>
          <p:cNvSpPr txBox="1"/>
          <p:nvPr/>
        </p:nvSpPr>
        <p:spPr>
          <a:xfrm>
            <a:off x="612648" y="2048256"/>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-5</a:t>
            </a:r>
            <a:endParaRPr/>
          </a:p>
        </p:txBody>
      </p:sp>
      <p:sp>
        <p:nvSpPr>
          <p:cNvPr id="149" name="Google Shape;149;p22"/>
          <p:cNvSpPr/>
          <p:nvPr/>
        </p:nvSpPr>
        <p:spPr>
          <a:xfrm>
            <a:off x="1234440" y="1627632"/>
            <a:ext cx="567000"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22"/>
          <p:cNvSpPr txBox="1"/>
          <p:nvPr/>
        </p:nvSpPr>
        <p:spPr>
          <a:xfrm>
            <a:off x="1234440" y="1736576"/>
            <a:ext cx="567000"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1100" u="none" cap="none" strike="noStrike">
                <a:solidFill>
                  <a:srgbClr val="1D1B24"/>
                </a:solidFill>
                <a:latin typeface="Courier New"/>
                <a:ea typeface="Courier New"/>
                <a:cs typeface="Courier New"/>
                <a:sym typeface="Courier New"/>
              </a:rPr>
              <a:t>30</a:t>
            </a:r>
            <a:endParaRPr/>
          </a:p>
        </p:txBody>
      </p:sp>
      <p:sp>
        <p:nvSpPr>
          <p:cNvPr id="151" name="Google Shape;151;p22"/>
          <p:cNvSpPr txBox="1"/>
          <p:nvPr/>
        </p:nvSpPr>
        <p:spPr>
          <a:xfrm>
            <a:off x="1234440" y="1426464"/>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1</a:t>
            </a:r>
            <a:endParaRPr/>
          </a:p>
        </p:txBody>
      </p:sp>
      <p:sp>
        <p:nvSpPr>
          <p:cNvPr id="152" name="Google Shape;152;p22"/>
          <p:cNvSpPr txBox="1"/>
          <p:nvPr/>
        </p:nvSpPr>
        <p:spPr>
          <a:xfrm>
            <a:off x="1234440" y="2048256"/>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-4</a:t>
            </a:r>
            <a:endParaRPr/>
          </a:p>
        </p:txBody>
      </p:sp>
      <p:sp>
        <p:nvSpPr>
          <p:cNvPr id="153" name="Google Shape;153;p22"/>
          <p:cNvSpPr/>
          <p:nvPr/>
        </p:nvSpPr>
        <p:spPr>
          <a:xfrm>
            <a:off x="1856231" y="1627632"/>
            <a:ext cx="567000"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22"/>
          <p:cNvSpPr txBox="1"/>
          <p:nvPr/>
        </p:nvSpPr>
        <p:spPr>
          <a:xfrm>
            <a:off x="1856231" y="1736576"/>
            <a:ext cx="567000"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1100" u="none" cap="none" strike="noStrike">
                <a:solidFill>
                  <a:srgbClr val="1D1B24"/>
                </a:solidFill>
                <a:latin typeface="Courier New"/>
                <a:ea typeface="Courier New"/>
                <a:cs typeface="Courier New"/>
                <a:sym typeface="Courier New"/>
              </a:rPr>
              <a:t>25</a:t>
            </a:r>
            <a:endParaRPr/>
          </a:p>
        </p:txBody>
      </p:sp>
      <p:sp>
        <p:nvSpPr>
          <p:cNvPr id="155" name="Google Shape;155;p22"/>
          <p:cNvSpPr txBox="1"/>
          <p:nvPr/>
        </p:nvSpPr>
        <p:spPr>
          <a:xfrm>
            <a:off x="1856231" y="1426464"/>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2</a:t>
            </a:r>
            <a:endParaRPr/>
          </a:p>
        </p:txBody>
      </p:sp>
      <p:sp>
        <p:nvSpPr>
          <p:cNvPr id="156" name="Google Shape;156;p22"/>
          <p:cNvSpPr txBox="1"/>
          <p:nvPr/>
        </p:nvSpPr>
        <p:spPr>
          <a:xfrm>
            <a:off x="1856231" y="2048256"/>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-3</a:t>
            </a:r>
            <a:endParaRPr/>
          </a:p>
        </p:txBody>
      </p:sp>
      <p:sp>
        <p:nvSpPr>
          <p:cNvPr id="157" name="Google Shape;157;p22"/>
          <p:cNvSpPr/>
          <p:nvPr/>
        </p:nvSpPr>
        <p:spPr>
          <a:xfrm>
            <a:off x="2478024" y="1627632"/>
            <a:ext cx="567000"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 name="Google Shape;158;p22"/>
          <p:cNvSpPr txBox="1"/>
          <p:nvPr/>
        </p:nvSpPr>
        <p:spPr>
          <a:xfrm>
            <a:off x="2478024" y="1736576"/>
            <a:ext cx="567000"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1100" u="none" cap="none" strike="noStrike">
                <a:solidFill>
                  <a:srgbClr val="1D1B24"/>
                </a:solidFill>
                <a:latin typeface="Courier New"/>
                <a:ea typeface="Courier New"/>
                <a:cs typeface="Courier New"/>
                <a:sym typeface="Courier New"/>
              </a:rPr>
              <a:t>20</a:t>
            </a:r>
            <a:endParaRPr/>
          </a:p>
        </p:txBody>
      </p:sp>
      <p:sp>
        <p:nvSpPr>
          <p:cNvPr id="159" name="Google Shape;159;p22"/>
          <p:cNvSpPr txBox="1"/>
          <p:nvPr/>
        </p:nvSpPr>
        <p:spPr>
          <a:xfrm>
            <a:off x="2478024" y="1426464"/>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3</a:t>
            </a:r>
            <a:endParaRPr/>
          </a:p>
        </p:txBody>
      </p:sp>
      <p:sp>
        <p:nvSpPr>
          <p:cNvPr id="160" name="Google Shape;160;p22"/>
          <p:cNvSpPr txBox="1"/>
          <p:nvPr/>
        </p:nvSpPr>
        <p:spPr>
          <a:xfrm>
            <a:off x="2478024" y="2048256"/>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-2</a:t>
            </a:r>
            <a:endParaRPr/>
          </a:p>
        </p:txBody>
      </p:sp>
      <p:sp>
        <p:nvSpPr>
          <p:cNvPr id="161" name="Google Shape;161;p22"/>
          <p:cNvSpPr/>
          <p:nvPr/>
        </p:nvSpPr>
        <p:spPr>
          <a:xfrm>
            <a:off x="3099815" y="1627632"/>
            <a:ext cx="567000"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22"/>
          <p:cNvSpPr txBox="1"/>
          <p:nvPr/>
        </p:nvSpPr>
        <p:spPr>
          <a:xfrm>
            <a:off x="3099815" y="1736576"/>
            <a:ext cx="567000"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1100" u="none" cap="none" strike="noStrike">
                <a:solidFill>
                  <a:srgbClr val="1D1B24"/>
                </a:solidFill>
                <a:latin typeface="Courier New"/>
                <a:ea typeface="Courier New"/>
                <a:cs typeface="Courier New"/>
                <a:sym typeface="Courier New"/>
              </a:rPr>
              <a:t>18</a:t>
            </a:r>
            <a:endParaRPr/>
          </a:p>
        </p:txBody>
      </p:sp>
      <p:sp>
        <p:nvSpPr>
          <p:cNvPr id="163" name="Google Shape;163;p22"/>
          <p:cNvSpPr txBox="1"/>
          <p:nvPr/>
        </p:nvSpPr>
        <p:spPr>
          <a:xfrm>
            <a:off x="3099815" y="1426464"/>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4</a:t>
            </a:r>
            <a:endParaRPr/>
          </a:p>
        </p:txBody>
      </p:sp>
      <p:sp>
        <p:nvSpPr>
          <p:cNvPr id="164" name="Google Shape;164;p22"/>
          <p:cNvSpPr txBox="1"/>
          <p:nvPr/>
        </p:nvSpPr>
        <p:spPr>
          <a:xfrm>
            <a:off x="3099815" y="2048256"/>
            <a:ext cx="5670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625D6E"/>
                </a:solidFill>
                <a:latin typeface="Courier New"/>
                <a:ea typeface="Courier New"/>
                <a:cs typeface="Courier New"/>
                <a:sym typeface="Courier New"/>
              </a:rPr>
              <a:t>-1</a:t>
            </a:r>
            <a:endParaRPr/>
          </a:p>
        </p:txBody>
      </p:sp>
      <p:sp>
        <p:nvSpPr>
          <p:cNvPr id="165" name="Google Shape;165;p22"/>
          <p:cNvSpPr txBox="1"/>
          <p:nvPr/>
        </p:nvSpPr>
        <p:spPr>
          <a:xfrm>
            <a:off x="3950208" y="1417320"/>
            <a:ext cx="4581000" cy="844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50" u="none" cap="none" strike="noStrike">
                <a:solidFill>
                  <a:srgbClr val="351C75"/>
                </a:solidFill>
                <a:latin typeface="Courier New"/>
                <a:ea typeface="Courier New"/>
                <a:cs typeface="Courier New"/>
                <a:sym typeface="Courier New"/>
              </a:rPr>
              <a:t>pedestrians[:5]</a:t>
            </a:r>
            <a:endParaRPr/>
          </a:p>
          <a:p>
            <a:pPr indent="0" lvl="0" marL="0" marR="0" rtl="0" algn="l">
              <a:lnSpc>
                <a:spcPct val="125000"/>
              </a:lnSpc>
              <a:spcBef>
                <a:spcPts val="300"/>
              </a:spcBef>
              <a:spcAft>
                <a:spcPts val="0"/>
              </a:spcAft>
              <a:buNone/>
            </a:pPr>
            <a:r>
              <a:rPr b="0" i="0" lang="en" sz="1050" u="none" cap="none" strike="noStrike">
                <a:solidFill>
                  <a:srgbClr val="1D1B24"/>
                </a:solidFill>
                <a:latin typeface="Inter"/>
                <a:ea typeface="Inter"/>
                <a:cs typeface="Inter"/>
                <a:sym typeface="Inter"/>
              </a:rPr>
              <a:t>Five real counts, two ways to number them: from the front, or from the back.</a:t>
            </a:r>
            <a:endParaRPr/>
          </a:p>
          <a:p>
            <a:pPr indent="0" lvl="0" marL="0" marR="0" rtl="0" algn="l">
              <a:lnSpc>
                <a:spcPct val="125000"/>
              </a:lnSpc>
              <a:spcBef>
                <a:spcPts val="300"/>
              </a:spcBef>
              <a:spcAft>
                <a:spcPts val="0"/>
              </a:spcAft>
              <a:buNone/>
            </a:pPr>
            <a:r>
              <a:rPr b="0" i="0" lang="en" sz="1050" u="none" cap="none" strike="noStrike">
                <a:solidFill>
                  <a:srgbClr val="1D1B24"/>
                </a:solidFill>
                <a:latin typeface="Inter"/>
                <a:ea typeface="Inter"/>
                <a:cs typeface="Inter"/>
                <a:sym typeface="Inter"/>
              </a:rPr>
              <a:t>Spot-check random hours with </a:t>
            </a:r>
            <a:r>
              <a:rPr b="1" i="0" lang="en" sz="1000" u="none" cap="none" strike="noStrike">
                <a:solidFill>
                  <a:srgbClr val="351C75"/>
                </a:solidFill>
                <a:latin typeface="Courier New"/>
                <a:ea typeface="Courier New"/>
                <a:cs typeface="Courier New"/>
                <a:sym typeface="Courier New"/>
              </a:rPr>
              <a:t>np.random.randint</a:t>
            </a:r>
            <a:r>
              <a:rPr b="0" i="0" lang="en" sz="1050" u="none" cap="none" strike="noStrike">
                <a:solidFill>
                  <a:srgbClr val="1D1B24"/>
                </a:solidFill>
                <a:latin typeface="Inter"/>
                <a:ea typeface="Inter"/>
                <a:cs typeface="Inter"/>
                <a:sym typeface="Inter"/>
              </a:rPr>
              <a:t>.</a:t>
            </a:r>
            <a:endParaRPr/>
          </a:p>
        </p:txBody>
      </p:sp>
      <p:sp>
        <p:nvSpPr>
          <p:cNvPr id="166" name="Google Shape;166;p22"/>
          <p:cNvSpPr/>
          <p:nvPr/>
        </p:nvSpPr>
        <p:spPr>
          <a:xfrm>
            <a:off x="612648" y="2487168"/>
            <a:ext cx="2517600" cy="19476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22"/>
          <p:cNvSpPr txBox="1"/>
          <p:nvPr/>
        </p:nvSpPr>
        <p:spPr>
          <a:xfrm>
            <a:off x="777240" y="26151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168" name="Google Shape;168;p22"/>
          <p:cNvSpPr txBox="1"/>
          <p:nvPr/>
        </p:nvSpPr>
        <p:spPr>
          <a:xfrm>
            <a:off x="777240" y="2834640"/>
            <a:ext cx="2188500" cy="381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u="none" cap="none" strike="noStrike">
                <a:solidFill>
                  <a:srgbClr val="1D1B24"/>
                </a:solidFill>
                <a:latin typeface="Inter"/>
                <a:ea typeface="Inter"/>
                <a:cs typeface="Inter"/>
                <a:sym typeface="Inter"/>
              </a:rPr>
              <a:t>Which hour was recorded first? Which last?</a:t>
            </a:r>
            <a:endParaRPr/>
          </a:p>
        </p:txBody>
      </p:sp>
      <p:sp>
        <p:nvSpPr>
          <p:cNvPr id="169" name="Google Shape;169;p22"/>
          <p:cNvSpPr/>
          <p:nvPr/>
        </p:nvSpPr>
        <p:spPr>
          <a:xfrm>
            <a:off x="722376" y="3401568"/>
            <a:ext cx="2298300" cy="9144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p22"/>
          <p:cNvSpPr txBox="1"/>
          <p:nvPr/>
        </p:nvSpPr>
        <p:spPr>
          <a:xfrm>
            <a:off x="868680" y="347472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u="none" cap="none" strike="noStrike">
                <a:solidFill>
                  <a:srgbClr val="E8A93A"/>
                </a:solidFill>
                <a:latin typeface="Inter"/>
                <a:ea typeface="Inter"/>
                <a:cs typeface="Inter"/>
                <a:sym typeface="Inter"/>
              </a:rPr>
              <a:t>THE TOOL</a:t>
            </a:r>
            <a:endParaRPr/>
          </a:p>
        </p:txBody>
      </p:sp>
      <p:sp>
        <p:nvSpPr>
          <p:cNvPr id="171" name="Google Shape;171;p22"/>
          <p:cNvSpPr txBox="1"/>
          <p:nvPr/>
        </p:nvSpPr>
        <p:spPr>
          <a:xfrm>
            <a:off x="868680" y="3694176"/>
            <a:ext cx="2060400" cy="511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pedestrians[0]</a:t>
            </a:r>
            <a:endParaRPr/>
          </a:p>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pedestrians[-1]</a:t>
            </a:r>
            <a:endParaRPr/>
          </a:p>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direction[0, 0]</a:t>
            </a:r>
            <a:endParaRPr/>
          </a:p>
        </p:txBody>
      </p:sp>
      <p:sp>
        <p:nvSpPr>
          <p:cNvPr id="172" name="Google Shape;172;p22"/>
          <p:cNvSpPr/>
          <p:nvPr/>
        </p:nvSpPr>
        <p:spPr>
          <a:xfrm>
            <a:off x="3313176" y="2487168"/>
            <a:ext cx="2517600" cy="19476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22"/>
          <p:cNvSpPr txBox="1"/>
          <p:nvPr/>
        </p:nvSpPr>
        <p:spPr>
          <a:xfrm>
            <a:off x="3477768" y="26151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174" name="Google Shape;174;p22"/>
          <p:cNvSpPr txBox="1"/>
          <p:nvPr/>
        </p:nvSpPr>
        <p:spPr>
          <a:xfrm>
            <a:off x="3477768" y="2834640"/>
            <a:ext cx="2188500" cy="381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u="none" cap="none" strike="noStrike">
                <a:solidFill>
                  <a:srgbClr val="1D1B24"/>
                </a:solidFill>
                <a:latin typeface="Inter"/>
                <a:ea typeface="Inter"/>
                <a:cs typeface="Inter"/>
                <a:sym typeface="Inter"/>
              </a:rPr>
              <a:t>Pull out one full day, or the same hour every day.</a:t>
            </a:r>
            <a:endParaRPr/>
          </a:p>
        </p:txBody>
      </p:sp>
      <p:sp>
        <p:nvSpPr>
          <p:cNvPr id="175" name="Google Shape;175;p22"/>
          <p:cNvSpPr/>
          <p:nvPr/>
        </p:nvSpPr>
        <p:spPr>
          <a:xfrm>
            <a:off x="3422904" y="3401568"/>
            <a:ext cx="2298300" cy="9144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22"/>
          <p:cNvSpPr txBox="1"/>
          <p:nvPr/>
        </p:nvSpPr>
        <p:spPr>
          <a:xfrm>
            <a:off x="3569208" y="347472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u="none" cap="none" strike="noStrike">
                <a:solidFill>
                  <a:srgbClr val="E8A93A"/>
                </a:solidFill>
                <a:latin typeface="Inter"/>
                <a:ea typeface="Inter"/>
                <a:cs typeface="Inter"/>
                <a:sym typeface="Inter"/>
              </a:rPr>
              <a:t>THE TOOL</a:t>
            </a:r>
            <a:endParaRPr/>
          </a:p>
        </p:txBody>
      </p:sp>
      <p:sp>
        <p:nvSpPr>
          <p:cNvPr id="177" name="Google Shape;177;p22"/>
          <p:cNvSpPr txBox="1"/>
          <p:nvPr/>
        </p:nvSpPr>
        <p:spPr>
          <a:xfrm>
            <a:off x="3569208" y="3694176"/>
            <a:ext cx="2060400" cy="511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a[:24]     # one day</a:t>
            </a:r>
            <a:endParaRPr/>
          </a:p>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a[::24]    # every 24th</a:t>
            </a:r>
            <a:endParaRPr/>
          </a:p>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a[::-1]    # newest first</a:t>
            </a:r>
            <a:endParaRPr/>
          </a:p>
        </p:txBody>
      </p:sp>
      <p:sp>
        <p:nvSpPr>
          <p:cNvPr id="178" name="Google Shape;178;p22"/>
          <p:cNvSpPr/>
          <p:nvPr/>
        </p:nvSpPr>
        <p:spPr>
          <a:xfrm>
            <a:off x="6013704" y="2487168"/>
            <a:ext cx="2517600" cy="19476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22"/>
          <p:cNvSpPr txBox="1"/>
          <p:nvPr/>
        </p:nvSpPr>
        <p:spPr>
          <a:xfrm>
            <a:off x="6178296" y="26151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180" name="Google Shape;180;p22"/>
          <p:cNvSpPr txBox="1"/>
          <p:nvPr/>
        </p:nvSpPr>
        <p:spPr>
          <a:xfrm>
            <a:off x="6178296" y="2834640"/>
            <a:ext cx="2188500" cy="381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u="none" cap="none" strike="noStrike">
                <a:solidFill>
                  <a:srgbClr val="1D1B24"/>
                </a:solidFill>
                <a:latin typeface="Inter"/>
                <a:ea typeface="Inter"/>
                <a:cs typeface="Inter"/>
                <a:sym typeface="Inter"/>
              </a:rPr>
              <a:t>Edit a slice. Does the original change?</a:t>
            </a:r>
            <a:endParaRPr/>
          </a:p>
        </p:txBody>
      </p:sp>
      <p:sp>
        <p:nvSpPr>
          <p:cNvPr id="181" name="Google Shape;181;p22"/>
          <p:cNvSpPr/>
          <p:nvPr/>
        </p:nvSpPr>
        <p:spPr>
          <a:xfrm>
            <a:off x="6123432" y="3401568"/>
            <a:ext cx="2298300" cy="9144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22"/>
          <p:cNvSpPr txBox="1"/>
          <p:nvPr/>
        </p:nvSpPr>
        <p:spPr>
          <a:xfrm>
            <a:off x="6269736" y="347472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u="none" cap="none" strike="noStrike">
                <a:solidFill>
                  <a:srgbClr val="E8A93A"/>
                </a:solidFill>
                <a:latin typeface="Inter"/>
                <a:ea typeface="Inter"/>
                <a:cs typeface="Inter"/>
                <a:sym typeface="Inter"/>
              </a:rPr>
              <a:t>THE TOOL</a:t>
            </a:r>
            <a:endParaRPr/>
          </a:p>
        </p:txBody>
      </p:sp>
      <p:sp>
        <p:nvSpPr>
          <p:cNvPr id="183" name="Google Shape;183;p22"/>
          <p:cNvSpPr txBox="1"/>
          <p:nvPr/>
        </p:nvSpPr>
        <p:spPr>
          <a:xfrm>
            <a:off x="6269736" y="3694176"/>
            <a:ext cx="2060400" cy="511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view = a[:5]</a:t>
            </a:r>
            <a:endParaRPr/>
          </a:p>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view[0] = -1  # a too?!</a:t>
            </a:r>
            <a:endParaRPr/>
          </a:p>
          <a:p>
            <a:pPr indent="0" lvl="0" marL="0" marR="0" rtl="0" algn="l">
              <a:lnSpc>
                <a:spcPct val="125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a[:5].</a:t>
            </a:r>
            <a:r>
              <a:rPr b="1" i="0" lang="en" sz="950" u="none" cap="none" strike="noStrike">
                <a:solidFill>
                  <a:srgbClr val="E8A93A"/>
                </a:solidFill>
                <a:latin typeface="Courier New"/>
                <a:ea typeface="Courier New"/>
                <a:cs typeface="Courier New"/>
                <a:sym typeface="Courier New"/>
              </a:rPr>
              <a:t>copy</a:t>
            </a:r>
            <a:r>
              <a:rPr b="0" i="0" lang="en" sz="950" u="none" cap="none" strike="noStrike">
                <a:solidFill>
                  <a:srgbClr val="F6F4EF"/>
                </a:solidFill>
                <a:latin typeface="Courier New"/>
                <a:ea typeface="Courier New"/>
                <a:cs typeface="Courier New"/>
                <a:sym typeface="Courier New"/>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FFCF"/>
            </a:gs>
            <a:gs pos="100000">
              <a:srgbClr val="D0F3FF"/>
            </a:gs>
          </a:gsLst>
          <a:path path="circle">
            <a:fillToRect b="0%" l="0%" r="100%" t="100%"/>
          </a:path>
          <a:tileRect b="-100%" l="-100%" r="0%" t="0%"/>
        </a:gradFill>
      </p:bgPr>
    </p:bg>
    <p:spTree>
      <p:nvGrpSpPr>
        <p:cNvPr id="187" name="Shape 187"/>
        <p:cNvGrpSpPr/>
        <p:nvPr/>
      </p:nvGrpSpPr>
      <p:grpSpPr>
        <a:xfrm>
          <a:off x="0" y="0"/>
          <a:ext cx="0" cy="0"/>
          <a:chOff x="0" y="0"/>
          <a:chExt cx="0" cy="0"/>
        </a:xfrm>
      </p:grpSpPr>
      <p:pic>
        <p:nvPicPr>
          <p:cNvPr descr="image.png" id="188" name="Google Shape;188;p23"/>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189" name="Google Shape;189;p23"/>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PART 1 · NUMPY · RESHAPING &amp; AXES</a:t>
            </a:r>
            <a:endParaRPr/>
          </a:p>
        </p:txBody>
      </p:sp>
      <p:sp>
        <p:nvSpPr>
          <p:cNvPr id="190" name="Google Shape;190;p23"/>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2700" u="none" cap="none" strike="noStrike">
                <a:solidFill>
                  <a:srgbClr val="1D1B24"/>
                </a:solidFill>
                <a:latin typeface="Space Grotesk"/>
                <a:ea typeface="Space Grotesk"/>
                <a:cs typeface="Space Grotesk"/>
                <a:sym typeface="Space Grotesk"/>
              </a:rPr>
              <a:t>Turn hours into days</a:t>
            </a:r>
            <a:endParaRPr/>
          </a:p>
        </p:txBody>
      </p:sp>
      <p:sp>
        <p:nvSpPr>
          <p:cNvPr id="191" name="Google Shape;191;p23"/>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u="none" cap="none" strike="noStrike">
                <a:solidFill>
                  <a:srgbClr val="625D6E"/>
                </a:solidFill>
                <a:latin typeface="Inter"/>
                <a:ea typeface="Inter"/>
                <a:cs typeface="Inter"/>
                <a:sym typeface="Inter"/>
              </a:rPr>
              <a:t>Data Science Bootcamp · Fall 2026</a:t>
            </a:r>
            <a:endParaRPr/>
          </a:p>
        </p:txBody>
      </p:sp>
      <p:sp>
        <p:nvSpPr>
          <p:cNvPr id="192" name="Google Shape;192;p23"/>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fld id="{00000000-1234-1234-1234-123412341234}" type="slidenum">
              <a:rPr b="0" i="0" lang="en" sz="900" u="none" cap="none" strike="noStrike">
                <a:solidFill>
                  <a:srgbClr val="625D6E"/>
                </a:solidFill>
                <a:latin typeface="Inter"/>
                <a:ea typeface="Inter"/>
                <a:cs typeface="Inter"/>
                <a:sym typeface="Inter"/>
              </a:rPr>
              <a:t>‹#›</a:t>
            </a:fld>
            <a:endParaRPr/>
          </a:p>
        </p:txBody>
      </p:sp>
      <p:sp>
        <p:nvSpPr>
          <p:cNvPr id="193" name="Google Shape;193;p23"/>
          <p:cNvSpPr/>
          <p:nvPr/>
        </p:nvSpPr>
        <p:spPr>
          <a:xfrm>
            <a:off x="61264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p23"/>
          <p:cNvSpPr txBox="1"/>
          <p:nvPr/>
        </p:nvSpPr>
        <p:spPr>
          <a:xfrm>
            <a:off x="61264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1D1B24"/>
                </a:solidFill>
                <a:latin typeface="Courier New"/>
                <a:ea typeface="Courier New"/>
                <a:cs typeface="Courier New"/>
                <a:sym typeface="Courier New"/>
              </a:rPr>
              <a:t>44</a:t>
            </a:r>
            <a:endParaRPr/>
          </a:p>
        </p:txBody>
      </p:sp>
      <p:sp>
        <p:nvSpPr>
          <p:cNvPr id="195" name="Google Shape;195;p23"/>
          <p:cNvSpPr/>
          <p:nvPr/>
        </p:nvSpPr>
        <p:spPr>
          <a:xfrm>
            <a:off x="111556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23"/>
          <p:cNvSpPr txBox="1"/>
          <p:nvPr/>
        </p:nvSpPr>
        <p:spPr>
          <a:xfrm>
            <a:off x="111556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1D1B24"/>
                </a:solidFill>
                <a:latin typeface="Courier New"/>
                <a:ea typeface="Courier New"/>
                <a:cs typeface="Courier New"/>
                <a:sym typeface="Courier New"/>
              </a:rPr>
              <a:t>30</a:t>
            </a:r>
            <a:endParaRPr/>
          </a:p>
        </p:txBody>
      </p:sp>
      <p:sp>
        <p:nvSpPr>
          <p:cNvPr id="197" name="Google Shape;197;p23"/>
          <p:cNvSpPr/>
          <p:nvPr/>
        </p:nvSpPr>
        <p:spPr>
          <a:xfrm>
            <a:off x="161848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23"/>
          <p:cNvSpPr txBox="1"/>
          <p:nvPr/>
        </p:nvSpPr>
        <p:spPr>
          <a:xfrm>
            <a:off x="161848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1D1B24"/>
                </a:solidFill>
                <a:latin typeface="Courier New"/>
                <a:ea typeface="Courier New"/>
                <a:cs typeface="Courier New"/>
                <a:sym typeface="Courier New"/>
              </a:rPr>
              <a:t>25</a:t>
            </a:r>
            <a:endParaRPr/>
          </a:p>
        </p:txBody>
      </p:sp>
      <p:sp>
        <p:nvSpPr>
          <p:cNvPr id="199" name="Google Shape;199;p23"/>
          <p:cNvSpPr/>
          <p:nvPr/>
        </p:nvSpPr>
        <p:spPr>
          <a:xfrm>
            <a:off x="212140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23"/>
          <p:cNvSpPr txBox="1"/>
          <p:nvPr/>
        </p:nvSpPr>
        <p:spPr>
          <a:xfrm>
            <a:off x="212140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1D1B24"/>
                </a:solidFill>
                <a:latin typeface="Courier New"/>
                <a:ea typeface="Courier New"/>
                <a:cs typeface="Courier New"/>
                <a:sym typeface="Courier New"/>
              </a:rPr>
              <a:t>20</a:t>
            </a:r>
            <a:endParaRPr/>
          </a:p>
        </p:txBody>
      </p:sp>
      <p:sp>
        <p:nvSpPr>
          <p:cNvPr id="201" name="Google Shape;201;p23"/>
          <p:cNvSpPr/>
          <p:nvPr/>
        </p:nvSpPr>
        <p:spPr>
          <a:xfrm>
            <a:off x="262432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2" name="Google Shape;202;p23"/>
          <p:cNvSpPr txBox="1"/>
          <p:nvPr/>
        </p:nvSpPr>
        <p:spPr>
          <a:xfrm>
            <a:off x="262432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1D1B24"/>
                </a:solidFill>
                <a:latin typeface="Courier New"/>
                <a:ea typeface="Courier New"/>
                <a:cs typeface="Courier New"/>
                <a:sym typeface="Courier New"/>
              </a:rPr>
              <a:t>18</a:t>
            </a:r>
            <a:endParaRPr/>
          </a:p>
        </p:txBody>
      </p:sp>
      <p:sp>
        <p:nvSpPr>
          <p:cNvPr id="203" name="Google Shape;203;p23"/>
          <p:cNvSpPr/>
          <p:nvPr/>
        </p:nvSpPr>
        <p:spPr>
          <a:xfrm>
            <a:off x="312724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23"/>
          <p:cNvSpPr txBox="1"/>
          <p:nvPr/>
        </p:nvSpPr>
        <p:spPr>
          <a:xfrm>
            <a:off x="312724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 sz="900" u="none" cap="none" strike="noStrike">
                <a:solidFill>
                  <a:srgbClr val="1D1B24"/>
                </a:solidFill>
                <a:latin typeface="Courier New"/>
                <a:ea typeface="Courier New"/>
                <a:cs typeface="Courier New"/>
                <a:sym typeface="Courier New"/>
              </a:rPr>
              <a:t>…</a:t>
            </a:r>
            <a:endParaRPr/>
          </a:p>
        </p:txBody>
      </p:sp>
      <p:sp>
        <p:nvSpPr>
          <p:cNvPr id="205" name="Google Shape;205;p23"/>
          <p:cNvSpPr txBox="1"/>
          <p:nvPr/>
        </p:nvSpPr>
        <p:spPr>
          <a:xfrm>
            <a:off x="612648" y="1737360"/>
            <a:ext cx="31089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50" u="none" cap="none" strike="noStrike">
                <a:solidFill>
                  <a:srgbClr val="625D6E"/>
                </a:solidFill>
                <a:latin typeface="Inter"/>
                <a:ea typeface="Inter"/>
                <a:cs typeface="Inter"/>
                <a:sym typeface="Inter"/>
              </a:rPr>
              <a:t>7,296 hourly counts in one row</a:t>
            </a:r>
            <a:endParaRPr/>
          </a:p>
        </p:txBody>
      </p:sp>
      <p:sp>
        <p:nvSpPr>
          <p:cNvPr id="206" name="Google Shape;206;p23"/>
          <p:cNvSpPr/>
          <p:nvPr/>
        </p:nvSpPr>
        <p:spPr>
          <a:xfrm>
            <a:off x="704088" y="1965960"/>
            <a:ext cx="183000" cy="237600"/>
          </a:xfrm>
          <a:prstGeom prst="down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p23"/>
          <p:cNvSpPr txBox="1"/>
          <p:nvPr/>
        </p:nvSpPr>
        <p:spPr>
          <a:xfrm>
            <a:off x="996696" y="1984248"/>
            <a:ext cx="27432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rgbClr val="351C75"/>
                </a:solidFill>
                <a:latin typeface="Courier New"/>
                <a:ea typeface="Courier New"/>
                <a:cs typeface="Courier New"/>
                <a:sym typeface="Courier New"/>
              </a:rPr>
              <a:t>reshape((304, 24))</a:t>
            </a:r>
            <a:endParaRPr/>
          </a:p>
        </p:txBody>
      </p:sp>
      <p:sp>
        <p:nvSpPr>
          <p:cNvPr id="208" name="Google Shape;208;p23"/>
          <p:cNvSpPr txBox="1"/>
          <p:nvPr/>
        </p:nvSpPr>
        <p:spPr>
          <a:xfrm>
            <a:off x="886968" y="2304288"/>
            <a:ext cx="17373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50" u="none" cap="none" strike="noStrike">
                <a:solidFill>
                  <a:srgbClr val="625D6E"/>
                </a:solidFill>
                <a:latin typeface="Inter"/>
                <a:ea typeface="Inter"/>
                <a:cs typeface="Inter"/>
                <a:sym typeface="Inter"/>
              </a:rPr>
              <a:t>24 hours →</a:t>
            </a:r>
            <a:endParaRPr/>
          </a:p>
        </p:txBody>
      </p:sp>
      <p:sp>
        <p:nvSpPr>
          <p:cNvPr id="209" name="Google Shape;209;p23"/>
          <p:cNvSpPr/>
          <p:nvPr/>
        </p:nvSpPr>
        <p:spPr>
          <a:xfrm>
            <a:off x="886968" y="2523744"/>
            <a:ext cx="274200" cy="237600"/>
          </a:xfrm>
          <a:prstGeom prst="roundRect">
            <a:avLst>
              <a:gd fmla="val 15000" name="adj"/>
            </a:avLst>
          </a:prstGeom>
          <a:solidFill>
            <a:srgbClr val="F1E9F8"/>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23"/>
          <p:cNvSpPr/>
          <p:nvPr/>
        </p:nvSpPr>
        <p:spPr>
          <a:xfrm>
            <a:off x="1197864" y="2523744"/>
            <a:ext cx="274200" cy="237600"/>
          </a:xfrm>
          <a:prstGeom prst="roundRect">
            <a:avLst>
              <a:gd fmla="val 15000" name="adj"/>
            </a:avLst>
          </a:prstGeom>
          <a:solidFill>
            <a:srgbClr val="F1E9F8"/>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23"/>
          <p:cNvSpPr/>
          <p:nvPr/>
        </p:nvSpPr>
        <p:spPr>
          <a:xfrm>
            <a:off x="1508760" y="2523744"/>
            <a:ext cx="274200" cy="237600"/>
          </a:xfrm>
          <a:prstGeom prst="roundRect">
            <a:avLst>
              <a:gd fmla="val 15000" name="adj"/>
            </a:avLst>
          </a:prstGeom>
          <a:solidFill>
            <a:srgbClr val="F1E9F8"/>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23"/>
          <p:cNvSpPr/>
          <p:nvPr/>
        </p:nvSpPr>
        <p:spPr>
          <a:xfrm>
            <a:off x="1819656" y="2523744"/>
            <a:ext cx="274200" cy="237600"/>
          </a:xfrm>
          <a:prstGeom prst="roundRect">
            <a:avLst>
              <a:gd fmla="val 15000" name="adj"/>
            </a:avLst>
          </a:prstGeom>
          <a:solidFill>
            <a:srgbClr val="F1E9F8"/>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23"/>
          <p:cNvSpPr/>
          <p:nvPr/>
        </p:nvSpPr>
        <p:spPr>
          <a:xfrm>
            <a:off x="2130552" y="2523744"/>
            <a:ext cx="274200" cy="237600"/>
          </a:xfrm>
          <a:prstGeom prst="roundRect">
            <a:avLst>
              <a:gd fmla="val 15000" name="adj"/>
            </a:avLst>
          </a:prstGeom>
          <a:solidFill>
            <a:srgbClr val="F1E9F8"/>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23"/>
          <p:cNvSpPr/>
          <p:nvPr/>
        </p:nvSpPr>
        <p:spPr>
          <a:xfrm>
            <a:off x="2441448" y="2523744"/>
            <a:ext cx="274200" cy="237600"/>
          </a:xfrm>
          <a:prstGeom prst="roundRect">
            <a:avLst>
              <a:gd fmla="val 15000" name="adj"/>
            </a:avLst>
          </a:prstGeom>
          <a:solidFill>
            <a:srgbClr val="F1E9F8"/>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23"/>
          <p:cNvSpPr/>
          <p:nvPr/>
        </p:nvSpPr>
        <p:spPr>
          <a:xfrm>
            <a:off x="886968"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p23"/>
          <p:cNvSpPr/>
          <p:nvPr/>
        </p:nvSpPr>
        <p:spPr>
          <a:xfrm>
            <a:off x="1197864"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23"/>
          <p:cNvSpPr/>
          <p:nvPr/>
        </p:nvSpPr>
        <p:spPr>
          <a:xfrm>
            <a:off x="1508760"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23"/>
          <p:cNvSpPr/>
          <p:nvPr/>
        </p:nvSpPr>
        <p:spPr>
          <a:xfrm>
            <a:off x="1819656"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23"/>
          <p:cNvSpPr/>
          <p:nvPr/>
        </p:nvSpPr>
        <p:spPr>
          <a:xfrm>
            <a:off x="2130552"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 name="Google Shape;220;p23"/>
          <p:cNvSpPr/>
          <p:nvPr/>
        </p:nvSpPr>
        <p:spPr>
          <a:xfrm>
            <a:off x="2441448"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23"/>
          <p:cNvSpPr/>
          <p:nvPr/>
        </p:nvSpPr>
        <p:spPr>
          <a:xfrm>
            <a:off x="886968"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23"/>
          <p:cNvSpPr/>
          <p:nvPr/>
        </p:nvSpPr>
        <p:spPr>
          <a:xfrm>
            <a:off x="1197864"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23"/>
          <p:cNvSpPr/>
          <p:nvPr/>
        </p:nvSpPr>
        <p:spPr>
          <a:xfrm>
            <a:off x="1508760"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23"/>
          <p:cNvSpPr/>
          <p:nvPr/>
        </p:nvSpPr>
        <p:spPr>
          <a:xfrm>
            <a:off x="1819656"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23"/>
          <p:cNvSpPr/>
          <p:nvPr/>
        </p:nvSpPr>
        <p:spPr>
          <a:xfrm>
            <a:off x="2130552"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23"/>
          <p:cNvSpPr/>
          <p:nvPr/>
        </p:nvSpPr>
        <p:spPr>
          <a:xfrm>
            <a:off x="2441448"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23"/>
          <p:cNvSpPr/>
          <p:nvPr/>
        </p:nvSpPr>
        <p:spPr>
          <a:xfrm>
            <a:off x="886968"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 name="Google Shape;228;p23"/>
          <p:cNvSpPr/>
          <p:nvPr/>
        </p:nvSpPr>
        <p:spPr>
          <a:xfrm>
            <a:off x="1197864"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23"/>
          <p:cNvSpPr/>
          <p:nvPr/>
        </p:nvSpPr>
        <p:spPr>
          <a:xfrm>
            <a:off x="1508760"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0" name="Google Shape;230;p23"/>
          <p:cNvSpPr/>
          <p:nvPr/>
        </p:nvSpPr>
        <p:spPr>
          <a:xfrm>
            <a:off x="1819656"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23"/>
          <p:cNvSpPr/>
          <p:nvPr/>
        </p:nvSpPr>
        <p:spPr>
          <a:xfrm>
            <a:off x="2130552"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p23"/>
          <p:cNvSpPr/>
          <p:nvPr/>
        </p:nvSpPr>
        <p:spPr>
          <a:xfrm>
            <a:off x="2441448"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23"/>
          <p:cNvSpPr/>
          <p:nvPr/>
        </p:nvSpPr>
        <p:spPr>
          <a:xfrm>
            <a:off x="886968" y="362102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4" name="Google Shape;234;p23"/>
          <p:cNvSpPr/>
          <p:nvPr/>
        </p:nvSpPr>
        <p:spPr>
          <a:xfrm>
            <a:off x="1197864" y="362102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23"/>
          <p:cNvSpPr/>
          <p:nvPr/>
        </p:nvSpPr>
        <p:spPr>
          <a:xfrm>
            <a:off x="1508760" y="362102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p23"/>
          <p:cNvSpPr/>
          <p:nvPr/>
        </p:nvSpPr>
        <p:spPr>
          <a:xfrm>
            <a:off x="1819656" y="362102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23"/>
          <p:cNvSpPr/>
          <p:nvPr/>
        </p:nvSpPr>
        <p:spPr>
          <a:xfrm>
            <a:off x="2130552" y="362102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23"/>
          <p:cNvSpPr/>
          <p:nvPr/>
        </p:nvSpPr>
        <p:spPr>
          <a:xfrm>
            <a:off x="2441448" y="362102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23"/>
          <p:cNvSpPr txBox="1"/>
          <p:nvPr/>
        </p:nvSpPr>
        <p:spPr>
          <a:xfrm>
            <a:off x="886968" y="3922776"/>
            <a:ext cx="18288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50" u="none" cap="none" strike="noStrike">
                <a:solidFill>
                  <a:srgbClr val="625D6E"/>
                </a:solidFill>
                <a:latin typeface="Inter"/>
                <a:ea typeface="Inter"/>
                <a:cs typeface="Inter"/>
                <a:sym typeface="Inter"/>
              </a:rPr>
              <a:t>304 days ↓</a:t>
            </a:r>
            <a:endParaRPr/>
          </a:p>
        </p:txBody>
      </p:sp>
      <p:sp>
        <p:nvSpPr>
          <p:cNvPr id="240" name="Google Shape;240;p23"/>
          <p:cNvSpPr/>
          <p:nvPr/>
        </p:nvSpPr>
        <p:spPr>
          <a:xfrm>
            <a:off x="2944368" y="2523744"/>
            <a:ext cx="1920300" cy="676800"/>
          </a:xfrm>
          <a:prstGeom prst="roundRect">
            <a:avLst>
              <a:gd fmla="val 14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23"/>
          <p:cNvSpPr txBox="1"/>
          <p:nvPr/>
        </p:nvSpPr>
        <p:spPr>
          <a:xfrm>
            <a:off x="3108960" y="2596896"/>
            <a:ext cx="16002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rgbClr val="E8A93A"/>
                </a:solidFill>
                <a:latin typeface="Courier New"/>
                <a:ea typeface="Courier New"/>
                <a:cs typeface="Courier New"/>
                <a:sym typeface="Courier New"/>
              </a:rPr>
              <a:t>axis=0</a:t>
            </a:r>
            <a:endParaRPr/>
          </a:p>
        </p:txBody>
      </p:sp>
      <p:sp>
        <p:nvSpPr>
          <p:cNvPr id="242" name="Google Shape;242;p23"/>
          <p:cNvSpPr txBox="1"/>
          <p:nvPr/>
        </p:nvSpPr>
        <p:spPr>
          <a:xfrm>
            <a:off x="3108960" y="2807208"/>
            <a:ext cx="1600200" cy="32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F6F4EF"/>
                </a:solidFill>
                <a:latin typeface="Inter"/>
                <a:ea typeface="Inter"/>
                <a:cs typeface="Inter"/>
                <a:sym typeface="Inter"/>
              </a:rPr>
              <a:t>collapse the days: one typical day</a:t>
            </a:r>
            <a:endParaRPr/>
          </a:p>
        </p:txBody>
      </p:sp>
      <p:sp>
        <p:nvSpPr>
          <p:cNvPr id="243" name="Google Shape;243;p23"/>
          <p:cNvSpPr/>
          <p:nvPr/>
        </p:nvSpPr>
        <p:spPr>
          <a:xfrm>
            <a:off x="2944368" y="3310127"/>
            <a:ext cx="1920300" cy="676800"/>
          </a:xfrm>
          <a:prstGeom prst="roundRect">
            <a:avLst>
              <a:gd fmla="val 14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23"/>
          <p:cNvSpPr txBox="1"/>
          <p:nvPr/>
        </p:nvSpPr>
        <p:spPr>
          <a:xfrm>
            <a:off x="3108960" y="3383279"/>
            <a:ext cx="16002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rgbClr val="E8A93A"/>
                </a:solidFill>
                <a:latin typeface="Courier New"/>
                <a:ea typeface="Courier New"/>
                <a:cs typeface="Courier New"/>
                <a:sym typeface="Courier New"/>
              </a:rPr>
              <a:t>axis=1</a:t>
            </a:r>
            <a:endParaRPr/>
          </a:p>
        </p:txBody>
      </p:sp>
      <p:sp>
        <p:nvSpPr>
          <p:cNvPr id="245" name="Google Shape;245;p23"/>
          <p:cNvSpPr txBox="1"/>
          <p:nvPr/>
        </p:nvSpPr>
        <p:spPr>
          <a:xfrm>
            <a:off x="3108960" y="3593591"/>
            <a:ext cx="1600200" cy="32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F6F4EF"/>
                </a:solidFill>
                <a:latin typeface="Inter"/>
                <a:ea typeface="Inter"/>
                <a:cs typeface="Inter"/>
                <a:sym typeface="Inter"/>
              </a:rPr>
              <a:t>collapse the hours: one total per day</a:t>
            </a:r>
            <a:endParaRPr/>
          </a:p>
        </p:txBody>
      </p:sp>
      <p:sp>
        <p:nvSpPr>
          <p:cNvPr id="246" name="Google Shape;246;p23"/>
          <p:cNvSpPr/>
          <p:nvPr/>
        </p:nvSpPr>
        <p:spPr>
          <a:xfrm>
            <a:off x="5047500" y="1298450"/>
            <a:ext cx="3483900" cy="1368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7" name="Google Shape;247;p23"/>
          <p:cNvSpPr txBox="1"/>
          <p:nvPr/>
        </p:nvSpPr>
        <p:spPr>
          <a:xfrm>
            <a:off x="5230368" y="1453895"/>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248" name="Google Shape;248;p23"/>
          <p:cNvSpPr txBox="1"/>
          <p:nvPr/>
        </p:nvSpPr>
        <p:spPr>
          <a:xfrm>
            <a:off x="5230368" y="1691639"/>
            <a:ext cx="3118200" cy="46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 sz="1400" u="none" cap="none" strike="noStrike">
                <a:solidFill>
                  <a:srgbClr val="351C75"/>
                </a:solidFill>
                <a:latin typeface="Space Grotesk"/>
                <a:ea typeface="Space Grotesk"/>
                <a:cs typeface="Space Grotesk"/>
                <a:sym typeface="Space Grotesk"/>
              </a:rPr>
              <a:t>Which hours are busiest on a typical day?</a:t>
            </a:r>
            <a:endParaRPr/>
          </a:p>
        </p:txBody>
      </p:sp>
      <p:sp>
        <p:nvSpPr>
          <p:cNvPr id="249" name="Google Shape;249;p23"/>
          <p:cNvSpPr txBox="1"/>
          <p:nvPr/>
        </p:nvSpPr>
        <p:spPr>
          <a:xfrm>
            <a:off x="5230368" y="2172516"/>
            <a:ext cx="3118200" cy="37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50" u="none" cap="none" strike="noStrike">
                <a:solidFill>
                  <a:srgbClr val="1D1B24"/>
                </a:solidFill>
                <a:latin typeface="Inter"/>
                <a:ea typeface="Inter"/>
                <a:cs typeface="Inter"/>
                <a:sym typeface="Inter"/>
              </a:rPr>
              <a:t>One row per day, one column per hour.</a:t>
            </a:r>
            <a:endParaRPr b="0" i="0" sz="1050" u="none" cap="none" strike="noStrike">
              <a:solidFill>
                <a:srgbClr val="1D1B24"/>
              </a:solidFill>
              <a:latin typeface="Inter"/>
              <a:ea typeface="Inter"/>
              <a:cs typeface="Inter"/>
              <a:sym typeface="Inter"/>
            </a:endParaRPr>
          </a:p>
          <a:p>
            <a:pPr indent="0" lvl="0" marL="0" marR="0" rtl="0" algn="l">
              <a:lnSpc>
                <a:spcPct val="130000"/>
              </a:lnSpc>
              <a:spcBef>
                <a:spcPts val="0"/>
              </a:spcBef>
              <a:spcAft>
                <a:spcPts val="0"/>
              </a:spcAft>
              <a:buNone/>
            </a:pPr>
            <a:r>
              <a:rPr lang="en" sz="1050">
                <a:solidFill>
                  <a:srgbClr val="1D1B24"/>
                </a:solidFill>
                <a:latin typeface="Inter"/>
                <a:ea typeface="Inter"/>
                <a:cs typeface="Inter"/>
                <a:sym typeface="Inter"/>
              </a:rPr>
              <a:t>Encoding columns and rows with positional info!</a:t>
            </a:r>
            <a:endParaRPr sz="1050">
              <a:solidFill>
                <a:srgbClr val="1D1B24"/>
              </a:solidFill>
              <a:latin typeface="Inter"/>
              <a:ea typeface="Inter"/>
              <a:cs typeface="Inter"/>
              <a:sym typeface="Inter"/>
            </a:endParaRPr>
          </a:p>
        </p:txBody>
      </p:sp>
      <p:sp>
        <p:nvSpPr>
          <p:cNvPr id="250" name="Google Shape;250;p23"/>
          <p:cNvSpPr/>
          <p:nvPr/>
        </p:nvSpPr>
        <p:spPr>
          <a:xfrm>
            <a:off x="5047513" y="2935261"/>
            <a:ext cx="3483900" cy="14997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1" name="Google Shape;251;p23"/>
          <p:cNvSpPr txBox="1"/>
          <p:nvPr/>
        </p:nvSpPr>
        <p:spPr>
          <a:xfrm>
            <a:off x="5230368" y="306450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E8A93A"/>
                </a:solidFill>
                <a:latin typeface="Inter"/>
                <a:ea typeface="Inter"/>
                <a:cs typeface="Inter"/>
                <a:sym typeface="Inter"/>
              </a:rPr>
              <a:t>THE TOOL</a:t>
            </a:r>
            <a:endParaRPr/>
          </a:p>
        </p:txBody>
      </p:sp>
      <p:sp>
        <p:nvSpPr>
          <p:cNvPr id="252" name="Google Shape;252;p23"/>
          <p:cNvSpPr txBox="1"/>
          <p:nvPr/>
        </p:nvSpPr>
        <p:spPr>
          <a:xfrm>
            <a:off x="5230368" y="3329685"/>
            <a:ext cx="3118200" cy="95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grid = ped.</a:t>
            </a:r>
            <a:r>
              <a:rPr b="1" i="0" lang="en" sz="1000" u="none" cap="none" strike="noStrike">
                <a:solidFill>
                  <a:srgbClr val="E8A93A"/>
                </a:solidFill>
                <a:latin typeface="Courier New"/>
                <a:ea typeface="Courier New"/>
                <a:cs typeface="Courier New"/>
                <a:sym typeface="Courier New"/>
              </a:rPr>
              <a:t>reshape</a:t>
            </a:r>
            <a:r>
              <a:rPr b="0" i="0" lang="en" sz="1000" u="none" cap="none" strike="noStrike">
                <a:solidFill>
                  <a:srgbClr val="F6F4EF"/>
                </a:solidFill>
                <a:latin typeface="Courier New"/>
                <a:ea typeface="Courier New"/>
                <a:cs typeface="Courier New"/>
                <a:sym typeface="Courier New"/>
              </a:rPr>
              <a:t>((304, 24))</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grid.</a:t>
            </a:r>
            <a:r>
              <a:rPr b="1" i="0" lang="en" sz="1000" u="none" cap="none" strike="noStrike">
                <a:solidFill>
                  <a:srgbClr val="E8A93A"/>
                </a:solidFill>
                <a:latin typeface="Courier New"/>
                <a:ea typeface="Courier New"/>
                <a:cs typeface="Courier New"/>
                <a:sym typeface="Courier New"/>
              </a:rPr>
              <a:t>mean</a:t>
            </a:r>
            <a:r>
              <a:rPr b="0" i="0" lang="en" sz="1000" u="none" cap="none" strike="noStrike">
                <a:solidFill>
                  <a:srgbClr val="F6F4EF"/>
                </a:solidFill>
                <a:latin typeface="Courier New"/>
                <a:ea typeface="Courier New"/>
                <a:cs typeface="Courier New"/>
                <a:sym typeface="Courier New"/>
              </a:rPr>
              <a:t>(axis=0)</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grid.</a:t>
            </a:r>
            <a:r>
              <a:rPr b="1" i="0" lang="en" sz="1000" u="none" cap="none" strike="noStrike">
                <a:solidFill>
                  <a:srgbClr val="E8A93A"/>
                </a:solidFill>
                <a:latin typeface="Courier New"/>
                <a:ea typeface="Courier New"/>
                <a:cs typeface="Courier New"/>
                <a:sym typeface="Courier New"/>
              </a:rPr>
              <a:t>sum</a:t>
            </a:r>
            <a:r>
              <a:rPr b="0" i="0" lang="en" sz="1000" u="none" cap="none" strike="noStrike">
                <a:solidFill>
                  <a:srgbClr val="F6F4EF"/>
                </a:solidFill>
                <a:latin typeface="Courier New"/>
                <a:ea typeface="Courier New"/>
                <a:cs typeface="Courier New"/>
                <a:sym typeface="Courier New"/>
              </a:rPr>
              <a:t>(axis=1)</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typical_day[np.</a:t>
            </a:r>
            <a:r>
              <a:rPr b="1" i="0" lang="en" sz="1000" u="none" cap="none" strike="noStrike">
                <a:solidFill>
                  <a:srgbClr val="E8A93A"/>
                </a:solidFill>
                <a:latin typeface="Courier New"/>
                <a:ea typeface="Courier New"/>
                <a:cs typeface="Courier New"/>
                <a:sym typeface="Courier New"/>
              </a:rPr>
              <a:t>newaxis</a:t>
            </a:r>
            <a:r>
              <a:rPr b="0" i="0" lang="en" sz="1000" u="none" cap="none" strike="noStrike">
                <a:solidFill>
                  <a:srgbClr val="F6F4EF"/>
                </a:solidFill>
                <a:latin typeface="Courier New"/>
                <a:ea typeface="Courier New"/>
                <a:cs typeface="Courier New"/>
                <a:sym typeface="Courier New"/>
              </a:rPr>
              <a:t>, :]</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np.</a:t>
            </a:r>
            <a:r>
              <a:rPr b="1" i="0" lang="en" sz="1000" u="none" cap="none" strike="noStrike">
                <a:solidFill>
                  <a:srgbClr val="E8A93A"/>
                </a:solidFill>
                <a:latin typeface="Courier New"/>
                <a:ea typeface="Courier New"/>
                <a:cs typeface="Courier New"/>
                <a:sym typeface="Courier New"/>
              </a:rPr>
              <a:t>where</a:t>
            </a:r>
            <a:r>
              <a:rPr b="0" i="0" lang="en" sz="1000" u="none" cap="none" strike="noStrike">
                <a:solidFill>
                  <a:srgbClr val="F6F4EF"/>
                </a:solidFill>
                <a:latin typeface="Courier New"/>
                <a:ea typeface="Courier New"/>
                <a:cs typeface="Courier New"/>
                <a:sym typeface="Courier New"/>
              </a:rPr>
              <a:t>(cond, "busy", "quieter")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FFCF"/>
            </a:gs>
            <a:gs pos="100000">
              <a:srgbClr val="D0F3FF"/>
            </a:gs>
          </a:gsLst>
          <a:path path="circle">
            <a:fillToRect b="0%" l="0%" r="100%" t="100%"/>
          </a:path>
          <a:tileRect b="-100%" l="-100%" r="0%" t="0%"/>
        </a:gradFill>
      </p:bgPr>
    </p:bg>
    <p:spTree>
      <p:nvGrpSpPr>
        <p:cNvPr id="256" name="Shape 256"/>
        <p:cNvGrpSpPr/>
        <p:nvPr/>
      </p:nvGrpSpPr>
      <p:grpSpPr>
        <a:xfrm>
          <a:off x="0" y="0"/>
          <a:ext cx="0" cy="0"/>
          <a:chOff x="0" y="0"/>
          <a:chExt cx="0" cy="0"/>
        </a:xfrm>
      </p:grpSpPr>
      <p:pic>
        <p:nvPicPr>
          <p:cNvPr descr="image.png" id="257" name="Google Shape;257;p24"/>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258" name="Google Shape;258;p24"/>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PART 2 · PANDAS · THE TABLE</a:t>
            </a:r>
            <a:endParaRPr/>
          </a:p>
        </p:txBody>
      </p:sp>
      <p:sp>
        <p:nvSpPr>
          <p:cNvPr id="259" name="Google Shape;259;p24"/>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2700" u="none" cap="none" strike="noStrike">
                <a:solidFill>
                  <a:srgbClr val="1D1B24"/>
                </a:solidFill>
                <a:latin typeface="Space Grotesk"/>
                <a:ea typeface="Space Grotesk"/>
                <a:cs typeface="Space Grotesk"/>
                <a:sym typeface="Space Grotesk"/>
              </a:rPr>
              <a:t>Meet the table</a:t>
            </a:r>
            <a:endParaRPr/>
          </a:p>
        </p:txBody>
      </p:sp>
      <p:sp>
        <p:nvSpPr>
          <p:cNvPr id="260" name="Google Shape;260;p24"/>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u="none" cap="none" strike="noStrike">
                <a:solidFill>
                  <a:srgbClr val="625D6E"/>
                </a:solidFill>
                <a:latin typeface="Inter"/>
                <a:ea typeface="Inter"/>
                <a:cs typeface="Inter"/>
                <a:sym typeface="Inter"/>
              </a:rPr>
              <a:t>Data Science Bootcamp · Fall 2026</a:t>
            </a:r>
            <a:endParaRPr/>
          </a:p>
        </p:txBody>
      </p:sp>
      <p:sp>
        <p:nvSpPr>
          <p:cNvPr id="261" name="Google Shape;261;p24"/>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fld id="{00000000-1234-1234-1234-123412341234}" type="slidenum">
              <a:rPr b="0" i="0" lang="en" sz="900" u="none" cap="none" strike="noStrike">
                <a:solidFill>
                  <a:srgbClr val="625D6E"/>
                </a:solidFill>
                <a:latin typeface="Inter"/>
                <a:ea typeface="Inter"/>
                <a:cs typeface="Inter"/>
                <a:sym typeface="Inter"/>
              </a:rPr>
              <a:t>‹#›</a:t>
            </a:fld>
            <a:endParaRPr/>
          </a:p>
        </p:txBody>
      </p:sp>
      <p:sp>
        <p:nvSpPr>
          <p:cNvPr id="262" name="Google Shape;262;p24"/>
          <p:cNvSpPr txBox="1"/>
          <p:nvPr/>
        </p:nvSpPr>
        <p:spPr>
          <a:xfrm>
            <a:off x="630936" y="12435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263" name="Google Shape;263;p24"/>
          <p:cNvSpPr txBox="1"/>
          <p:nvPr/>
        </p:nvSpPr>
        <p:spPr>
          <a:xfrm>
            <a:off x="4700016" y="12435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351C75"/>
                </a:solidFill>
                <a:latin typeface="Inter"/>
                <a:ea typeface="Inter"/>
                <a:cs typeface="Inter"/>
                <a:sym typeface="Inter"/>
              </a:rPr>
              <a:t>THE TOOL</a:t>
            </a:r>
            <a:endParaRPr/>
          </a:p>
        </p:txBody>
      </p:sp>
      <p:sp>
        <p:nvSpPr>
          <p:cNvPr id="264" name="Google Shape;264;p24"/>
          <p:cNvSpPr/>
          <p:nvPr/>
        </p:nvSpPr>
        <p:spPr>
          <a:xfrm>
            <a:off x="612648" y="1481328"/>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24"/>
          <p:cNvSpPr txBox="1"/>
          <p:nvPr/>
        </p:nvSpPr>
        <p:spPr>
          <a:xfrm>
            <a:off x="777215" y="1636778"/>
            <a:ext cx="3282600" cy="1692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 sz="1100" u="none" cap="none" strike="noStrike">
                <a:solidFill>
                  <a:srgbClr val="1D1B24"/>
                </a:solidFill>
                <a:latin typeface="Inter"/>
                <a:ea typeface="Inter"/>
                <a:cs typeface="Inter"/>
                <a:sym typeface="Inter"/>
              </a:rPr>
              <a:t>What did we just load? How big is it?</a:t>
            </a:r>
            <a:endParaRPr/>
          </a:p>
        </p:txBody>
      </p:sp>
      <p:sp>
        <p:nvSpPr>
          <p:cNvPr id="266" name="Google Shape;266;p24"/>
          <p:cNvSpPr/>
          <p:nvPr/>
        </p:nvSpPr>
        <p:spPr>
          <a:xfrm>
            <a:off x="4306824" y="1636776"/>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24"/>
          <p:cNvSpPr/>
          <p:nvPr/>
        </p:nvSpPr>
        <p:spPr>
          <a:xfrm>
            <a:off x="4681728" y="1481328"/>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24"/>
          <p:cNvSpPr txBox="1"/>
          <p:nvPr/>
        </p:nvSpPr>
        <p:spPr>
          <a:xfrm>
            <a:off x="4846320" y="1539431"/>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a:t>
            </a:r>
            <a:r>
              <a:rPr b="1" i="0" lang="en" sz="1000" u="none" cap="none" strike="noStrike">
                <a:solidFill>
                  <a:srgbClr val="E8A93A"/>
                </a:solidFill>
                <a:latin typeface="Courier New"/>
                <a:ea typeface="Courier New"/>
                <a:cs typeface="Courier New"/>
                <a:sym typeface="Courier New"/>
              </a:rPr>
              <a:t>head</a:t>
            </a:r>
            <a:r>
              <a:rPr b="0" i="0" lang="en" sz="1000" u="none" cap="none" strike="noStrike">
                <a:solidFill>
                  <a:srgbClr val="F6F4EF"/>
                </a:solidFill>
                <a:latin typeface="Courier New"/>
                <a:ea typeface="Courier New"/>
                <a:cs typeface="Courier New"/>
                <a:sym typeface="Courier New"/>
              </a:rPr>
              <a:t>()  bridge.</a:t>
            </a:r>
            <a:r>
              <a:rPr b="1" i="0" lang="en" sz="1000" u="none" cap="none" strike="noStrike">
                <a:solidFill>
                  <a:srgbClr val="E8A93A"/>
                </a:solidFill>
                <a:latin typeface="Courier New"/>
                <a:ea typeface="Courier New"/>
                <a:cs typeface="Courier New"/>
                <a:sym typeface="Courier New"/>
              </a:rPr>
              <a:t>tail</a:t>
            </a:r>
            <a:r>
              <a:rPr b="0" i="0" lang="en" sz="1000" u="none" cap="none" strike="noStrike">
                <a:solidFill>
                  <a:srgbClr val="F6F4EF"/>
                </a:solidFill>
                <a:latin typeface="Courier New"/>
                <a:ea typeface="Courier New"/>
                <a:cs typeface="Courier New"/>
                <a:sym typeface="Courier New"/>
              </a:rPr>
              <a:t>()</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a:t>
            </a:r>
            <a:r>
              <a:rPr b="1" i="0" lang="en" sz="1000" u="none" cap="none" strike="noStrike">
                <a:solidFill>
                  <a:srgbClr val="E8A93A"/>
                </a:solidFill>
                <a:latin typeface="Courier New"/>
                <a:ea typeface="Courier New"/>
                <a:cs typeface="Courier New"/>
                <a:sym typeface="Courier New"/>
              </a:rPr>
              <a:t>shape</a:t>
            </a:r>
            <a:r>
              <a:rPr b="0" i="0" lang="en" sz="1000" u="none" cap="none" strike="noStrike">
                <a:solidFill>
                  <a:srgbClr val="F6F4EF"/>
                </a:solidFill>
                <a:latin typeface="Courier New"/>
                <a:ea typeface="Courier New"/>
                <a:cs typeface="Courier New"/>
                <a:sym typeface="Courier New"/>
              </a:rPr>
              <a:t>  bridge.</a:t>
            </a:r>
            <a:r>
              <a:rPr b="1" i="0" lang="en" sz="1000" u="none" cap="none" strike="noStrike">
                <a:solidFill>
                  <a:srgbClr val="E8A93A"/>
                </a:solidFill>
                <a:latin typeface="Courier New"/>
                <a:ea typeface="Courier New"/>
                <a:cs typeface="Courier New"/>
                <a:sym typeface="Courier New"/>
              </a:rPr>
              <a:t>info</a:t>
            </a:r>
            <a:r>
              <a:rPr b="0" i="0" lang="en" sz="1000" u="none" cap="none" strike="noStrike">
                <a:solidFill>
                  <a:srgbClr val="F6F4EF"/>
                </a:solidFill>
                <a:latin typeface="Courier New"/>
                <a:ea typeface="Courier New"/>
                <a:cs typeface="Courier New"/>
                <a:sym typeface="Courier New"/>
              </a:rPr>
              <a:t>()</a:t>
            </a:r>
            <a:endParaRPr/>
          </a:p>
        </p:txBody>
      </p:sp>
      <p:sp>
        <p:nvSpPr>
          <p:cNvPr id="269" name="Google Shape;269;p24"/>
          <p:cNvSpPr/>
          <p:nvPr/>
        </p:nvSpPr>
        <p:spPr>
          <a:xfrm>
            <a:off x="612648" y="2066544"/>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24"/>
          <p:cNvSpPr txBox="1"/>
          <p:nvPr/>
        </p:nvSpPr>
        <p:spPr>
          <a:xfrm>
            <a:off x="777215" y="2221994"/>
            <a:ext cx="3282600" cy="1692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 sz="1100" u="none" cap="none" strike="noStrike">
                <a:solidFill>
                  <a:srgbClr val="1D1B24"/>
                </a:solidFill>
                <a:latin typeface="Inter"/>
                <a:ea typeface="Inter"/>
                <a:cs typeface="Inter"/>
                <a:sym typeface="Inter"/>
              </a:rPr>
              <a:t>Typical values. Is the mean far from the median?</a:t>
            </a:r>
            <a:endParaRPr/>
          </a:p>
        </p:txBody>
      </p:sp>
      <p:sp>
        <p:nvSpPr>
          <p:cNvPr id="271" name="Google Shape;271;p24"/>
          <p:cNvSpPr/>
          <p:nvPr/>
        </p:nvSpPr>
        <p:spPr>
          <a:xfrm>
            <a:off x="4306824" y="2221992"/>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24"/>
          <p:cNvSpPr/>
          <p:nvPr/>
        </p:nvSpPr>
        <p:spPr>
          <a:xfrm>
            <a:off x="4681728" y="2066544"/>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24"/>
          <p:cNvSpPr txBox="1"/>
          <p:nvPr/>
        </p:nvSpPr>
        <p:spPr>
          <a:xfrm>
            <a:off x="4846320" y="2146436"/>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a:t>
            </a:r>
            <a:r>
              <a:rPr b="1" i="0" lang="en" sz="1000" u="none" cap="none" strike="noStrike">
                <a:solidFill>
                  <a:srgbClr val="E8A93A"/>
                </a:solidFill>
                <a:latin typeface="Courier New"/>
                <a:ea typeface="Courier New"/>
                <a:cs typeface="Courier New"/>
                <a:sym typeface="Courier New"/>
              </a:rPr>
              <a:t>describe</a:t>
            </a:r>
            <a:r>
              <a:rPr b="0" i="0" lang="en" sz="1000" u="none" cap="none" strike="noStrike">
                <a:solidFill>
                  <a:srgbClr val="F6F4EF"/>
                </a:solidFill>
                <a:latin typeface="Courier New"/>
                <a:ea typeface="Courier New"/>
                <a:cs typeface="Courier New"/>
                <a:sym typeface="Courier New"/>
              </a:rPr>
              <a:t>()</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a:t>
            </a:r>
            <a:r>
              <a:rPr b="1" i="0" lang="en" sz="1000" u="none" cap="none" strike="noStrike">
                <a:solidFill>
                  <a:srgbClr val="E8A93A"/>
                </a:solidFill>
                <a:latin typeface="Courier New"/>
                <a:ea typeface="Courier New"/>
                <a:cs typeface="Courier New"/>
                <a:sym typeface="Courier New"/>
              </a:rPr>
              <a:t>dtypes</a:t>
            </a:r>
            <a:endParaRPr/>
          </a:p>
        </p:txBody>
      </p:sp>
      <p:sp>
        <p:nvSpPr>
          <p:cNvPr id="274" name="Google Shape;274;p24"/>
          <p:cNvSpPr/>
          <p:nvPr/>
        </p:nvSpPr>
        <p:spPr>
          <a:xfrm>
            <a:off x="612648" y="2651760"/>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24"/>
          <p:cNvSpPr txBox="1"/>
          <p:nvPr/>
        </p:nvSpPr>
        <p:spPr>
          <a:xfrm>
            <a:off x="777215" y="2741844"/>
            <a:ext cx="3282600" cy="381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 sz="1100" u="none" cap="none" strike="noStrike">
                <a:solidFill>
                  <a:srgbClr val="1D1B24"/>
                </a:solidFill>
                <a:latin typeface="Inter"/>
                <a:ea typeface="Inter"/>
                <a:cs typeface="Inter"/>
                <a:sym typeface="Inter"/>
              </a:rPr>
              <a:t>How many people in total? How common is each weather?</a:t>
            </a:r>
            <a:endParaRPr/>
          </a:p>
        </p:txBody>
      </p:sp>
      <p:sp>
        <p:nvSpPr>
          <p:cNvPr id="276" name="Google Shape;276;p24"/>
          <p:cNvSpPr/>
          <p:nvPr/>
        </p:nvSpPr>
        <p:spPr>
          <a:xfrm>
            <a:off x="4306824" y="2807208"/>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24"/>
          <p:cNvSpPr/>
          <p:nvPr/>
        </p:nvSpPr>
        <p:spPr>
          <a:xfrm>
            <a:off x="4681728" y="2651760"/>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8" name="Google Shape;278;p24"/>
          <p:cNvSpPr txBox="1"/>
          <p:nvPr/>
        </p:nvSpPr>
        <p:spPr>
          <a:xfrm>
            <a:off x="4846320" y="2724389"/>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bridge["Pedestrians"].</a:t>
            </a:r>
            <a:r>
              <a:rPr b="1" i="0" lang="en" sz="1000" u="none" cap="none" strike="noStrike">
                <a:solidFill>
                  <a:srgbClr val="E8A93A"/>
                </a:solidFill>
                <a:latin typeface="Courier New"/>
                <a:ea typeface="Courier New"/>
                <a:cs typeface="Courier New"/>
                <a:sym typeface="Courier New"/>
              </a:rPr>
              <a:t>sum</a:t>
            </a:r>
            <a:r>
              <a:rPr b="0" i="0" lang="en" sz="1000" u="none" cap="none" strike="noStrike">
                <a:solidFill>
                  <a:srgbClr val="F6F4EF"/>
                </a:solidFill>
                <a:latin typeface="Courier New"/>
                <a:ea typeface="Courier New"/>
                <a:cs typeface="Courier New"/>
                <a:sym typeface="Courier New"/>
              </a:rPr>
              <a:t>()</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bridge["weather_summary"].</a:t>
            </a:r>
            <a:r>
              <a:rPr b="1" i="0" lang="en" sz="1000" u="none" cap="none" strike="noStrike">
                <a:solidFill>
                  <a:srgbClr val="E8A93A"/>
                </a:solidFill>
                <a:latin typeface="Courier New"/>
                <a:ea typeface="Courier New"/>
                <a:cs typeface="Courier New"/>
                <a:sym typeface="Courier New"/>
              </a:rPr>
              <a:t>value_counts</a:t>
            </a:r>
            <a:r>
              <a:rPr b="0" i="0" lang="en" sz="1000" u="none" cap="none" strike="noStrike">
                <a:solidFill>
                  <a:srgbClr val="F6F4EF"/>
                </a:solidFill>
                <a:latin typeface="Courier New"/>
                <a:ea typeface="Courier New"/>
                <a:cs typeface="Courier New"/>
                <a:sym typeface="Courier New"/>
              </a:rPr>
              <a:t>()</a:t>
            </a:r>
            <a:endParaRPr/>
          </a:p>
        </p:txBody>
      </p:sp>
      <p:sp>
        <p:nvSpPr>
          <p:cNvPr id="279" name="Google Shape;279;p24"/>
          <p:cNvSpPr/>
          <p:nvPr/>
        </p:nvSpPr>
        <p:spPr>
          <a:xfrm>
            <a:off x="612648" y="3236976"/>
            <a:ext cx="3612000" cy="7680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24"/>
          <p:cNvSpPr txBox="1"/>
          <p:nvPr/>
        </p:nvSpPr>
        <p:spPr>
          <a:xfrm>
            <a:off x="777215" y="3414215"/>
            <a:ext cx="3282600" cy="381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 sz="1100" u="none" cap="none" strike="noStrike">
                <a:solidFill>
                  <a:srgbClr val="1D1B24"/>
                </a:solidFill>
                <a:latin typeface="Inter"/>
                <a:ea typeface="Inter"/>
                <a:cs typeface="Inter"/>
                <a:sym typeface="Inter"/>
              </a:rPr>
              <a:t>Busiest hours? Rainy versus dry? The single busiest hour?</a:t>
            </a:r>
            <a:endParaRPr/>
          </a:p>
        </p:txBody>
      </p:sp>
      <p:sp>
        <p:nvSpPr>
          <p:cNvPr id="281" name="Google Shape;281;p24"/>
          <p:cNvSpPr/>
          <p:nvPr/>
        </p:nvSpPr>
        <p:spPr>
          <a:xfrm>
            <a:off x="4306824" y="3520440"/>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24"/>
          <p:cNvSpPr/>
          <p:nvPr/>
        </p:nvSpPr>
        <p:spPr>
          <a:xfrm>
            <a:off x="4681728" y="3236976"/>
            <a:ext cx="3849600" cy="7680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24"/>
          <p:cNvSpPr txBox="1"/>
          <p:nvPr/>
        </p:nvSpPr>
        <p:spPr>
          <a:xfrm>
            <a:off x="4846320" y="3338657"/>
            <a:ext cx="3520500" cy="5541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a:t>
            </a:r>
            <a:r>
              <a:rPr b="1" i="0" lang="en" sz="1000" u="none" cap="none" strike="noStrike">
                <a:solidFill>
                  <a:srgbClr val="E8A93A"/>
                </a:solidFill>
                <a:latin typeface="Courier New"/>
                <a:ea typeface="Courier New"/>
                <a:cs typeface="Courier New"/>
                <a:sym typeface="Courier New"/>
              </a:rPr>
              <a:t>sort_values</a:t>
            </a:r>
            <a:r>
              <a:rPr b="0" i="0" lang="en" sz="1000" u="none" cap="none" strike="noStrike">
                <a:solidFill>
                  <a:srgbClr val="F6F4EF"/>
                </a:solidFill>
                <a:latin typeface="Courier New"/>
                <a:ea typeface="Courier New"/>
                <a:cs typeface="Courier New"/>
                <a:sym typeface="Courier New"/>
              </a:rPr>
              <a:t>(ascending=False)</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bridge[bridge["precipitation"] &gt; 0]</a:t>
            </a:r>
            <a:endParaRPr/>
          </a:p>
          <a:p>
            <a:pPr indent="0" lvl="0" marL="0" marR="0" rtl="0" algn="l">
              <a:lnSpc>
                <a:spcPct val="130000"/>
              </a:lnSpc>
              <a:spcBef>
                <a:spcPts val="0"/>
              </a:spcBef>
              <a:spcAft>
                <a:spcPts val="0"/>
              </a:spcAft>
              <a:buNone/>
            </a:pPr>
            <a:r>
              <a:rPr b="0" i="0" lang="en" sz="1000" u="none" cap="none" strike="noStrike">
                <a:solidFill>
                  <a:srgbClr val="F6F4EF"/>
                </a:solidFill>
                <a:latin typeface="Courier New"/>
                <a:ea typeface="Courier New"/>
                <a:cs typeface="Courier New"/>
                <a:sym typeface="Courier New"/>
              </a:rPr>
              <a:t>bridge.</a:t>
            </a:r>
            <a:r>
              <a:rPr b="1" i="0" lang="en" sz="1000" u="none" cap="none" strike="noStrike">
                <a:solidFill>
                  <a:srgbClr val="E8A93A"/>
                </a:solidFill>
                <a:latin typeface="Courier New"/>
                <a:ea typeface="Courier New"/>
                <a:cs typeface="Courier New"/>
                <a:sym typeface="Courier New"/>
              </a:rPr>
              <a:t>loc</a:t>
            </a:r>
            <a:r>
              <a:rPr b="0" i="0" lang="en" sz="1000" u="none" cap="none" strike="noStrike">
                <a:solidFill>
                  <a:srgbClr val="F6F4EF"/>
                </a:solidFill>
                <a:latin typeface="Courier New"/>
                <a:ea typeface="Courier New"/>
                <a:cs typeface="Courier New"/>
                <a:sym typeface="Courier New"/>
              </a:rPr>
              <a:t>[bridge["Pedestrians"].</a:t>
            </a:r>
            <a:r>
              <a:rPr b="1" i="0" lang="en" sz="1000" u="none" cap="none" strike="noStrike">
                <a:solidFill>
                  <a:srgbClr val="E8A93A"/>
                </a:solidFill>
                <a:latin typeface="Courier New"/>
                <a:ea typeface="Courier New"/>
                <a:cs typeface="Courier New"/>
                <a:sym typeface="Courier New"/>
              </a:rPr>
              <a:t>idxmax</a:t>
            </a:r>
            <a:r>
              <a:rPr b="0" i="0" lang="en" sz="1000" u="none" cap="none" strike="noStrike">
                <a:solidFill>
                  <a:srgbClr val="F6F4EF"/>
                </a:solidFill>
                <a:latin typeface="Courier New"/>
                <a:ea typeface="Courier New"/>
                <a:cs typeface="Courier New"/>
                <a:sym typeface="Courier New"/>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FFCF"/>
            </a:gs>
            <a:gs pos="100000">
              <a:srgbClr val="D0F3FF"/>
            </a:gs>
          </a:gsLst>
          <a:path path="circle">
            <a:fillToRect b="0%" l="0%" r="100%" t="100%"/>
          </a:path>
          <a:tileRect b="-100%" l="-100%" r="0%" t="0%"/>
        </a:gradFill>
      </p:bgPr>
    </p:bg>
    <p:spTree>
      <p:nvGrpSpPr>
        <p:cNvPr id="287" name="Shape 287"/>
        <p:cNvGrpSpPr/>
        <p:nvPr/>
      </p:nvGrpSpPr>
      <p:grpSpPr>
        <a:xfrm>
          <a:off x="0" y="0"/>
          <a:ext cx="0" cy="0"/>
          <a:chOff x="0" y="0"/>
          <a:chExt cx="0" cy="0"/>
        </a:xfrm>
      </p:grpSpPr>
      <p:pic>
        <p:nvPicPr>
          <p:cNvPr descr="image.png" id="288" name="Google Shape;288;p25"/>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289" name="Google Shape;289;p25"/>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PART 2 · PANDAS · GROUPING</a:t>
            </a:r>
            <a:endParaRPr/>
          </a:p>
        </p:txBody>
      </p:sp>
      <p:sp>
        <p:nvSpPr>
          <p:cNvPr id="290" name="Google Shape;290;p25"/>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2700" u="none" cap="none" strike="noStrike">
                <a:solidFill>
                  <a:srgbClr val="1D1B24"/>
                </a:solidFill>
                <a:latin typeface="Space Grotesk"/>
                <a:ea typeface="Space Grotesk"/>
                <a:cs typeface="Space Grotesk"/>
                <a:sym typeface="Space Grotesk"/>
              </a:rPr>
              <a:t>Group, compare, summarize</a:t>
            </a:r>
            <a:endParaRPr/>
          </a:p>
        </p:txBody>
      </p:sp>
      <p:sp>
        <p:nvSpPr>
          <p:cNvPr id="291" name="Google Shape;291;p25"/>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u="none" cap="none" strike="noStrike">
                <a:solidFill>
                  <a:srgbClr val="625D6E"/>
                </a:solidFill>
                <a:latin typeface="Inter"/>
                <a:ea typeface="Inter"/>
                <a:cs typeface="Inter"/>
                <a:sym typeface="Inter"/>
              </a:rPr>
              <a:t>Data Science Bootcamp · Fall 2026</a:t>
            </a:r>
            <a:endParaRPr/>
          </a:p>
        </p:txBody>
      </p:sp>
      <p:sp>
        <p:nvSpPr>
          <p:cNvPr id="292" name="Google Shape;292;p25"/>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fld id="{00000000-1234-1234-1234-123412341234}" type="slidenum">
              <a:rPr b="0" i="0" lang="en" sz="900" u="none" cap="none" strike="noStrike">
                <a:solidFill>
                  <a:srgbClr val="625D6E"/>
                </a:solidFill>
                <a:latin typeface="Inter"/>
                <a:ea typeface="Inter"/>
                <a:cs typeface="Inter"/>
                <a:sym typeface="Inter"/>
              </a:rPr>
              <a:t>‹#›</a:t>
            </a:fld>
            <a:endParaRPr/>
          </a:p>
        </p:txBody>
      </p:sp>
      <p:sp>
        <p:nvSpPr>
          <p:cNvPr id="293" name="Google Shape;293;p25"/>
          <p:cNvSpPr/>
          <p:nvPr/>
        </p:nvSpPr>
        <p:spPr>
          <a:xfrm>
            <a:off x="612648" y="1298448"/>
            <a:ext cx="2103000" cy="8229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25"/>
          <p:cNvSpPr txBox="1"/>
          <p:nvPr/>
        </p:nvSpPr>
        <p:spPr>
          <a:xfrm>
            <a:off x="795528" y="1426464"/>
            <a:ext cx="1737300" cy="2001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300" u="none" cap="none" strike="noStrike">
                <a:solidFill>
                  <a:srgbClr val="351C75"/>
                </a:solidFill>
                <a:latin typeface="Space Grotesk"/>
                <a:ea typeface="Space Grotesk"/>
                <a:cs typeface="Space Grotesk"/>
                <a:sym typeface="Space Grotesk"/>
              </a:rPr>
              <a:t>Every hourly row</a:t>
            </a:r>
            <a:endParaRPr/>
          </a:p>
        </p:txBody>
      </p:sp>
      <p:sp>
        <p:nvSpPr>
          <p:cNvPr id="295" name="Google Shape;295;p25"/>
          <p:cNvSpPr txBox="1"/>
          <p:nvPr/>
        </p:nvSpPr>
        <p:spPr>
          <a:xfrm>
            <a:off x="795528" y="1755648"/>
            <a:ext cx="1737300" cy="1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50" u="none" cap="none" strike="noStrike">
                <a:solidFill>
                  <a:srgbClr val="3D3947"/>
                </a:solidFill>
                <a:latin typeface="Inter"/>
                <a:ea typeface="Inter"/>
                <a:cs typeface="Inter"/>
                <a:sym typeface="Inter"/>
              </a:rPr>
              <a:t>one row = one hour</a:t>
            </a:r>
            <a:endParaRPr/>
          </a:p>
        </p:txBody>
      </p:sp>
      <p:sp>
        <p:nvSpPr>
          <p:cNvPr id="296" name="Google Shape;296;p25"/>
          <p:cNvSpPr/>
          <p:nvPr/>
        </p:nvSpPr>
        <p:spPr>
          <a:xfrm>
            <a:off x="2779775" y="1609343"/>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25"/>
          <p:cNvSpPr/>
          <p:nvPr/>
        </p:nvSpPr>
        <p:spPr>
          <a:xfrm>
            <a:off x="3127248" y="1298448"/>
            <a:ext cx="2560200" cy="8229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25"/>
          <p:cNvSpPr txBox="1"/>
          <p:nvPr/>
        </p:nvSpPr>
        <p:spPr>
          <a:xfrm>
            <a:off x="3310128" y="1426464"/>
            <a:ext cx="2194500" cy="1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50" u="none" cap="none" strike="noStrike">
                <a:solidFill>
                  <a:srgbClr val="F6F4EF"/>
                </a:solidFill>
                <a:latin typeface="Courier New"/>
                <a:ea typeface="Courier New"/>
                <a:cs typeface="Courier New"/>
                <a:sym typeface="Courier New"/>
              </a:rPr>
              <a:t>analysis.</a:t>
            </a:r>
            <a:r>
              <a:rPr b="1" i="0" lang="en" sz="1050" u="none" cap="none" strike="noStrike">
                <a:solidFill>
                  <a:srgbClr val="E8A93A"/>
                </a:solidFill>
                <a:latin typeface="Courier New"/>
                <a:ea typeface="Courier New"/>
                <a:cs typeface="Courier New"/>
                <a:sym typeface="Courier New"/>
              </a:rPr>
              <a:t>groupby</a:t>
            </a:r>
            <a:r>
              <a:rPr b="0" i="0" lang="en" sz="1050" u="none" cap="none" strike="noStrike">
                <a:solidFill>
                  <a:srgbClr val="F6F4EF"/>
                </a:solidFill>
                <a:latin typeface="Courier New"/>
                <a:ea typeface="Courier New"/>
                <a:cs typeface="Courier New"/>
                <a:sym typeface="Courier New"/>
              </a:rPr>
              <a:t>("hour")</a:t>
            </a:r>
            <a:endParaRPr/>
          </a:p>
        </p:txBody>
      </p:sp>
      <p:sp>
        <p:nvSpPr>
          <p:cNvPr id="299" name="Google Shape;299;p25"/>
          <p:cNvSpPr txBox="1"/>
          <p:nvPr/>
        </p:nvSpPr>
        <p:spPr>
          <a:xfrm>
            <a:off x="3310128" y="1755648"/>
            <a:ext cx="2194500" cy="1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50" u="none" cap="none" strike="noStrike">
                <a:solidFill>
                  <a:srgbClr val="F6F4EF"/>
                </a:solidFill>
                <a:latin typeface="Inter"/>
                <a:ea typeface="Inter"/>
                <a:cs typeface="Inter"/>
                <a:sym typeface="Inter"/>
              </a:rPr>
              <a:t>split into 24 piles, one per hour</a:t>
            </a:r>
            <a:endParaRPr/>
          </a:p>
        </p:txBody>
      </p:sp>
      <p:sp>
        <p:nvSpPr>
          <p:cNvPr id="300" name="Google Shape;300;p25"/>
          <p:cNvSpPr/>
          <p:nvPr/>
        </p:nvSpPr>
        <p:spPr>
          <a:xfrm>
            <a:off x="5751576" y="1609343"/>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25"/>
          <p:cNvSpPr/>
          <p:nvPr/>
        </p:nvSpPr>
        <p:spPr>
          <a:xfrm>
            <a:off x="6099048" y="1298448"/>
            <a:ext cx="2432400" cy="8229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25"/>
          <p:cNvSpPr txBox="1"/>
          <p:nvPr/>
        </p:nvSpPr>
        <p:spPr>
          <a:xfrm>
            <a:off x="6281928" y="1426464"/>
            <a:ext cx="2066400" cy="1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50" u="none" cap="none" strike="noStrike">
                <a:solidFill>
                  <a:srgbClr val="F6F4EF"/>
                </a:solidFill>
                <a:latin typeface="Courier New"/>
                <a:ea typeface="Courier New"/>
                <a:cs typeface="Courier New"/>
                <a:sym typeface="Courier New"/>
              </a:rPr>
              <a:t>.pedestrians.</a:t>
            </a:r>
            <a:r>
              <a:rPr b="1" i="0" lang="en" sz="1050" u="none" cap="none" strike="noStrike">
                <a:solidFill>
                  <a:srgbClr val="E8A93A"/>
                </a:solidFill>
                <a:latin typeface="Courier New"/>
                <a:ea typeface="Courier New"/>
                <a:cs typeface="Courier New"/>
                <a:sym typeface="Courier New"/>
              </a:rPr>
              <a:t>mean</a:t>
            </a:r>
            <a:r>
              <a:rPr b="0" i="0" lang="en" sz="1050" u="none" cap="none" strike="noStrike">
                <a:solidFill>
                  <a:srgbClr val="F6F4EF"/>
                </a:solidFill>
                <a:latin typeface="Courier New"/>
                <a:ea typeface="Courier New"/>
                <a:cs typeface="Courier New"/>
                <a:sym typeface="Courier New"/>
              </a:rPr>
              <a:t>()</a:t>
            </a:r>
            <a:endParaRPr/>
          </a:p>
        </p:txBody>
      </p:sp>
      <p:sp>
        <p:nvSpPr>
          <p:cNvPr id="303" name="Google Shape;303;p25"/>
          <p:cNvSpPr txBox="1"/>
          <p:nvPr/>
        </p:nvSpPr>
        <p:spPr>
          <a:xfrm>
            <a:off x="6281928" y="1755648"/>
            <a:ext cx="2066400" cy="1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50" u="none" cap="none" strike="noStrike">
                <a:solidFill>
                  <a:srgbClr val="F6F4EF"/>
                </a:solidFill>
                <a:latin typeface="Inter"/>
                <a:ea typeface="Inter"/>
                <a:cs typeface="Inter"/>
                <a:sym typeface="Inter"/>
              </a:rPr>
              <a:t>one number per pile: a Series</a:t>
            </a:r>
            <a:endParaRPr/>
          </a:p>
        </p:txBody>
      </p:sp>
      <p:sp>
        <p:nvSpPr>
          <p:cNvPr id="304" name="Google Shape;304;p25"/>
          <p:cNvSpPr/>
          <p:nvPr/>
        </p:nvSpPr>
        <p:spPr>
          <a:xfrm>
            <a:off x="612648" y="2286000"/>
            <a:ext cx="2517600" cy="1737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25"/>
          <p:cNvSpPr txBox="1"/>
          <p:nvPr/>
        </p:nvSpPr>
        <p:spPr>
          <a:xfrm>
            <a:off x="777240" y="2395728"/>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306" name="Google Shape;306;p25"/>
          <p:cNvSpPr txBox="1"/>
          <p:nvPr/>
        </p:nvSpPr>
        <p:spPr>
          <a:xfrm>
            <a:off x="777240" y="2606040"/>
            <a:ext cx="2188500" cy="37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100" u="none" cap="none" strike="noStrike">
                <a:solidFill>
                  <a:srgbClr val="1D1B24"/>
                </a:solidFill>
                <a:latin typeface="Inter"/>
                <a:ea typeface="Inter"/>
                <a:cs typeface="Inter"/>
                <a:sym typeface="Inter"/>
              </a:rPr>
              <a:t>Tidy names, then pull out the hour.</a:t>
            </a:r>
            <a:endParaRPr/>
          </a:p>
        </p:txBody>
      </p:sp>
      <p:sp>
        <p:nvSpPr>
          <p:cNvPr id="307" name="Google Shape;307;p25"/>
          <p:cNvSpPr/>
          <p:nvPr/>
        </p:nvSpPr>
        <p:spPr>
          <a:xfrm>
            <a:off x="722376" y="3090672"/>
            <a:ext cx="2298300" cy="8412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25"/>
          <p:cNvSpPr txBox="1"/>
          <p:nvPr/>
        </p:nvSpPr>
        <p:spPr>
          <a:xfrm>
            <a:off x="868680" y="315468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u="none" cap="none" strike="noStrike">
                <a:solidFill>
                  <a:srgbClr val="E8A93A"/>
                </a:solidFill>
                <a:latin typeface="Inter"/>
                <a:ea typeface="Inter"/>
                <a:cs typeface="Inter"/>
                <a:sym typeface="Inter"/>
              </a:rPr>
              <a:t>THE TOOL</a:t>
            </a:r>
            <a:endParaRPr/>
          </a:p>
        </p:txBody>
      </p:sp>
      <p:sp>
        <p:nvSpPr>
          <p:cNvPr id="309" name="Google Shape;309;p25"/>
          <p:cNvSpPr txBox="1"/>
          <p:nvPr/>
        </p:nvSpPr>
        <p:spPr>
          <a:xfrm>
            <a:off x="868680" y="3355848"/>
            <a:ext cx="20604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df.</a:t>
            </a:r>
            <a:r>
              <a:rPr b="1" i="0" lang="en" sz="950" u="none" cap="none" strike="noStrike">
                <a:solidFill>
                  <a:srgbClr val="E8A93A"/>
                </a:solidFill>
                <a:latin typeface="Courier New"/>
                <a:ea typeface="Courier New"/>
                <a:cs typeface="Courier New"/>
                <a:sym typeface="Courier New"/>
              </a:rPr>
              <a:t>rename</a:t>
            </a:r>
            <a:r>
              <a:rPr b="0" i="0" lang="en" sz="950" u="none" cap="none" strike="noStrike">
                <a:solidFill>
                  <a:srgbClr val="F6F4EF"/>
                </a:solidFill>
                <a:latin typeface="Courier New"/>
                <a:ea typeface="Courier New"/>
                <a:cs typeface="Courier New"/>
                <a:sym typeface="Courier New"/>
              </a:rPr>
              <a:t>(columns={...})</a:t>
            </a:r>
            <a:endParaRPr/>
          </a:p>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df.pedestrians</a:t>
            </a:r>
            <a:endParaRPr/>
          </a:p>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df["time"].</a:t>
            </a:r>
            <a:r>
              <a:rPr b="1" i="0" lang="en" sz="950" u="none" cap="none" strike="noStrike">
                <a:solidFill>
                  <a:srgbClr val="E8A93A"/>
                </a:solidFill>
                <a:latin typeface="Courier New"/>
                <a:ea typeface="Courier New"/>
                <a:cs typeface="Courier New"/>
                <a:sym typeface="Courier New"/>
              </a:rPr>
              <a:t>dt</a:t>
            </a:r>
            <a:r>
              <a:rPr b="0" i="0" lang="en" sz="950" u="none" cap="none" strike="noStrike">
                <a:solidFill>
                  <a:srgbClr val="F6F4EF"/>
                </a:solidFill>
                <a:latin typeface="Courier New"/>
                <a:ea typeface="Courier New"/>
                <a:cs typeface="Courier New"/>
                <a:sym typeface="Courier New"/>
              </a:rPr>
              <a:t>.hour</a:t>
            </a:r>
            <a:endParaRPr/>
          </a:p>
        </p:txBody>
      </p:sp>
      <p:sp>
        <p:nvSpPr>
          <p:cNvPr id="310" name="Google Shape;310;p25"/>
          <p:cNvSpPr/>
          <p:nvPr/>
        </p:nvSpPr>
        <p:spPr>
          <a:xfrm>
            <a:off x="3313176" y="2286000"/>
            <a:ext cx="2517600" cy="1737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25"/>
          <p:cNvSpPr txBox="1"/>
          <p:nvPr/>
        </p:nvSpPr>
        <p:spPr>
          <a:xfrm>
            <a:off x="3477768" y="2395728"/>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312" name="Google Shape;312;p25"/>
          <p:cNvSpPr txBox="1"/>
          <p:nvPr/>
        </p:nvSpPr>
        <p:spPr>
          <a:xfrm>
            <a:off x="3477768" y="2606040"/>
            <a:ext cx="2188500" cy="37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100" u="none" cap="none" strike="noStrike">
                <a:solidFill>
                  <a:srgbClr val="1D1B24"/>
                </a:solidFill>
                <a:latin typeface="Inter"/>
                <a:ea typeface="Inter"/>
                <a:cs typeface="Inter"/>
                <a:sym typeface="Inter"/>
              </a:rPr>
              <a:t>Mean, min and max for every weather label.</a:t>
            </a:r>
            <a:endParaRPr/>
          </a:p>
        </p:txBody>
      </p:sp>
      <p:sp>
        <p:nvSpPr>
          <p:cNvPr id="313" name="Google Shape;313;p25"/>
          <p:cNvSpPr/>
          <p:nvPr/>
        </p:nvSpPr>
        <p:spPr>
          <a:xfrm>
            <a:off x="3422904" y="3090672"/>
            <a:ext cx="2298300" cy="8412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25"/>
          <p:cNvSpPr txBox="1"/>
          <p:nvPr/>
        </p:nvSpPr>
        <p:spPr>
          <a:xfrm>
            <a:off x="3569208" y="315468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u="none" cap="none" strike="noStrike">
                <a:solidFill>
                  <a:srgbClr val="E8A93A"/>
                </a:solidFill>
                <a:latin typeface="Inter"/>
                <a:ea typeface="Inter"/>
                <a:cs typeface="Inter"/>
                <a:sym typeface="Inter"/>
              </a:rPr>
              <a:t>THE TOOL</a:t>
            </a:r>
            <a:endParaRPr/>
          </a:p>
        </p:txBody>
      </p:sp>
      <p:sp>
        <p:nvSpPr>
          <p:cNvPr id="315" name="Google Shape;315;p25"/>
          <p:cNvSpPr txBox="1"/>
          <p:nvPr/>
        </p:nvSpPr>
        <p:spPr>
          <a:xfrm>
            <a:off x="3569208" y="3355848"/>
            <a:ext cx="20604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t>
            </a:r>
            <a:r>
              <a:rPr b="1" i="0" lang="en" sz="950" u="none" cap="none" strike="noStrike">
                <a:solidFill>
                  <a:srgbClr val="E8A93A"/>
                </a:solidFill>
                <a:latin typeface="Courier New"/>
                <a:ea typeface="Courier New"/>
                <a:cs typeface="Courier New"/>
                <a:sym typeface="Courier New"/>
              </a:rPr>
              <a:t>groupby</a:t>
            </a:r>
            <a:r>
              <a:rPr b="0" i="0" lang="en" sz="950" u="none" cap="none" strike="noStrike">
                <a:solidFill>
                  <a:srgbClr val="F6F4EF"/>
                </a:solidFill>
                <a:latin typeface="Courier New"/>
                <a:ea typeface="Courier New"/>
                <a:cs typeface="Courier New"/>
                <a:sym typeface="Courier New"/>
              </a:rPr>
              <a:t>("weather_summary")</a:t>
            </a:r>
            <a:endParaRPr/>
          </a:p>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t>
            </a:r>
            <a:r>
              <a:rPr b="1" i="0" lang="en" sz="950" u="none" cap="none" strike="noStrike">
                <a:solidFill>
                  <a:srgbClr val="E8A93A"/>
                </a:solidFill>
                <a:latin typeface="Courier New"/>
                <a:ea typeface="Courier New"/>
                <a:cs typeface="Courier New"/>
                <a:sym typeface="Courier New"/>
              </a:rPr>
              <a:t>agg</a:t>
            </a:r>
            <a:r>
              <a:rPr b="0" i="0" lang="en" sz="950" u="none" cap="none" strike="noStrike">
                <a:solidFill>
                  <a:srgbClr val="F6F4EF"/>
                </a:solidFill>
                <a:latin typeface="Courier New"/>
                <a:ea typeface="Courier New"/>
                <a:cs typeface="Courier New"/>
                <a:sym typeface="Courier New"/>
              </a:rPr>
              <a:t>([...])</a:t>
            </a:r>
            <a:endParaRPr/>
          </a:p>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t>
            </a:r>
            <a:r>
              <a:rPr b="1" i="0" lang="en" sz="950" u="none" cap="none" strike="noStrike">
                <a:solidFill>
                  <a:srgbClr val="E8A93A"/>
                </a:solidFill>
                <a:latin typeface="Courier New"/>
                <a:ea typeface="Courier New"/>
                <a:cs typeface="Courier New"/>
                <a:sym typeface="Courier New"/>
              </a:rPr>
              <a:t>describe</a:t>
            </a:r>
            <a:r>
              <a:rPr b="0" i="0" lang="en" sz="950" u="none" cap="none" strike="noStrike">
                <a:solidFill>
                  <a:srgbClr val="F6F4EF"/>
                </a:solidFill>
                <a:latin typeface="Courier New"/>
                <a:ea typeface="Courier New"/>
                <a:cs typeface="Courier New"/>
                <a:sym typeface="Courier New"/>
              </a:rPr>
              <a:t>()</a:t>
            </a:r>
            <a:endParaRPr/>
          </a:p>
        </p:txBody>
      </p:sp>
      <p:sp>
        <p:nvSpPr>
          <p:cNvPr id="316" name="Google Shape;316;p25"/>
          <p:cNvSpPr/>
          <p:nvPr/>
        </p:nvSpPr>
        <p:spPr>
          <a:xfrm>
            <a:off x="6013704" y="2286000"/>
            <a:ext cx="2517600" cy="1737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25"/>
          <p:cNvSpPr txBox="1"/>
          <p:nvPr/>
        </p:nvSpPr>
        <p:spPr>
          <a:xfrm>
            <a:off x="6178296" y="2395728"/>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u="none" cap="none" strike="noStrike">
                <a:solidFill>
                  <a:srgbClr val="5A2D8C"/>
                </a:solidFill>
                <a:latin typeface="Inter"/>
                <a:ea typeface="Inter"/>
                <a:cs typeface="Inter"/>
                <a:sym typeface="Inter"/>
              </a:rPr>
              <a:t>THE STORY</a:t>
            </a:r>
            <a:endParaRPr/>
          </a:p>
        </p:txBody>
      </p:sp>
      <p:sp>
        <p:nvSpPr>
          <p:cNvPr id="318" name="Google Shape;318;p25"/>
          <p:cNvSpPr txBox="1"/>
          <p:nvPr/>
        </p:nvSpPr>
        <p:spPr>
          <a:xfrm>
            <a:off x="6178296" y="2606040"/>
            <a:ext cx="2188500" cy="37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100" u="none" cap="none" strike="noStrike">
                <a:solidFill>
                  <a:srgbClr val="1D1B24"/>
                </a:solidFill>
                <a:latin typeface="Inter"/>
                <a:ea typeface="Inter"/>
                <a:cs typeface="Inter"/>
                <a:sym typeface="Inter"/>
              </a:rPr>
              <a:t>Readable labels, and tables we build ourselves.</a:t>
            </a:r>
            <a:endParaRPr/>
          </a:p>
        </p:txBody>
      </p:sp>
      <p:sp>
        <p:nvSpPr>
          <p:cNvPr id="319" name="Google Shape;319;p25"/>
          <p:cNvSpPr/>
          <p:nvPr/>
        </p:nvSpPr>
        <p:spPr>
          <a:xfrm>
            <a:off x="6123432" y="3090672"/>
            <a:ext cx="2298300" cy="8412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25"/>
          <p:cNvSpPr txBox="1"/>
          <p:nvPr/>
        </p:nvSpPr>
        <p:spPr>
          <a:xfrm>
            <a:off x="6269736" y="315468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u="none" cap="none" strike="noStrike">
                <a:solidFill>
                  <a:srgbClr val="E8A93A"/>
                </a:solidFill>
                <a:latin typeface="Inter"/>
                <a:ea typeface="Inter"/>
                <a:cs typeface="Inter"/>
                <a:sym typeface="Inter"/>
              </a:rPr>
              <a:t>THE TOOL</a:t>
            </a:r>
            <a:endParaRPr/>
          </a:p>
        </p:txBody>
      </p:sp>
      <p:sp>
        <p:nvSpPr>
          <p:cNvPr id="321" name="Google Shape;321;p25"/>
          <p:cNvSpPr txBox="1"/>
          <p:nvPr/>
        </p:nvSpPr>
        <p:spPr>
          <a:xfrm>
            <a:off x="6269736" y="3355848"/>
            <a:ext cx="20604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a:t>
            </a:r>
            <a:r>
              <a:rPr b="1" i="0" lang="en" sz="950" u="none" cap="none" strike="noStrike">
                <a:solidFill>
                  <a:srgbClr val="E8A93A"/>
                </a:solidFill>
                <a:latin typeface="Courier New"/>
                <a:ea typeface="Courier New"/>
                <a:cs typeface="Courier New"/>
                <a:sym typeface="Courier New"/>
              </a:rPr>
              <a:t>apply</a:t>
            </a:r>
            <a:r>
              <a:rPr b="0" i="0" lang="en" sz="950" u="none" cap="none" strike="noStrike">
                <a:solidFill>
                  <a:srgbClr val="F6F4EF"/>
                </a:solidFill>
                <a:latin typeface="Courier New"/>
                <a:ea typeface="Courier New"/>
                <a:cs typeface="Courier New"/>
                <a:sym typeface="Courier New"/>
              </a:rPr>
              <a:t>(lambda q: ...)</a:t>
            </a:r>
            <a:endParaRPr/>
          </a:p>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pd.</a:t>
            </a:r>
            <a:r>
              <a:rPr b="1" i="0" lang="en" sz="950" u="none" cap="none" strike="noStrike">
                <a:solidFill>
                  <a:srgbClr val="E8A93A"/>
                </a:solidFill>
                <a:latin typeface="Courier New"/>
                <a:ea typeface="Courier New"/>
                <a:cs typeface="Courier New"/>
                <a:sym typeface="Courier New"/>
              </a:rPr>
              <a:t>Series</a:t>
            </a:r>
            <a:r>
              <a:rPr b="0" i="0" lang="en" sz="950" u="none" cap="none" strike="noStrike">
                <a:solidFill>
                  <a:srgbClr val="F6F4EF"/>
                </a:solidFill>
                <a:latin typeface="Courier New"/>
                <a:ea typeface="Courier New"/>
                <a:cs typeface="Courier New"/>
                <a:sym typeface="Courier New"/>
              </a:rPr>
              <a:t>(...)</a:t>
            </a:r>
            <a:endParaRPr/>
          </a:p>
          <a:p>
            <a:pPr indent="0" lvl="0" marL="0" marR="0" rtl="0" algn="l">
              <a:lnSpc>
                <a:spcPct val="120000"/>
              </a:lnSpc>
              <a:spcBef>
                <a:spcPts val="0"/>
              </a:spcBef>
              <a:spcAft>
                <a:spcPts val="0"/>
              </a:spcAft>
              <a:buNone/>
            </a:pPr>
            <a:r>
              <a:rPr b="0" i="0" lang="en" sz="950" u="none" cap="none" strike="noStrike">
                <a:solidFill>
                  <a:srgbClr val="F6F4EF"/>
                </a:solidFill>
                <a:latin typeface="Courier New"/>
                <a:ea typeface="Courier New"/>
                <a:cs typeface="Courier New"/>
                <a:sym typeface="Courier New"/>
              </a:rPr>
              <a:t>pd.</a:t>
            </a:r>
            <a:r>
              <a:rPr b="1" i="0" lang="en" sz="950" u="none" cap="none" strike="noStrike">
                <a:solidFill>
                  <a:srgbClr val="E8A93A"/>
                </a:solidFill>
                <a:latin typeface="Courier New"/>
                <a:ea typeface="Courier New"/>
                <a:cs typeface="Courier New"/>
                <a:sym typeface="Courier New"/>
              </a:rPr>
              <a:t>DataFrame</a:t>
            </a:r>
            <a:r>
              <a:rPr b="0" i="0" lang="en" sz="950" u="none" cap="none" strike="noStrike">
                <a:solidFill>
                  <a:srgbClr val="F6F4EF"/>
                </a:solidFill>
                <a:latin typeface="Courier New"/>
                <a:ea typeface="Courier New"/>
                <a:cs typeface="Courier New"/>
                <a:sym typeface="Courier New"/>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EF8A9"/>
            </a:gs>
            <a:gs pos="100000">
              <a:srgbClr val="A3E7FF"/>
            </a:gs>
          </a:gsLst>
          <a:path path="circle">
            <a:fillToRect b="0%" l="0%" r="100%" t="100%"/>
          </a:path>
          <a:tileRect b="-100%" l="-100%" r="0%" t="0%"/>
        </a:gradFill>
      </p:bgPr>
    </p:bg>
    <p:spTree>
      <p:nvGrpSpPr>
        <p:cNvPr id="326" name="Shape 326"/>
        <p:cNvGrpSpPr/>
        <p:nvPr/>
      </p:nvGrpSpPr>
      <p:grpSpPr>
        <a:xfrm>
          <a:off x="0" y="0"/>
          <a:ext cx="0" cy="0"/>
          <a:chOff x="0" y="0"/>
          <a:chExt cx="0" cy="0"/>
        </a:xfrm>
      </p:grpSpPr>
      <p:sp>
        <p:nvSpPr>
          <p:cNvPr id="327" name="Google Shape;327;p26"/>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2700"/>
              <a:buFont typeface="Space Grotesk"/>
              <a:buNone/>
            </a:pPr>
            <a:r>
              <a:rPr b="1" i="0" lang="en" sz="2700" u="none" cap="none" strike="noStrike">
                <a:solidFill>
                  <a:schemeClr val="dk1"/>
                </a:solidFill>
                <a:latin typeface="Space Grotesk"/>
                <a:ea typeface="Space Grotesk"/>
                <a:cs typeface="Space Grotesk"/>
                <a:sym typeface="Space Grotesk"/>
              </a:rPr>
              <a:t>Before next week</a:t>
            </a:r>
            <a:endParaRPr b="0" i="0" sz="2700" u="none" cap="none" strike="noStrike">
              <a:solidFill>
                <a:schemeClr val="dk1"/>
              </a:solidFill>
              <a:latin typeface="Calibri"/>
              <a:ea typeface="Calibri"/>
              <a:cs typeface="Calibri"/>
              <a:sym typeface="Calibri"/>
            </a:endParaRPr>
          </a:p>
        </p:txBody>
      </p:sp>
      <p:cxnSp>
        <p:nvCxnSpPr>
          <p:cNvPr id="328" name="Google Shape;328;p26"/>
          <p:cNvCxnSpPr/>
          <p:nvPr/>
        </p:nvCxnSpPr>
        <p:spPr>
          <a:xfrm>
            <a:off x="609591"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29" name="Google Shape;329;p26"/>
          <p:cNvSpPr/>
          <p:nvPr/>
        </p:nvSpPr>
        <p:spPr>
          <a:xfrm>
            <a:off x="609591"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z="1500" u="none" cap="none" strike="noStrike">
                <a:solidFill>
                  <a:srgbClr val="3D3947"/>
                </a:solidFill>
                <a:latin typeface="Space Grotesk"/>
                <a:ea typeface="Space Grotesk"/>
                <a:cs typeface="Space Grotesk"/>
                <a:sym typeface="Space Grotesk"/>
              </a:rPr>
              <a:t>Take-home</a:t>
            </a:r>
            <a:endParaRPr b="0" i="0" sz="1500" u="none" cap="none" strike="noStrike">
              <a:solidFill>
                <a:srgbClr val="3D3947"/>
              </a:solidFill>
              <a:latin typeface="Calibri"/>
              <a:ea typeface="Calibri"/>
              <a:cs typeface="Calibri"/>
              <a:sym typeface="Calibri"/>
            </a:endParaRPr>
          </a:p>
        </p:txBody>
      </p:sp>
      <p:sp>
        <p:nvSpPr>
          <p:cNvPr id="330" name="Google Shape;330;p26"/>
          <p:cNvSpPr/>
          <p:nvPr/>
        </p:nvSpPr>
        <p:spPr>
          <a:xfrm>
            <a:off x="609600" y="2611213"/>
            <a:ext cx="2616300" cy="122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z="1100" u="none" cap="none" strike="noStrike">
                <a:solidFill>
                  <a:srgbClr val="3D3947"/>
                </a:solidFill>
                <a:latin typeface="Inter"/>
                <a:ea typeface="Inter"/>
                <a:cs typeface="Inter"/>
                <a:sym typeface="Inter"/>
              </a:rPr>
              <a:t>The exercises at the end of today's notebook. Submit on Brightspace within one week, by 11:59 PM.</a:t>
            </a:r>
            <a:endParaRPr b="0" i="0" sz="1100" u="none" cap="none" strike="noStrike">
              <a:solidFill>
                <a:srgbClr val="3D3947"/>
              </a:solidFill>
              <a:latin typeface="Calibri"/>
              <a:ea typeface="Calibri"/>
              <a:cs typeface="Calibri"/>
              <a:sym typeface="Calibri"/>
            </a:endParaRPr>
          </a:p>
        </p:txBody>
      </p:sp>
      <p:cxnSp>
        <p:nvCxnSpPr>
          <p:cNvPr id="331" name="Google Shape;331;p26"/>
          <p:cNvCxnSpPr/>
          <p:nvPr/>
        </p:nvCxnSpPr>
        <p:spPr>
          <a:xfrm>
            <a:off x="3301985"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32" name="Google Shape;332;p26"/>
          <p:cNvSpPr/>
          <p:nvPr/>
        </p:nvSpPr>
        <p:spPr>
          <a:xfrm>
            <a:off x="3301985"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z="1500" u="none" cap="none" strike="noStrike">
                <a:solidFill>
                  <a:srgbClr val="3D3947"/>
                </a:solidFill>
                <a:latin typeface="Space Grotesk"/>
                <a:ea typeface="Space Grotesk"/>
                <a:cs typeface="Space Grotesk"/>
                <a:sym typeface="Space Grotesk"/>
              </a:rPr>
              <a:t>Feedback form</a:t>
            </a:r>
            <a:endParaRPr b="0" i="0" sz="1500" u="none" cap="none" strike="noStrike">
              <a:solidFill>
                <a:srgbClr val="3D3947"/>
              </a:solidFill>
              <a:latin typeface="Calibri"/>
              <a:ea typeface="Calibri"/>
              <a:cs typeface="Calibri"/>
              <a:sym typeface="Calibri"/>
            </a:endParaRPr>
          </a:p>
        </p:txBody>
      </p:sp>
      <p:sp>
        <p:nvSpPr>
          <p:cNvPr id="333" name="Google Shape;333;p26"/>
          <p:cNvSpPr/>
          <p:nvPr/>
        </p:nvSpPr>
        <p:spPr>
          <a:xfrm>
            <a:off x="3301987" y="2611213"/>
            <a:ext cx="2616300" cy="830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z="1100" u="none" cap="none" strike="noStrike">
                <a:solidFill>
                  <a:srgbClr val="3D3947"/>
                </a:solidFill>
                <a:latin typeface="Inter"/>
                <a:ea typeface="Inter"/>
                <a:cs typeface="Inter"/>
                <a:sym typeface="Inter"/>
              </a:rPr>
              <a:t>Fill it out after today's session. It counts toward your credential.</a:t>
            </a:r>
            <a:endParaRPr b="0" i="0" sz="1100" u="none" cap="none" strike="noStrike">
              <a:solidFill>
                <a:srgbClr val="3D3947"/>
              </a:solidFill>
              <a:latin typeface="Calibri"/>
              <a:ea typeface="Calibri"/>
              <a:cs typeface="Calibri"/>
              <a:sym typeface="Calibri"/>
            </a:endParaRPr>
          </a:p>
        </p:txBody>
      </p:sp>
      <p:cxnSp>
        <p:nvCxnSpPr>
          <p:cNvPr id="334" name="Google Shape;334;p26"/>
          <p:cNvCxnSpPr/>
          <p:nvPr/>
        </p:nvCxnSpPr>
        <p:spPr>
          <a:xfrm>
            <a:off x="5994378"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35" name="Google Shape;335;p26"/>
          <p:cNvSpPr/>
          <p:nvPr/>
        </p:nvSpPr>
        <p:spPr>
          <a:xfrm>
            <a:off x="5994378"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z="1500" u="none" cap="none" strike="noStrike">
                <a:solidFill>
                  <a:srgbClr val="3D3947"/>
                </a:solidFill>
                <a:latin typeface="Space Grotesk"/>
                <a:ea typeface="Space Grotesk"/>
                <a:cs typeface="Space Grotesk"/>
                <a:sym typeface="Space Grotesk"/>
              </a:rPr>
              <a:t>Week </a:t>
            </a:r>
            <a:r>
              <a:rPr b="1" lang="en" sz="1500">
                <a:solidFill>
                  <a:srgbClr val="3D3947"/>
                </a:solidFill>
                <a:latin typeface="Space Grotesk"/>
                <a:ea typeface="Space Grotesk"/>
                <a:cs typeface="Space Grotesk"/>
                <a:sym typeface="Space Grotesk"/>
              </a:rPr>
              <a:t>3</a:t>
            </a:r>
            <a:r>
              <a:rPr b="1" i="0" lang="en" sz="1500" u="none" cap="none" strike="noStrike">
                <a:solidFill>
                  <a:srgbClr val="3D3947"/>
                </a:solidFill>
                <a:latin typeface="Space Grotesk"/>
                <a:ea typeface="Space Grotesk"/>
                <a:cs typeface="Space Grotesk"/>
                <a:sym typeface="Space Grotesk"/>
              </a:rPr>
              <a:t>: </a:t>
            </a:r>
            <a:r>
              <a:rPr b="1" lang="en" sz="1500">
                <a:solidFill>
                  <a:srgbClr val="3D3947"/>
                </a:solidFill>
                <a:latin typeface="Space Grotesk"/>
                <a:ea typeface="Space Grotesk"/>
                <a:cs typeface="Space Grotesk"/>
                <a:sym typeface="Space Grotesk"/>
              </a:rPr>
              <a:t>EDA and Data Exploration</a:t>
            </a:r>
            <a:endParaRPr b="0" i="0" sz="1500" u="none" cap="none" strike="noStrike">
              <a:solidFill>
                <a:srgbClr val="3D3947"/>
              </a:solidFill>
              <a:latin typeface="Calibri"/>
              <a:ea typeface="Calibri"/>
              <a:cs typeface="Calibri"/>
              <a:sym typeface="Calibri"/>
            </a:endParaRPr>
          </a:p>
        </p:txBody>
      </p:sp>
      <p:sp>
        <p:nvSpPr>
          <p:cNvPr id="336" name="Google Shape;336;p26"/>
          <p:cNvSpPr/>
          <p:nvPr/>
        </p:nvSpPr>
        <p:spPr>
          <a:xfrm>
            <a:off x="5994362" y="2870213"/>
            <a:ext cx="2616300" cy="122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lang="en" sz="1100">
                <a:solidFill>
                  <a:srgbClr val="3D3947"/>
                </a:solidFill>
                <a:latin typeface="Inter"/>
                <a:ea typeface="Inter"/>
                <a:cs typeface="Inter"/>
                <a:sym typeface="Inter"/>
              </a:rPr>
              <a:t>Work with datasets and explore trends and data stories. </a:t>
            </a:r>
            <a:endParaRPr b="0" i="0" sz="1100" u="none" cap="none" strike="noStrike">
              <a:solidFill>
                <a:srgbClr val="3D3947"/>
              </a:solidFill>
              <a:latin typeface="Calibri"/>
              <a:ea typeface="Calibri"/>
              <a:cs typeface="Calibri"/>
              <a:sym typeface="Calibri"/>
            </a:endParaRPr>
          </a:p>
        </p:txBody>
      </p:sp>
      <p:pic>
        <p:nvPicPr>
          <p:cNvPr id="337" name="Google Shape;337;p26" title="NYUTandon_LongLogo_Black.png"/>
          <p:cNvPicPr preferRelativeResize="0"/>
          <p:nvPr/>
        </p:nvPicPr>
        <p:blipFill>
          <a:blip r:embed="rId3">
            <a:alphaModFix/>
          </a:blip>
          <a:stretch>
            <a:fillRect/>
          </a:stretch>
        </p:blipFill>
        <p:spPr>
          <a:xfrm>
            <a:off x="118474" y="96475"/>
            <a:ext cx="1826033" cy="287100"/>
          </a:xfrm>
          <a:prstGeom prst="rect">
            <a:avLst/>
          </a:prstGeom>
          <a:noFill/>
          <a:ln>
            <a:noFill/>
          </a:ln>
        </p:spPr>
      </p:pic>
      <p:sp>
        <p:nvSpPr>
          <p:cNvPr id="338" name="Google Shape;338;p26"/>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z="700" u="none" cap="none" strike="noStrike">
                <a:solidFill>
                  <a:srgbClr val="625D6E"/>
                </a:solidFill>
                <a:latin typeface="Inter"/>
                <a:ea typeface="Inter"/>
                <a:cs typeface="Inter"/>
                <a:sym typeface="Inter"/>
              </a:rPr>
              <a:t>Data Science Bootcamp · Fall 2026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