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Inter"/>
      <p:regular r:id="rId19"/>
      <p:bold r:id="rId20"/>
      <p:italic r:id="rId21"/>
      <p:boldItalic r:id="rId22"/>
    </p:embeddedFont>
    <p:embeddedFont>
      <p:font typeface="Space Grotesk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663BB5B-1F75-4914-BAF3-0B5A235CCA2E}">
  <a:tblStyle styleId="{6663BB5B-1F75-4914-BAF3-0B5A235CCA2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11" Type="http://schemas.openxmlformats.org/officeDocument/2006/relationships/slide" Target="slides/slide4.xml"/><Relationship Id="rId22" Type="http://schemas.openxmlformats.org/officeDocument/2006/relationships/font" Target="fonts/Inter-boldItalic.fntdata"/><Relationship Id="rId10" Type="http://schemas.openxmlformats.org/officeDocument/2006/relationships/slide" Target="slides/slide3.xml"/><Relationship Id="rId21" Type="http://schemas.openxmlformats.org/officeDocument/2006/relationships/font" Target="fonts/Inter-italic.fntdata"/><Relationship Id="rId13" Type="http://schemas.openxmlformats.org/officeDocument/2006/relationships/slide" Target="slides/slide6.xml"/><Relationship Id="rId24" Type="http://schemas.openxmlformats.org/officeDocument/2006/relationships/font" Target="fonts/SpaceGrotesk-bold.fntdata"/><Relationship Id="rId12" Type="http://schemas.openxmlformats.org/officeDocument/2006/relationships/slide" Target="slides/slide5.xml"/><Relationship Id="rId23" Type="http://schemas.openxmlformats.org/officeDocument/2006/relationships/font" Target="fonts/SpaceGrotesk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font" Target="fonts/Inter-regular.fntdata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h4c515f6aea982df0_3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h4c515f6aea982df0_3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 everyone. Today has two halves: first, how the next nine weeks work; then we jump straight into Python using a dataset you all helped create.</a:t>
            </a:r>
            <a:endParaRPr/>
          </a:p>
        </p:txBody>
      </p:sp>
      <p:sp>
        <p:nvSpPr>
          <p:cNvPr id="55" name="Google Shape;55;h4c515f6aea982df0_3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4c515f6aea982df0_3_3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h4c515f6aea982df0_3_3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Same topic both days each week; you must stay in your chosen section. Highlighted rows are the two project presentation weeks. No sessions Thanksgiving week, but the team is available for questions and 1:1 coaching, so use that week for your project.</a:t>
            </a:r>
            <a:endParaRPr/>
          </a:p>
        </p:txBody>
      </p:sp>
      <p:sp>
        <p:nvSpPr>
          <p:cNvPr id="67" name="Google Shape;67;h4c515f6aea982df0_3_3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h4c515f6aea982df0_3_4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h4c515f6aea982df0_3_4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format varies a bit by topic, but this is the usual shape. Please ask questions out loud or in chat; active participation makes the sessions work.</a:t>
            </a:r>
            <a:endParaRPr/>
          </a:p>
        </p:txBody>
      </p:sp>
      <p:sp>
        <p:nvSpPr>
          <p:cNvPr id="76" name="Google Shape;76;h4c515f6aea982df0_3_4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4c515f6aea982df0_3_6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h4c515f6aea982df0_3_6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are the participation criteria from the syllabus. Attendance is tracked by how long you're logged in, so sign in with your NYU credentials. Group sign-up is due October 18.</a:t>
            </a:r>
            <a:endParaRPr/>
          </a:p>
        </p:txBody>
      </p:sp>
      <p:sp>
        <p:nvSpPr>
          <p:cNvPr id="105" name="Google Shape;105;h4c515f6aea982df0_3_6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4c515f6aea982df0_3_9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h4c515f6aea982df0_3_9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project is required. Full prompts and judging criteria are in the syllabus. The social on October 5 is the easiest place to find teammates. Mid-program feedback is there to help you revise before finals.</a:t>
            </a:r>
            <a:endParaRPr/>
          </a:p>
        </p:txBody>
      </p:sp>
      <p:sp>
        <p:nvSpPr>
          <p:cNvPr id="130" name="Google Shape;130;h4c515f6aea982df0_3_9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h4c515f6aea982df0_3_12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h4c515f6aea982df0_3_12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Coaching path in Handshake: Undergraduate/Graduate Students, then NYU Tandon Career Hub, then Technical Interview Prep Appointment. Discussion board hours are in the syllabus.</a:t>
            </a:r>
            <a:endParaRPr/>
          </a:p>
        </p:txBody>
      </p:sp>
      <p:sp>
        <p:nvSpPr>
          <p:cNvPr id="160" name="Google Shape;160;h4c515f6aea982df0_3_12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h4c515f6aea982df0_3_14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h4c515f6aea982df0_3_14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the Week 1 notebook in Colab and upload responses.csv from the Files panel. We'll run a full, if modest, exploratory data analysis using only the standard language, so nothing happens by magic.</a:t>
            </a:r>
            <a:endParaRPr/>
          </a:p>
        </p:txBody>
      </p:sp>
      <p:sp>
        <p:nvSpPr>
          <p:cNvPr id="186" name="Google Shape;186;h4c515f6aea982df0_3_14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h4c515f6aea982df0_3_1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h4c515f6aea982df0_3_1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quick portrait of the cohort, straight from your application forms. Roughly half of you are beginners and half intermediate, so expect a mix of review and new material. We'll compute several of these numbers ourselves in plain Python later today.</a:t>
            </a:r>
            <a:endParaRPr/>
          </a:p>
        </p:txBody>
      </p:sp>
      <p:sp>
        <p:nvSpPr>
          <p:cNvPr id="194" name="Google Shape;194;h4c515f6aea982df0_3_1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h4c515f6aea982df0_3_15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h4c515f6aea982df0_3_15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is the one skill all three roles share, which is why we start here.</a:t>
            </a:r>
            <a:endParaRPr/>
          </a:p>
        </p:txBody>
      </p:sp>
      <p:sp>
        <p:nvSpPr>
          <p:cNvPr id="216" name="Google Shape;216;h4c515f6aea982df0_3_15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h4c515f6aea982df0_3_18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h4c515f6aea982df0_3_18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mirrors the sections of the Week 1 notebook. We end by assembling everything into a one-page summary of the applicant pool.</a:t>
            </a:r>
            <a:endParaRPr/>
          </a:p>
        </p:txBody>
      </p:sp>
      <p:sp>
        <p:nvSpPr>
          <p:cNvPr id="249" name="Google Shape;249;h4c515f6aea982df0_3_18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h4c515f6aea982df0_3_19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h4c515f6aea982df0_3_19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Take-home exercises are at the end of the notebook, with an extended challenge for anyone who wants more. Week 2 is Oct 6 for Section 1 and Oct 8 for Section 2.</a:t>
            </a:r>
            <a:endParaRPr/>
          </a:p>
        </p:txBody>
      </p:sp>
      <p:sp>
        <p:nvSpPr>
          <p:cNvPr id="258" name="Google Shape;258;h4c515f6aea982df0_3_19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1B24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609594" y="1680953"/>
            <a:ext cx="29208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A93A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E8A93A"/>
                </a:solidFill>
                <a:latin typeface="Inter"/>
                <a:ea typeface="Inter"/>
                <a:cs typeface="Inter"/>
                <a:sym typeface="Inter"/>
              </a:rPr>
              <a:t>NYU TANDON CAREER HUB · FALL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609591" y="2039364"/>
            <a:ext cx="7358062" cy="659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4800"/>
              <a:buFont typeface="Space Grotesk"/>
              <a:buNone/>
            </a:pPr>
            <a:r>
              <a:rPr b="1" i="0" lang="en" sz="4800" u="none" cap="none" strike="noStrike">
                <a:solidFill>
                  <a:srgbClr val="F6F4EF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Science Bootcamp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609591" y="2831781"/>
            <a:ext cx="6376988" cy="291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9D3E4"/>
              </a:buClr>
              <a:buSzPts val="1700"/>
              <a:buFont typeface="Inter"/>
              <a:buNone/>
            </a:pPr>
            <a:r>
              <a:rPr b="0" i="0" lang="en" sz="1700" u="none" cap="none" strike="noStrike">
                <a:solidFill>
                  <a:srgbClr val="D9D3E4"/>
                </a:solidFill>
                <a:latin typeface="Inter"/>
                <a:ea typeface="Inter"/>
                <a:cs typeface="Inter"/>
                <a:sym typeface="Inter"/>
              </a:rPr>
              <a:t>Week 1 · Introduction to the Bootcamp &amp; Python Fundamentals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609604" y="4347275"/>
            <a:ext cx="2424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B2C4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B8B2C4"/>
                </a:solidFill>
                <a:latin typeface="Inter"/>
                <a:ea typeface="Inter"/>
                <a:cs typeface="Inter"/>
                <a:sym typeface="Inter"/>
              </a:rPr>
              <a:t>Instructor: </a:t>
            </a:r>
            <a:r>
              <a:rPr b="1" i="0" lang="en" sz="1100" u="none" cap="none" strike="noStrike">
                <a:solidFill>
                  <a:srgbClr val="B8B2C4"/>
                </a:solidFill>
                <a:latin typeface="Inter"/>
                <a:ea typeface="Inter"/>
                <a:cs typeface="Inter"/>
                <a:sym typeface="Inter"/>
              </a:rPr>
              <a:t>Angelin Jacob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3407779" y="4347275"/>
            <a:ext cx="1869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B2C4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B8B2C4"/>
                </a:solidFill>
                <a:latin typeface="Inter"/>
                <a:ea typeface="Inter"/>
                <a:cs typeface="Inter"/>
                <a:sym typeface="Inter"/>
              </a:rPr>
              <a:t>Section 1 · Tue 9/29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5665707" y="4347275"/>
            <a:ext cx="1845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B2C4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B8B2C4"/>
                </a:solidFill>
                <a:latin typeface="Inter"/>
                <a:ea typeface="Inter"/>
                <a:cs typeface="Inter"/>
                <a:sym typeface="Inter"/>
              </a:rPr>
              <a:t>Section 2 · Thu 10/1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15" title="NYUTandon_LongLogo_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50" y="103550"/>
            <a:ext cx="2061450" cy="32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609591" y="609591"/>
            <a:ext cx="8162564" cy="28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19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900"/>
              <a:buFont typeface="Space Grotesk"/>
              <a:buNone/>
            </a:pPr>
            <a:r>
              <a:rPr b="1" i="0" lang="en" sz="19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Nine weeks, two sections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0" name="Google Shape;70;p16"/>
          <p:cNvGraphicFramePr/>
          <p:nvPr/>
        </p:nvGraphicFramePr>
        <p:xfrm>
          <a:off x="618521" y="10771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{6663BB5B-1F75-4914-BAF3-0B5A235CCA2E}</a:tableStyleId>
              </a:tblPr>
              <a:tblGrid>
                <a:gridCol w="1978950"/>
                <a:gridCol w="1978950"/>
                <a:gridCol w="1978950"/>
                <a:gridCol w="1978950"/>
              </a:tblGrid>
              <a:tr h="24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b="1"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Week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b="1"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Topic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b="1"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Section 1 · Tue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b="1"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Section 2 · Thu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D"/>
                    </a:solidFill>
                  </a:tcPr>
                </a:tc>
              </a:tr>
              <a:tr h="366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2D8C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5A2D8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8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8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6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2D8C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5A2D8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Introduction to Bootcamp &amp; Python Fundamentals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BCB8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8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8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6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2D8C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5A2D8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9/29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BCB8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8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8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6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2D8C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5A2D8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10/1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BCB8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8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8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6F2"/>
                    </a:solidFill>
                  </a:tcPr>
                </a:tc>
              </a:tr>
              <a:tr h="24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8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NumPy &amp; Pandas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8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10/6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8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10/8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8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Exploratory Data Analysis &amp; Data Visualization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10/13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10/15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SQL Fundamentals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10/20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10/22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A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Mid-Program Project Presentations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A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10/27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A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10/29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AD2"/>
                    </a:solidFill>
                  </a:tcPr>
                </a:tc>
              </a:tr>
              <a:tr h="366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Machine Learning Fundamentals, Perceptron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11/3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11/5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Probability, Naive Bayes &amp; Linear Regression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11/10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11/12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Linear &amp; Logistic Regression, Bias–Variance Trade-off &amp; Gradient Descent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11/17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11/19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25D6E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625D6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–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25D6E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625D6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 sessions · Thanksgiving break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25D6E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625D6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–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25D6E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625D6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–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A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Final Project Presentations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A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12/1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A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12/3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AD2"/>
                    </a:solidFill>
                  </a:tcPr>
                </a:tc>
              </a:tr>
            </a:tbl>
          </a:graphicData>
        </a:graphic>
      </p:graphicFrame>
      <p:sp>
        <p:nvSpPr>
          <p:cNvPr id="71" name="Google Shape;71;p16"/>
          <p:cNvSpPr/>
          <p:nvPr/>
        </p:nvSpPr>
        <p:spPr>
          <a:xfrm>
            <a:off x="609591" y="4678691"/>
            <a:ext cx="5037590" cy="17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Stay with the section you registered for: Tue 11:00 AM–1:00 PM ET or Thu 1:00–3:00 PM 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8391627" y="4678691"/>
            <a:ext cx="180835" cy="17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/>
          <p:nvPr/>
        </p:nvSpPr>
        <p:spPr>
          <a:xfrm>
            <a:off x="609591" y="609591"/>
            <a:ext cx="8162564" cy="396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2700"/>
              <a:buFont typeface="Space Grotesk"/>
              <a:buNone/>
            </a:pPr>
            <a:r>
              <a:rPr b="1" i="0" lang="en" sz="27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How each session runs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611972" y="1710649"/>
            <a:ext cx="1488774" cy="1520307"/>
          </a:xfrm>
          <a:prstGeom prst="roundRect">
            <a:avLst>
              <a:gd fmla="val 6238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/>
          <p:nvPr/>
        </p:nvSpPr>
        <p:spPr>
          <a:xfrm>
            <a:off x="783999" y="1882676"/>
            <a:ext cx="1182821" cy="205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1100"/>
              <a:buFont typeface="Space Grotesk"/>
              <a:buNone/>
            </a:pPr>
            <a:r>
              <a:rPr b="1" i="0" lang="en" sz="1100" u="none" cap="none" strike="noStrike">
                <a:solidFill>
                  <a:srgbClr val="5A2D8C"/>
                </a:solidFill>
                <a:latin typeface="Space Grotesk"/>
                <a:ea typeface="Space Grotesk"/>
                <a:cs typeface="Space Grotesk"/>
                <a:sym typeface="Space Grotesk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783999" y="2145497"/>
            <a:ext cx="1182821" cy="216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400"/>
              <a:buFont typeface="Space Grotesk"/>
              <a:buNone/>
            </a:pPr>
            <a:r>
              <a:rPr b="1" i="0" lang="en" sz="14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Lecture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783999" y="2418782"/>
            <a:ext cx="1182821" cy="659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D3947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3D3947"/>
                </a:solidFill>
                <a:latin typeface="Inter"/>
                <a:ea typeface="Inter"/>
                <a:cs typeface="Inter"/>
                <a:sym typeface="Inter"/>
              </a:rPr>
              <a:t>Concepts and examples through slides and Jupyter notebooks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19781" y="1710649"/>
            <a:ext cx="1488820" cy="1520307"/>
          </a:xfrm>
          <a:prstGeom prst="roundRect">
            <a:avLst>
              <a:gd fmla="val 6238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/>
          <p:nvPr/>
        </p:nvSpPr>
        <p:spPr>
          <a:xfrm>
            <a:off x="2391808" y="1882676"/>
            <a:ext cx="1182867" cy="205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1100"/>
              <a:buFont typeface="Space Grotesk"/>
              <a:buNone/>
            </a:pPr>
            <a:r>
              <a:rPr b="1" i="0" lang="en" sz="1100" u="none" cap="none" strike="noStrike">
                <a:solidFill>
                  <a:srgbClr val="5A2D8C"/>
                </a:solidFill>
                <a:latin typeface="Space Grotesk"/>
                <a:ea typeface="Space Grotesk"/>
                <a:cs typeface="Space Grotesk"/>
                <a:sym typeface="Space Grotesk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2391808" y="2145497"/>
            <a:ext cx="1182867" cy="216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400"/>
              <a:buFont typeface="Space Grotesk"/>
              <a:buNone/>
            </a:pPr>
            <a:r>
              <a:rPr b="1" i="0" lang="en" sz="14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Hands-on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2391808" y="2418782"/>
            <a:ext cx="1182867" cy="659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D3947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3D3947"/>
                </a:solidFill>
                <a:latin typeface="Inter"/>
                <a:ea typeface="Inter"/>
                <a:cs typeface="Inter"/>
                <a:sym typeface="Inter"/>
              </a:rPr>
              <a:t>Apply it right away: real datasets, Python, analysis and visualization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3827636" y="1710649"/>
            <a:ext cx="1488774" cy="1520307"/>
          </a:xfrm>
          <a:prstGeom prst="roundRect">
            <a:avLst>
              <a:gd fmla="val 6238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3999663" y="1882676"/>
            <a:ext cx="1182821" cy="205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1100"/>
              <a:buFont typeface="Space Grotesk"/>
              <a:buNone/>
            </a:pPr>
            <a:r>
              <a:rPr b="1" i="0" lang="en" sz="1100" u="none" cap="none" strike="noStrike">
                <a:solidFill>
                  <a:srgbClr val="5A2D8C"/>
                </a:solidFill>
                <a:latin typeface="Space Grotesk"/>
                <a:ea typeface="Space Grotesk"/>
                <a:cs typeface="Space Grotesk"/>
                <a:sym typeface="Space Grotesk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3999663" y="2145497"/>
            <a:ext cx="1182821" cy="216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400"/>
              <a:buFont typeface="Space Grotesk"/>
              <a:buNone/>
            </a:pPr>
            <a:r>
              <a:rPr b="1" i="0" lang="en" sz="14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Q&amp;A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3999663" y="2418782"/>
            <a:ext cx="1182821" cy="659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D3947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3D3947"/>
                </a:solidFill>
                <a:latin typeface="Inter"/>
                <a:ea typeface="Inter"/>
                <a:cs typeface="Inter"/>
                <a:sym typeface="Inter"/>
              </a:rPr>
              <a:t>Ask anything, anytime. The more you ask, the more you learn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5435445" y="1710649"/>
            <a:ext cx="1488774" cy="1520307"/>
          </a:xfrm>
          <a:prstGeom prst="roundRect">
            <a:avLst>
              <a:gd fmla="val 6238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5607472" y="1882676"/>
            <a:ext cx="1182821" cy="205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1100"/>
              <a:buFont typeface="Space Grotesk"/>
              <a:buNone/>
            </a:pPr>
            <a:r>
              <a:rPr b="1" i="0" lang="en" sz="1100" u="none" cap="none" strike="noStrike">
                <a:solidFill>
                  <a:srgbClr val="5A2D8C"/>
                </a:solidFill>
                <a:latin typeface="Space Grotesk"/>
                <a:ea typeface="Space Grotesk"/>
                <a:cs typeface="Space Grotesk"/>
                <a:sym typeface="Space Grotesk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5607472" y="2145497"/>
            <a:ext cx="1182821" cy="216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400"/>
              <a:buFont typeface="Space Grotesk"/>
              <a:buNone/>
            </a:pPr>
            <a:r>
              <a:rPr b="1" i="0" lang="en" sz="14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Take-home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5607472" y="2418782"/>
            <a:ext cx="1182821" cy="4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D3947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3D3947"/>
                </a:solidFill>
                <a:latin typeface="Inter"/>
                <a:ea typeface="Inter"/>
                <a:cs typeface="Inter"/>
                <a:sym typeface="Inter"/>
              </a:rPr>
              <a:t>Weekly problems on the topic, due one week later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7043254" y="1710649"/>
            <a:ext cx="1488774" cy="1520307"/>
          </a:xfrm>
          <a:prstGeom prst="roundRect">
            <a:avLst>
              <a:gd fmla="val 6238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7215280" y="1882676"/>
            <a:ext cx="1182821" cy="205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1100"/>
              <a:buFont typeface="Space Grotesk"/>
              <a:buNone/>
            </a:pPr>
            <a:r>
              <a:rPr b="1" i="0" lang="en" sz="1100" u="none" cap="none" strike="noStrike">
                <a:solidFill>
                  <a:srgbClr val="5A2D8C"/>
                </a:solidFill>
                <a:latin typeface="Space Grotesk"/>
                <a:ea typeface="Space Grotesk"/>
                <a:cs typeface="Space Grotesk"/>
                <a:sym typeface="Space Grotesk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7215280" y="2145497"/>
            <a:ext cx="1182821" cy="216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400"/>
              <a:buFont typeface="Space Grotesk"/>
              <a:buNone/>
            </a:pPr>
            <a:r>
              <a:rPr b="1" i="0" lang="en" sz="14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Breaks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7215280" y="2418782"/>
            <a:ext cx="1182821" cy="4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D3947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3D3947"/>
                </a:solidFill>
                <a:latin typeface="Inter"/>
                <a:ea typeface="Inter"/>
                <a:cs typeface="Inter"/>
                <a:sym typeface="Inter"/>
              </a:rPr>
              <a:t>Several short breaks through each two-hour session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609591" y="3954828"/>
            <a:ext cx="6376988" cy="445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200"/>
              <a:buFont typeface="Inter"/>
              <a:buNone/>
            </a:pPr>
            <a:r>
              <a:rPr b="0" i="0" lang="en" sz="12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The goal every week: theory plus practice you can apply to </a:t>
            </a:r>
            <a:r>
              <a:rPr b="1" i="0" lang="en" sz="12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real-world data science projects</a:t>
            </a:r>
            <a:r>
              <a:rPr b="0" i="0" lang="en" sz="12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609591" y="4678691"/>
            <a:ext cx="1947108" cy="17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Data Science Bootcamp · Fall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8388419" y="4678691"/>
            <a:ext cx="184045" cy="17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/>
          <p:nvPr/>
        </p:nvSpPr>
        <p:spPr>
          <a:xfrm>
            <a:off x="609591" y="609591"/>
            <a:ext cx="8162564" cy="396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2700"/>
              <a:buFont typeface="Space Grotesk"/>
              <a:buNone/>
            </a:pPr>
            <a:r>
              <a:rPr b="1" i="0" lang="en" sz="27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Earning the digital credential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609591" y="1139140"/>
            <a:ext cx="8162564" cy="205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A verifiable Accredible badge you can share on LinkedIn, once you meet all five: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18"/>
          <p:cNvCxnSpPr/>
          <p:nvPr/>
        </p:nvCxnSpPr>
        <p:spPr>
          <a:xfrm>
            <a:off x="609591" y="1482905"/>
            <a:ext cx="7924819" cy="0"/>
          </a:xfrm>
          <a:prstGeom prst="straightConnector1">
            <a:avLst/>
          </a:prstGeom>
          <a:noFill/>
          <a:ln cap="flat" cmpd="sng" w="12700">
            <a:solidFill>
              <a:srgbClr val="1D1B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p18"/>
          <p:cNvSpPr/>
          <p:nvPr/>
        </p:nvSpPr>
        <p:spPr>
          <a:xfrm>
            <a:off x="609591" y="1563254"/>
            <a:ext cx="2550795" cy="353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5A2D8C"/>
                </a:solidFill>
                <a:latin typeface="Inter"/>
                <a:ea typeface="Inter"/>
                <a:cs typeface="Inter"/>
                <a:sym typeface="Inter"/>
              </a:rPr>
              <a:t>Attend 7+ live sessions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3238453" y="1563254"/>
            <a:ext cx="5454835" cy="353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Attendance is logged by time on Zoom. Arriving late or leaving early needs prior approval by email, or it counts as absent.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18"/>
          <p:cNvCxnSpPr/>
          <p:nvPr/>
        </p:nvCxnSpPr>
        <p:spPr>
          <a:xfrm>
            <a:off x="609591" y="1976028"/>
            <a:ext cx="7924819" cy="0"/>
          </a:xfrm>
          <a:prstGeom prst="straightConnector1">
            <a:avLst/>
          </a:prstGeom>
          <a:noFill/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p18"/>
          <p:cNvSpPr/>
          <p:nvPr/>
        </p:nvSpPr>
        <p:spPr>
          <a:xfrm>
            <a:off x="609591" y="2052805"/>
            <a:ext cx="2550795" cy="211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5A2D8C"/>
                </a:solidFill>
                <a:latin typeface="Inter"/>
                <a:ea typeface="Inter"/>
                <a:cs typeface="Inter"/>
                <a:sym typeface="Inter"/>
              </a:rPr>
              <a:t>Submit every take-home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3238453" y="2052805"/>
            <a:ext cx="5454835" cy="211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On Brightspace, due one week after it's assigned, by 11:59 PM on your section's day.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18"/>
          <p:cNvCxnSpPr/>
          <p:nvPr/>
        </p:nvCxnSpPr>
        <p:spPr>
          <a:xfrm>
            <a:off x="609591" y="2324240"/>
            <a:ext cx="7924819" cy="0"/>
          </a:xfrm>
          <a:prstGeom prst="straightConnector1">
            <a:avLst/>
          </a:prstGeom>
          <a:noFill/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18"/>
          <p:cNvSpPr/>
          <p:nvPr/>
        </p:nvSpPr>
        <p:spPr>
          <a:xfrm>
            <a:off x="609591" y="2401016"/>
            <a:ext cx="2550795" cy="211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5A2D8C"/>
                </a:solidFill>
                <a:latin typeface="Inter"/>
                <a:ea typeface="Inter"/>
                <a:cs typeface="Inter"/>
                <a:sym typeface="Inter"/>
              </a:rPr>
              <a:t>Send weekly feedback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3238453" y="2401016"/>
            <a:ext cx="5454835" cy="211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Fill out the teaching section feedback form after each session.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18"/>
          <p:cNvCxnSpPr/>
          <p:nvPr/>
        </p:nvCxnSpPr>
        <p:spPr>
          <a:xfrm>
            <a:off x="609591" y="2672451"/>
            <a:ext cx="7924819" cy="0"/>
          </a:xfrm>
          <a:prstGeom prst="straightConnector1">
            <a:avLst/>
          </a:prstGeom>
          <a:noFill/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18"/>
          <p:cNvSpPr/>
          <p:nvPr/>
        </p:nvSpPr>
        <p:spPr>
          <a:xfrm>
            <a:off x="609591" y="2749228"/>
            <a:ext cx="2550795" cy="211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5A2D8C"/>
                </a:solidFill>
                <a:latin typeface="Inter"/>
                <a:ea typeface="Inter"/>
                <a:cs typeface="Inter"/>
                <a:sym typeface="Inter"/>
              </a:rPr>
              <a:t>Form a project group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3238453" y="2749228"/>
            <a:ext cx="5454835" cy="211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3–4 members. Submit names and your chosen prompt by </a:t>
            </a:r>
            <a:r>
              <a:rPr b="1" i="0" lang="en" sz="10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Sunday, Oct 18, 11:59 PM</a:t>
            </a:r>
            <a:r>
              <a:rPr b="0" i="0" lang="en" sz="10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18"/>
          <p:cNvCxnSpPr/>
          <p:nvPr/>
        </p:nvCxnSpPr>
        <p:spPr>
          <a:xfrm>
            <a:off x="609591" y="3020663"/>
            <a:ext cx="7924819" cy="0"/>
          </a:xfrm>
          <a:prstGeom prst="straightConnector1">
            <a:avLst/>
          </a:prstGeom>
          <a:noFill/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18"/>
          <p:cNvCxnSpPr/>
          <p:nvPr/>
        </p:nvCxnSpPr>
        <p:spPr>
          <a:xfrm>
            <a:off x="609591" y="3367088"/>
            <a:ext cx="7924819" cy="0"/>
          </a:xfrm>
          <a:prstGeom prst="straightConnector1">
            <a:avLst/>
          </a:prstGeom>
          <a:noFill/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18"/>
          <p:cNvSpPr/>
          <p:nvPr/>
        </p:nvSpPr>
        <p:spPr>
          <a:xfrm>
            <a:off x="609591" y="3097439"/>
            <a:ext cx="2550795" cy="211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5A2D8C"/>
                </a:solidFill>
                <a:latin typeface="Inter"/>
                <a:ea typeface="Inter"/>
                <a:cs typeface="Inter"/>
                <a:sym typeface="Inter"/>
              </a:rPr>
              <a:t>Present twice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3238453" y="3097439"/>
            <a:ext cx="5454835" cy="211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Mid-program on Oct 27/29 and final on Dec 1/3, with every group member present.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609591" y="4678691"/>
            <a:ext cx="5921995" cy="17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Missed a class? Assignments are still due on time. Need more time? Email datasciencebootcamp@nyu.edu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8394418" y="4678691"/>
            <a:ext cx="178045" cy="17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/>
          <p:nvPr/>
        </p:nvSpPr>
        <p:spPr>
          <a:xfrm>
            <a:off x="609591" y="609591"/>
            <a:ext cx="8162564" cy="396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2700"/>
              <a:buFont typeface="Space Grotesk"/>
              <a:buNone/>
            </a:pPr>
            <a:r>
              <a:rPr b="1" i="0" lang="en" sz="27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project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609591" y="1215368"/>
            <a:ext cx="4214407" cy="619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Groups of 3–4 pick one real-world prompt and present their work to industry professionals. Prizes go to the winning group.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611972" y="1970075"/>
            <a:ext cx="1993441" cy="625060"/>
          </a:xfrm>
          <a:prstGeom prst="roundRect">
            <a:avLst>
              <a:gd fmla="val 11810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9"/>
          <p:cNvSpPr/>
          <p:nvPr/>
        </p:nvSpPr>
        <p:spPr>
          <a:xfrm>
            <a:off x="745908" y="2104011"/>
            <a:ext cx="1777336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100"/>
              <a:buFont typeface="Space Grotesk"/>
              <a:buNone/>
            </a:pPr>
            <a:r>
              <a:rPr b="1" i="0" lang="en" sz="11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Visualization with Air Quality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2705425" y="1970075"/>
            <a:ext cx="1993441" cy="625060"/>
          </a:xfrm>
          <a:prstGeom prst="roundRect">
            <a:avLst>
              <a:gd fmla="val 11810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9"/>
          <p:cNvSpPr/>
          <p:nvPr/>
        </p:nvSpPr>
        <p:spPr>
          <a:xfrm>
            <a:off x="2839361" y="2104011"/>
            <a:ext cx="1777336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100"/>
              <a:buFont typeface="Space Grotesk"/>
              <a:buNone/>
            </a:pPr>
            <a:r>
              <a:rPr b="1" i="0" lang="en" sz="11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Sentiment Analysis of Social Media Content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611972" y="2695147"/>
            <a:ext cx="1993441" cy="625060"/>
          </a:xfrm>
          <a:prstGeom prst="roundRect">
            <a:avLst>
              <a:gd fmla="val 11810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9"/>
          <p:cNvSpPr/>
          <p:nvPr/>
        </p:nvSpPr>
        <p:spPr>
          <a:xfrm>
            <a:off x="745908" y="2829083"/>
            <a:ext cx="1777336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100"/>
              <a:buFont typeface="Space Grotesk"/>
              <a:buNone/>
            </a:pPr>
            <a:r>
              <a:rPr b="1" i="0" lang="en" sz="11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Movie Recommendation System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2705425" y="2695147"/>
            <a:ext cx="1993441" cy="625060"/>
          </a:xfrm>
          <a:prstGeom prst="roundRect">
            <a:avLst>
              <a:gd fmla="val 11810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9"/>
          <p:cNvSpPr/>
          <p:nvPr/>
        </p:nvSpPr>
        <p:spPr>
          <a:xfrm>
            <a:off x="2839361" y="2829083"/>
            <a:ext cx="1777336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100"/>
              <a:buFont typeface="Space Grotesk"/>
              <a:buNone/>
            </a:pPr>
            <a:r>
              <a:rPr b="1" i="0" lang="en" sz="11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Finance &amp; Economics Time-Series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5006020" y="1215368"/>
            <a:ext cx="3528389" cy="2945913"/>
          </a:xfrm>
          <a:prstGeom prst="roundRect">
            <a:avLst>
              <a:gd fmla="val 3233" name="adj"/>
            </a:avLst>
          </a:prstGeom>
          <a:solidFill>
            <a:srgbClr val="1D1B2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9"/>
          <p:cNvSpPr/>
          <p:nvPr/>
        </p:nvSpPr>
        <p:spPr>
          <a:xfrm>
            <a:off x="5196520" y="1405868"/>
            <a:ext cx="3241811" cy="17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A93A"/>
              </a:buClr>
              <a:buSzPts val="900"/>
              <a:buFont typeface="Inter"/>
              <a:buNone/>
            </a:pPr>
            <a:r>
              <a:rPr b="1" i="0" lang="en" sz="900" u="none" cap="none" strike="noStrike">
                <a:solidFill>
                  <a:srgbClr val="E8A93A"/>
                </a:solidFill>
                <a:latin typeface="Inter"/>
                <a:ea typeface="Inter"/>
                <a:cs typeface="Inter"/>
                <a:sym typeface="Inter"/>
              </a:rPr>
              <a:t>KEY DATES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19"/>
          <p:cNvCxnSpPr/>
          <p:nvPr/>
        </p:nvCxnSpPr>
        <p:spPr>
          <a:xfrm>
            <a:off x="5196520" y="2189299"/>
            <a:ext cx="3147389" cy="0"/>
          </a:xfrm>
          <a:prstGeom prst="straightConnector1">
            <a:avLst/>
          </a:prstGeom>
          <a:noFill/>
          <a:ln cap="flat" cmpd="sng" w="9525">
            <a:solidFill>
              <a:srgbClr val="3D39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19"/>
          <p:cNvSpPr/>
          <p:nvPr/>
        </p:nvSpPr>
        <p:spPr>
          <a:xfrm>
            <a:off x="5196520" y="1661155"/>
            <a:ext cx="3241811" cy="259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400"/>
              <a:buFont typeface="Space Grotesk"/>
              <a:buNone/>
            </a:pPr>
            <a:r>
              <a:rPr b="1" i="0" lang="en" sz="1400" u="none" cap="none" strike="noStrike">
                <a:solidFill>
                  <a:srgbClr val="F6F4EF"/>
                </a:solidFill>
                <a:latin typeface="Space Grotesk"/>
                <a:ea typeface="Space Grotesk"/>
                <a:cs typeface="Space Grotesk"/>
                <a:sym typeface="Space Grotesk"/>
              </a:rPr>
              <a:t>Mon, Oct 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5196520" y="1920162"/>
            <a:ext cx="3241811" cy="192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D3E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D9D3E4"/>
                </a:solidFill>
                <a:latin typeface="Inter"/>
                <a:ea typeface="Inter"/>
                <a:cs typeface="Inter"/>
                <a:sym typeface="Inter"/>
              </a:rPr>
              <a:t>Bootcamp social: meet people, form groups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p19"/>
          <p:cNvCxnSpPr/>
          <p:nvPr/>
        </p:nvCxnSpPr>
        <p:spPr>
          <a:xfrm>
            <a:off x="5196520" y="2815075"/>
            <a:ext cx="3147389" cy="0"/>
          </a:xfrm>
          <a:prstGeom prst="straightConnector1">
            <a:avLst/>
          </a:prstGeom>
          <a:noFill/>
          <a:ln cap="flat" cmpd="sng" w="9525">
            <a:solidFill>
              <a:srgbClr val="3D39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" name="Google Shape;148;p19"/>
          <p:cNvSpPr/>
          <p:nvPr/>
        </p:nvSpPr>
        <p:spPr>
          <a:xfrm>
            <a:off x="5196520" y="2286930"/>
            <a:ext cx="3241811" cy="259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400"/>
              <a:buFont typeface="Space Grotesk"/>
              <a:buNone/>
            </a:pPr>
            <a:r>
              <a:rPr b="1" i="0" lang="en" sz="1400" u="none" cap="none" strike="noStrike">
                <a:solidFill>
                  <a:srgbClr val="F6F4EF"/>
                </a:solidFill>
                <a:latin typeface="Space Grotesk"/>
                <a:ea typeface="Space Grotesk"/>
                <a:cs typeface="Space Grotesk"/>
                <a:sym typeface="Space Grotesk"/>
              </a:rPr>
              <a:t>Sun, Oct 18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5196520" y="2545937"/>
            <a:ext cx="3241811" cy="192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D3E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D9D3E4"/>
                </a:solidFill>
                <a:latin typeface="Inter"/>
                <a:ea typeface="Inter"/>
                <a:cs typeface="Inter"/>
                <a:sym typeface="Inter"/>
              </a:rPr>
              <a:t>Group names and prompt due, 11:59 PM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>
            <a:off x="5196520" y="3440851"/>
            <a:ext cx="3147389" cy="0"/>
          </a:xfrm>
          <a:prstGeom prst="straightConnector1">
            <a:avLst/>
          </a:prstGeom>
          <a:noFill/>
          <a:ln cap="flat" cmpd="sng" w="9525">
            <a:solidFill>
              <a:srgbClr val="3D39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19"/>
          <p:cNvSpPr/>
          <p:nvPr/>
        </p:nvSpPr>
        <p:spPr>
          <a:xfrm>
            <a:off x="5196520" y="2912706"/>
            <a:ext cx="3241811" cy="259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400"/>
              <a:buFont typeface="Space Grotesk"/>
              <a:buNone/>
            </a:pPr>
            <a:r>
              <a:rPr b="1" i="0" lang="en" sz="1400" u="none" cap="none" strike="noStrike">
                <a:solidFill>
                  <a:srgbClr val="F6F4EF"/>
                </a:solidFill>
                <a:latin typeface="Space Grotesk"/>
                <a:ea typeface="Space Grotesk"/>
                <a:cs typeface="Space Grotesk"/>
                <a:sym typeface="Space Grotesk"/>
              </a:rPr>
              <a:t>Oct 27 / 29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5196520" y="3171713"/>
            <a:ext cx="3241811" cy="192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D3E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D9D3E4"/>
                </a:solidFill>
                <a:latin typeface="Inter"/>
                <a:ea typeface="Inter"/>
                <a:cs typeface="Inter"/>
                <a:sym typeface="Inter"/>
              </a:rPr>
              <a:t>Mid-program presentation and feedback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5196520" y="3538482"/>
            <a:ext cx="3241811" cy="259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400"/>
              <a:buFont typeface="Space Grotesk"/>
              <a:buNone/>
            </a:pPr>
            <a:r>
              <a:rPr b="1" i="0" lang="en" sz="1400" u="none" cap="none" strike="noStrike">
                <a:solidFill>
                  <a:srgbClr val="F6F4E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Dec 1 / 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5196520" y="3797489"/>
            <a:ext cx="3241811" cy="192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D3E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D9D3E4"/>
                </a:solidFill>
                <a:latin typeface="Inter"/>
                <a:ea typeface="Inter"/>
                <a:cs typeface="Inter"/>
                <a:sym typeface="Inter"/>
              </a:rPr>
              <a:t>Final presentation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609591" y="4678691"/>
            <a:ext cx="3279463" cy="17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Present on the date that matches your section (Tue or Thu)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8391348" y="4678691"/>
            <a:ext cx="181115" cy="17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/>
          <p:nvPr/>
        </p:nvSpPr>
        <p:spPr>
          <a:xfrm>
            <a:off x="609591" y="609591"/>
            <a:ext cx="8162564" cy="396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2700"/>
              <a:buFont typeface="Space Grotesk"/>
              <a:buNone/>
            </a:pPr>
            <a:r>
              <a:rPr b="1" i="0" lang="en" sz="27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Where things live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611972" y="1217749"/>
            <a:ext cx="2560662" cy="1164887"/>
          </a:xfrm>
          <a:prstGeom prst="roundRect">
            <a:avLst>
              <a:gd fmla="val 7972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0"/>
          <p:cNvSpPr/>
          <p:nvPr/>
        </p:nvSpPr>
        <p:spPr>
          <a:xfrm>
            <a:off x="803067" y="1408844"/>
            <a:ext cx="2243826" cy="224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1400"/>
              <a:buFont typeface="Space Grotesk"/>
              <a:buNone/>
            </a:pPr>
            <a:r>
              <a:rPr b="1" i="0" lang="en" sz="1400" u="none" cap="none" strike="noStrike">
                <a:solidFill>
                  <a:srgbClr val="5A2D8C"/>
                </a:solidFill>
                <a:latin typeface="Space Grotesk"/>
                <a:ea typeface="Space Grotesk"/>
                <a:cs typeface="Space Grotesk"/>
                <a:sym typeface="Space Grotesk"/>
              </a:rPr>
              <a:t>Zoom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803067" y="1671665"/>
            <a:ext cx="2243826" cy="538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All sessions are virtual. Log in with your NYU credentials so attendance counts.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3291669" y="1217749"/>
            <a:ext cx="2560662" cy="1164887"/>
          </a:xfrm>
          <a:prstGeom prst="roundRect">
            <a:avLst>
              <a:gd fmla="val 7972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0"/>
          <p:cNvSpPr/>
          <p:nvPr/>
        </p:nvSpPr>
        <p:spPr>
          <a:xfrm>
            <a:off x="3482765" y="1408844"/>
            <a:ext cx="2243826" cy="224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1400"/>
              <a:buFont typeface="Space Grotesk"/>
              <a:buNone/>
            </a:pPr>
            <a:r>
              <a:rPr b="1" i="0" lang="en" sz="1400" u="none" cap="none" strike="noStrike">
                <a:solidFill>
                  <a:srgbClr val="5A2D8C"/>
                </a:solidFill>
                <a:latin typeface="Space Grotesk"/>
                <a:ea typeface="Space Grotesk"/>
                <a:cs typeface="Space Grotesk"/>
                <a:sym typeface="Space Grotesk"/>
              </a:rPr>
              <a:t>Brightspace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3482765" y="1671665"/>
            <a:ext cx="2243826" cy="538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Assignments, submissions and the discussion board, monitored Monday to Thursday.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5971366" y="1217749"/>
            <a:ext cx="2560662" cy="1164887"/>
          </a:xfrm>
          <a:prstGeom prst="roundRect">
            <a:avLst>
              <a:gd fmla="val 7972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0"/>
          <p:cNvSpPr/>
          <p:nvPr/>
        </p:nvSpPr>
        <p:spPr>
          <a:xfrm>
            <a:off x="6162461" y="1408844"/>
            <a:ext cx="2243826" cy="224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1400"/>
              <a:buFont typeface="Space Grotesk"/>
              <a:buNone/>
            </a:pPr>
            <a:r>
              <a:rPr b="1" i="0" lang="en" sz="1400" u="none" cap="none" strike="noStrike">
                <a:solidFill>
                  <a:srgbClr val="5A2D8C"/>
                </a:solidFill>
                <a:latin typeface="Space Grotesk"/>
                <a:ea typeface="Space Grotesk"/>
                <a:cs typeface="Space Grotesk"/>
                <a:sym typeface="Space Grotesk"/>
              </a:rPr>
              <a:t>GitHub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6162461" y="1671665"/>
            <a:ext cx="2243826" cy="365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Slides and Colab notebooks for every session.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611972" y="2501671"/>
            <a:ext cx="2560662" cy="1164887"/>
          </a:xfrm>
          <a:prstGeom prst="roundRect">
            <a:avLst>
              <a:gd fmla="val 7972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803067" y="2692766"/>
            <a:ext cx="2243826" cy="224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1400"/>
              <a:buFont typeface="Space Grotesk"/>
              <a:buNone/>
            </a:pPr>
            <a:r>
              <a:rPr b="1" i="0" lang="en" sz="1400" u="none" cap="none" strike="noStrike">
                <a:solidFill>
                  <a:srgbClr val="5A2D8C"/>
                </a:solidFill>
                <a:latin typeface="Space Grotesk"/>
                <a:ea typeface="Space Grotesk"/>
                <a:cs typeface="Space Grotesk"/>
                <a:sym typeface="Space Grotesk"/>
              </a:rPr>
              <a:t>Email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803067" y="2955587"/>
            <a:ext cx="2243826" cy="538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datasciencebootcamp@nyu.edu for questions, extensions and attendance approvals.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3291669" y="2501671"/>
            <a:ext cx="2560662" cy="1164887"/>
          </a:xfrm>
          <a:prstGeom prst="roundRect">
            <a:avLst>
              <a:gd fmla="val 7972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3482765" y="2692766"/>
            <a:ext cx="2243826" cy="224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1400"/>
              <a:buFont typeface="Space Grotesk"/>
              <a:buNone/>
            </a:pPr>
            <a:r>
              <a:rPr b="1" i="0" lang="en" sz="1400" u="none" cap="none" strike="noStrike">
                <a:solidFill>
                  <a:srgbClr val="5A2D8C"/>
                </a:solidFill>
                <a:latin typeface="Space Grotesk"/>
                <a:ea typeface="Space Grotesk"/>
                <a:cs typeface="Space Grotesk"/>
                <a:sym typeface="Space Grotesk"/>
              </a:rPr>
              <a:t>1:1 coaching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3482765" y="2955587"/>
            <a:ext cx="2243826" cy="538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Optional 30-minute technical interview prep. Book it through Handshake.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5968985" y="2499290"/>
            <a:ext cx="2565424" cy="1169650"/>
          </a:xfrm>
          <a:prstGeom prst="roundRect">
            <a:avLst>
              <a:gd fmla="val 8143" name="adj"/>
            </a:avLst>
          </a:prstGeom>
          <a:solidFill>
            <a:srgbClr val="1D1B2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6159485" y="2689790"/>
            <a:ext cx="2249957" cy="224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93A"/>
              </a:buClr>
              <a:buSzPts val="1400"/>
              <a:buFont typeface="Space Grotesk"/>
              <a:buNone/>
            </a:pPr>
            <a:r>
              <a:rPr b="1" i="0" lang="en" sz="1400" u="none" cap="none" strike="noStrike">
                <a:solidFill>
                  <a:srgbClr val="E8A93A"/>
                </a:solidFill>
                <a:latin typeface="Space Grotesk"/>
                <a:ea typeface="Space Grotesk"/>
                <a:cs typeface="Space Grotesk"/>
                <a:sym typeface="Space Grotesk"/>
              </a:rPr>
              <a:t>Bootcamp social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6159485" y="2952611"/>
            <a:ext cx="2249957" cy="538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F6F4EF"/>
                </a:solidFill>
                <a:latin typeface="Inter"/>
                <a:ea typeface="Inter"/>
                <a:cs typeface="Inter"/>
                <a:sym typeface="Inter"/>
              </a:rPr>
              <a:t>Mon, Oct 5, 3–5 PM · 2 MetroTech Center, Room 1054. Drinks, snacks, teammates.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609591" y="4678691"/>
            <a:ext cx="5753085" cy="17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Run by the Tandon Career Hub · Staff: Emily Yeager · Admin: Khushi Agarwal · Instructor: Angelin Jacob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8399766" y="4678691"/>
            <a:ext cx="172696" cy="17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A2D8C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/>
          <p:nvPr/>
        </p:nvSpPr>
        <p:spPr>
          <a:xfrm>
            <a:off x="609591" y="1453586"/>
            <a:ext cx="8162564" cy="205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C46B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F2C46B"/>
                </a:solidFill>
                <a:latin typeface="Inter"/>
                <a:ea typeface="Inter"/>
                <a:cs typeface="Inter"/>
                <a:sym typeface="Inter"/>
              </a:rPr>
              <a:t>PART 2 · PYTHON FUNDAMENTALS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609591" y="1830725"/>
            <a:ext cx="7358062" cy="1024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3600"/>
              <a:buFont typeface="Space Grotesk"/>
              <a:buNone/>
            </a:pPr>
            <a:r>
              <a:rPr b="1" i="0" lang="en" sz="3600" u="none" cap="none" strike="noStrike">
                <a:solidFill>
                  <a:srgbClr val="F6F4EF"/>
                </a:solidFill>
                <a:latin typeface="Space Grotesk"/>
                <a:ea typeface="Space Grotesk"/>
                <a:cs typeface="Space Grotesk"/>
                <a:sym typeface="Space Grotesk"/>
              </a:rPr>
              <a:t>Today's dataset is you: 127 bootcamp applications.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609591" y="3027025"/>
            <a:ext cx="6131719" cy="6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6DDF1"/>
              </a:buClr>
              <a:buSzPts val="1200"/>
              <a:buFont typeface="Inter"/>
              <a:buNone/>
            </a:pPr>
            <a:r>
              <a:rPr b="0" i="0" lang="en" sz="1200" u="none" cap="none" strike="noStrike">
                <a:solidFill>
                  <a:srgbClr val="E6DDF1"/>
                </a:solidFill>
                <a:latin typeface="Inter"/>
                <a:ea typeface="Inter"/>
                <a:cs typeface="Inter"/>
                <a:sym typeface="Inter"/>
              </a:rPr>
              <a:t>Every Python concept goes straight to work answering a question about the applicant pool, in plain Python with no libraries. Names, emails, IDs and links were removed first.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/>
          <p:nvPr/>
        </p:nvSpPr>
        <p:spPr>
          <a:xfrm>
            <a:off x="609591" y="1240991"/>
            <a:ext cx="81627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2700"/>
              <a:buFont typeface="Space Grotesk"/>
              <a:buNone/>
            </a:pPr>
            <a:r>
              <a:rPr b="1" i="0" lang="en" sz="27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Who's in the room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611972" y="1824968"/>
            <a:ext cx="1862147" cy="1531748"/>
          </a:xfrm>
          <a:prstGeom prst="roundRect">
            <a:avLst>
              <a:gd fmla="val 6063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2"/>
          <p:cNvSpPr/>
          <p:nvPr/>
        </p:nvSpPr>
        <p:spPr>
          <a:xfrm>
            <a:off x="803067" y="2016063"/>
            <a:ext cx="1524355" cy="552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4200"/>
              <a:buFont typeface="Space Grotesk"/>
              <a:buNone/>
            </a:pPr>
            <a:r>
              <a:rPr b="1" i="0" lang="en" sz="4200" u="none" cap="none" strike="noStrike">
                <a:solidFill>
                  <a:srgbClr val="5A2D8C"/>
                </a:solidFill>
                <a:latin typeface="Space Grotesk"/>
                <a:ea typeface="Space Grotesk"/>
                <a:cs typeface="Space Grotesk"/>
                <a:sym typeface="Space Grotesk"/>
              </a:rPr>
              <a:t>127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803067" y="2625654"/>
            <a:ext cx="1524355" cy="3790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applications to this cohort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2631244" y="1824968"/>
            <a:ext cx="1862193" cy="1531748"/>
          </a:xfrm>
          <a:prstGeom prst="roundRect">
            <a:avLst>
              <a:gd fmla="val 6063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2"/>
          <p:cNvSpPr/>
          <p:nvPr/>
        </p:nvSpPr>
        <p:spPr>
          <a:xfrm>
            <a:off x="2822339" y="2016063"/>
            <a:ext cx="1524403" cy="552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4200"/>
              <a:buFont typeface="Space Grotesk"/>
              <a:buNone/>
            </a:pPr>
            <a:r>
              <a:rPr b="1" i="0" lang="en" sz="4200" u="none" cap="none" strike="noStrike">
                <a:solidFill>
                  <a:srgbClr val="5A2D8C"/>
                </a:solidFill>
                <a:latin typeface="Space Grotesk"/>
                <a:ea typeface="Space Grotesk"/>
                <a:cs typeface="Space Grotesk"/>
                <a:sym typeface="Space Grotesk"/>
              </a:rPr>
              <a:t>54%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2822339" y="2625654"/>
            <a:ext cx="1524403" cy="3790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call themselves beginners (68 of 127)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4650563" y="1824968"/>
            <a:ext cx="1862146" cy="1531748"/>
          </a:xfrm>
          <a:prstGeom prst="roundRect">
            <a:avLst>
              <a:gd fmla="val 6063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2"/>
          <p:cNvSpPr/>
          <p:nvPr/>
        </p:nvSpPr>
        <p:spPr>
          <a:xfrm>
            <a:off x="4841658" y="2016063"/>
            <a:ext cx="1524355" cy="552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4200"/>
              <a:buFont typeface="Space Grotesk"/>
              <a:buNone/>
            </a:pPr>
            <a:r>
              <a:rPr b="1" i="0" lang="en" sz="4200" u="none" cap="none" strike="noStrike">
                <a:solidFill>
                  <a:srgbClr val="5A2D8C"/>
                </a:solidFill>
                <a:latin typeface="Space Grotesk"/>
                <a:ea typeface="Space Grotesk"/>
                <a:cs typeface="Space Grotesk"/>
                <a:sym typeface="Space Grotesk"/>
              </a:rPr>
              <a:t>80%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4841658" y="2625654"/>
            <a:ext cx="1524355" cy="3790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are master's students (101 of 127)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6669835" y="1824968"/>
            <a:ext cx="1862193" cy="1531748"/>
          </a:xfrm>
          <a:prstGeom prst="roundRect">
            <a:avLst>
              <a:gd fmla="val 6063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6860930" y="2016063"/>
            <a:ext cx="1524403" cy="552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4200"/>
              <a:buFont typeface="Space Grotesk"/>
              <a:buNone/>
            </a:pPr>
            <a:r>
              <a:rPr b="1" i="0" lang="en" sz="4200" u="none" cap="none" strike="noStrike">
                <a:solidFill>
                  <a:srgbClr val="5A2D8C"/>
                </a:solidFill>
                <a:latin typeface="Space Grotesk"/>
                <a:ea typeface="Space Grotesk"/>
                <a:cs typeface="Space Grotesk"/>
                <a:sym typeface="Space Grotesk"/>
              </a:rPr>
              <a:t>72%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6860930" y="2625654"/>
            <a:ext cx="1524403" cy="559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already list Python as a language they know (92)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609591" y="4194860"/>
            <a:ext cx="8162564" cy="205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Most common major: </a:t>
            </a:r>
            <a:r>
              <a:rPr b="1" i="0" lang="en" sz="11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Computer Science</a:t>
            </a:r>
            <a:r>
              <a:rPr b="0" i="0" lang="en" sz="11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 (48) · Most common time budget: </a:t>
            </a:r>
            <a:r>
              <a:rPr b="1" i="0" lang="en" sz="11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5–7.5 hours a week</a:t>
            </a:r>
            <a:r>
              <a:rPr b="0" i="0" lang="en" sz="11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 (81)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609591" y="4678691"/>
            <a:ext cx="3530385" cy="17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Source: bootcamp application form, 127 anonymized responses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8392511" y="4678691"/>
            <a:ext cx="179952" cy="17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22" title="NYUTandon_LongLogo_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50" y="103550"/>
            <a:ext cx="2061450" cy="32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"/>
          <p:cNvSpPr/>
          <p:nvPr/>
        </p:nvSpPr>
        <p:spPr>
          <a:xfrm>
            <a:off x="609591" y="609591"/>
            <a:ext cx="8162564" cy="396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2700"/>
              <a:buFont typeface="Space Grotesk"/>
              <a:buNone/>
            </a:pPr>
            <a:r>
              <a:rPr b="1" i="0" lang="en" sz="27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Three roles in data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609591" y="1139140"/>
            <a:ext cx="8162564" cy="205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Today touches all three: we ingest and clean raw form data, summarize it, and form hypotheses.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611972" y="1480523"/>
            <a:ext cx="2560662" cy="2436344"/>
          </a:xfrm>
          <a:prstGeom prst="roundRect">
            <a:avLst>
              <a:gd fmla="val 3812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3"/>
          <p:cNvSpPr/>
          <p:nvPr/>
        </p:nvSpPr>
        <p:spPr>
          <a:xfrm>
            <a:off x="803067" y="1671619"/>
            <a:ext cx="2243826" cy="247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500"/>
              <a:buFont typeface="Space Grotesk"/>
              <a:buNone/>
            </a:pPr>
            <a:r>
              <a:rPr b="1" i="0" lang="en" sz="15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Analyst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803067" y="1995460"/>
            <a:ext cx="2243826" cy="179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900"/>
              <a:buFont typeface="Inter"/>
              <a:buNone/>
            </a:pPr>
            <a:r>
              <a:rPr b="1" i="0" lang="en" sz="900" u="none" cap="none" strike="noStrike">
                <a:solidFill>
                  <a:srgbClr val="5A2D8C"/>
                </a:solidFill>
                <a:latin typeface="Inter"/>
                <a:ea typeface="Inter"/>
                <a:cs typeface="Inter"/>
                <a:sym typeface="Inter"/>
              </a:rPr>
              <a:t>FOCUS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803067" y="2174519"/>
            <a:ext cx="2243826" cy="353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Organizing data and identifying patterns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803067" y="2603981"/>
            <a:ext cx="2243826" cy="179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900"/>
              <a:buFont typeface="Inter"/>
              <a:buNone/>
            </a:pPr>
            <a:r>
              <a:rPr b="1" i="0" lang="en" sz="900" u="none" cap="none" strike="noStrike">
                <a:solidFill>
                  <a:srgbClr val="5A2D8C"/>
                </a:solidFill>
                <a:latin typeface="Inter"/>
                <a:ea typeface="Inter"/>
                <a:cs typeface="Inter"/>
                <a:sym typeface="Inter"/>
              </a:rPr>
              <a:t>TYPICAL 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803067" y="2783039"/>
            <a:ext cx="2243826" cy="353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Reports, dashboards, summary statistics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803067" y="3212501"/>
            <a:ext cx="2243826" cy="17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900"/>
              <a:buFont typeface="Inter"/>
              <a:buNone/>
            </a:pPr>
            <a:r>
              <a:rPr b="1" i="0" lang="en" sz="900" u="none" cap="none" strike="noStrike">
                <a:solidFill>
                  <a:srgbClr val="5A2D8C"/>
                </a:solidFill>
                <a:latin typeface="Inter"/>
                <a:ea typeface="Inter"/>
                <a:cs typeface="Inter"/>
                <a:sym typeface="Inter"/>
              </a:rPr>
              <a:t>CORE SKILLS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803067" y="3391561"/>
            <a:ext cx="2243826" cy="186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Python, SQL, visualization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3291669" y="1480523"/>
            <a:ext cx="2560662" cy="2436344"/>
          </a:xfrm>
          <a:prstGeom prst="roundRect">
            <a:avLst>
              <a:gd fmla="val 3812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/>
          <p:nvPr/>
        </p:nvSpPr>
        <p:spPr>
          <a:xfrm>
            <a:off x="3482765" y="1671619"/>
            <a:ext cx="2243826" cy="247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500"/>
              <a:buFont typeface="Space Grotesk"/>
              <a:buNone/>
            </a:pPr>
            <a:r>
              <a:rPr b="1" i="0" lang="en" sz="15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Engineer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3482765" y="1995460"/>
            <a:ext cx="2243826" cy="179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900"/>
              <a:buFont typeface="Inter"/>
              <a:buNone/>
            </a:pPr>
            <a:r>
              <a:rPr b="1" i="0" lang="en" sz="900" u="none" cap="none" strike="noStrike">
                <a:solidFill>
                  <a:srgbClr val="5A2D8C"/>
                </a:solidFill>
                <a:latin typeface="Inter"/>
                <a:ea typeface="Inter"/>
                <a:cs typeface="Inter"/>
                <a:sym typeface="Inter"/>
              </a:rPr>
              <a:t>FOCUS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3482765" y="2174519"/>
            <a:ext cx="2243826" cy="353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Building the infrastructure that moves and stores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3482765" y="2603981"/>
            <a:ext cx="2243826" cy="179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900"/>
              <a:buFont typeface="Inter"/>
              <a:buNone/>
            </a:pPr>
            <a:r>
              <a:rPr b="1" i="0" lang="en" sz="900" u="none" cap="none" strike="noStrike">
                <a:solidFill>
                  <a:srgbClr val="5A2D8C"/>
                </a:solidFill>
                <a:latin typeface="Inter"/>
                <a:ea typeface="Inter"/>
                <a:cs typeface="Inter"/>
                <a:sym typeface="Inter"/>
              </a:rPr>
              <a:t>TYPICAL 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3482765" y="2783039"/>
            <a:ext cx="2243826" cy="353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Collection tools, storage, processing pipelines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3482765" y="3212501"/>
            <a:ext cx="2243826" cy="17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900"/>
              <a:buFont typeface="Inter"/>
              <a:buNone/>
            </a:pPr>
            <a:r>
              <a:rPr b="1" i="0" lang="en" sz="900" u="none" cap="none" strike="noStrike">
                <a:solidFill>
                  <a:srgbClr val="5A2D8C"/>
                </a:solidFill>
                <a:latin typeface="Inter"/>
                <a:ea typeface="Inter"/>
                <a:cs typeface="Inter"/>
                <a:sym typeface="Inter"/>
              </a:rPr>
              <a:t>CORE SKILLS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3482765" y="3391561"/>
            <a:ext cx="2243826" cy="353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Python, SQL, ETL, distributed systems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5971366" y="1480523"/>
            <a:ext cx="2560662" cy="2436344"/>
          </a:xfrm>
          <a:prstGeom prst="roundRect">
            <a:avLst>
              <a:gd fmla="val 3812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3"/>
          <p:cNvSpPr/>
          <p:nvPr/>
        </p:nvSpPr>
        <p:spPr>
          <a:xfrm>
            <a:off x="6162461" y="1671619"/>
            <a:ext cx="2243826" cy="247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500"/>
              <a:buFont typeface="Space Grotesk"/>
              <a:buNone/>
            </a:pPr>
            <a:r>
              <a:rPr b="1" i="0" lang="en" sz="15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Scientist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6162461" y="1995460"/>
            <a:ext cx="2243826" cy="179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900"/>
              <a:buFont typeface="Inter"/>
              <a:buNone/>
            </a:pPr>
            <a:r>
              <a:rPr b="1" i="0" lang="en" sz="900" u="none" cap="none" strike="noStrike">
                <a:solidFill>
                  <a:srgbClr val="5A2D8C"/>
                </a:solidFill>
                <a:latin typeface="Inter"/>
                <a:ea typeface="Inter"/>
                <a:cs typeface="Inter"/>
                <a:sym typeface="Inter"/>
              </a:rPr>
              <a:t>FOCUS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6162461" y="2174519"/>
            <a:ext cx="2243826" cy="353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Modeling complex data to support decisions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6162461" y="2603981"/>
            <a:ext cx="2243826" cy="179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900"/>
              <a:buFont typeface="Inter"/>
              <a:buNone/>
            </a:pPr>
            <a:r>
              <a:rPr b="1" i="0" lang="en" sz="900" u="none" cap="none" strike="noStrike">
                <a:solidFill>
                  <a:srgbClr val="5A2D8C"/>
                </a:solidFill>
                <a:latin typeface="Inter"/>
                <a:ea typeface="Inter"/>
                <a:cs typeface="Inter"/>
                <a:sym typeface="Inter"/>
              </a:rPr>
              <a:t>TYPICAL 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6162461" y="2783039"/>
            <a:ext cx="2243826" cy="353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Statistical analysis, machine learning, experimentation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6162461" y="3212501"/>
            <a:ext cx="2243826" cy="17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900"/>
              <a:buFont typeface="Inter"/>
              <a:buNone/>
            </a:pPr>
            <a:r>
              <a:rPr b="1" i="0" lang="en" sz="900" u="none" cap="none" strike="noStrike">
                <a:solidFill>
                  <a:srgbClr val="5A2D8C"/>
                </a:solidFill>
                <a:latin typeface="Inter"/>
                <a:ea typeface="Inter"/>
                <a:cs typeface="Inter"/>
                <a:sym typeface="Inter"/>
              </a:rPr>
              <a:t>CORE SKILLS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6162461" y="3391561"/>
            <a:ext cx="2243826" cy="186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Python, statistics, ML, visualization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609591" y="4678691"/>
            <a:ext cx="1947108" cy="17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Data Science Bootcamp · Fall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8391348" y="4678691"/>
            <a:ext cx="181115" cy="17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4"/>
          <p:cNvSpPr/>
          <p:nvPr/>
        </p:nvSpPr>
        <p:spPr>
          <a:xfrm>
            <a:off x="609591" y="609591"/>
            <a:ext cx="8162564" cy="3634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15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2500"/>
              <a:buFont typeface="Space Grotesk"/>
              <a:buNone/>
            </a:pPr>
            <a:r>
              <a:rPr b="1" i="0" lang="en" sz="25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Today's agenda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2" name="Google Shape;252;p24"/>
          <p:cNvGraphicFramePr/>
          <p:nvPr/>
        </p:nvGraphicFramePr>
        <p:xfrm>
          <a:off x="618521" y="11534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{6663BB5B-1F75-4914-BAF3-0B5A235CCA2E}</a:tableStyleId>
              </a:tblPr>
              <a:tblGrid>
                <a:gridCol w="2638600"/>
                <a:gridCol w="2638600"/>
                <a:gridCol w="2638600"/>
              </a:tblGrid>
              <a:tr h="27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b="1" lang="en" sz="8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Part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b="1" lang="en" sz="8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Python concept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b="1" lang="en" sz="8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Question it answers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D"/>
                    </a:solidFill>
                  </a:tcPr>
                </a:tc>
              </a:tr>
              <a:tr h="274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2D8C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rgbClr val="5A2D8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Working in a notebook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How do we run code?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2D8C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rgbClr val="5A2D8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Variables and primitive types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What kind of data did the form collect?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2D8C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rgbClr val="5A2D8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Operators and expressions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How do we tell a late-night submission from an early-morning one?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2D8C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rgbClr val="5A2D8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Lists, tuples, dictionaries, sets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What does a single application look like?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2D8C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rgbClr val="5A2D8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Conditionals and loops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When did people apply? Who skipped questions? What do we study?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2D8C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rgbClr val="5A2D8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String, list and dictionary methods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When did everyone submit? Which languages do we already know?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2D8C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rgbClr val="5A2D8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Functions and error handling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Can we build a small analytics toolkit? What excites applicants most?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2D8C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rgbClr val="5A2D8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Scope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Where do variables live, and when do they disappear?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3" name="Google Shape;253;p24"/>
          <p:cNvSpPr/>
          <p:nvPr/>
        </p:nvSpPr>
        <p:spPr>
          <a:xfrm>
            <a:off x="609591" y="4678691"/>
            <a:ext cx="4235149" cy="17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Each part introduces one group of language features and uses it on the 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8415766" y="4678691"/>
            <a:ext cx="156698" cy="17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1B24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"/>
          <p:cNvSpPr/>
          <p:nvPr/>
        </p:nvSpPr>
        <p:spPr>
          <a:xfrm>
            <a:off x="609591" y="609591"/>
            <a:ext cx="8162564" cy="396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2700"/>
              <a:buFont typeface="Space Grotesk"/>
              <a:buNone/>
            </a:pPr>
            <a:r>
              <a:rPr b="1" i="0" lang="en" sz="2700" u="none" cap="none" strike="noStrike">
                <a:solidFill>
                  <a:srgbClr val="F6F4EF"/>
                </a:solidFill>
                <a:latin typeface="Space Grotesk"/>
                <a:ea typeface="Space Grotesk"/>
                <a:cs typeface="Space Grotesk"/>
                <a:sym typeface="Space Grotesk"/>
              </a:rPr>
              <a:t>Before next week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1" name="Google Shape;261;p25"/>
          <p:cNvCxnSpPr/>
          <p:nvPr/>
        </p:nvCxnSpPr>
        <p:spPr>
          <a:xfrm>
            <a:off x="609591" y="2145767"/>
            <a:ext cx="2540031" cy="0"/>
          </a:xfrm>
          <a:prstGeom prst="straightConnector1">
            <a:avLst/>
          </a:prstGeom>
          <a:noFill/>
          <a:ln cap="flat" cmpd="sng" w="25400">
            <a:solidFill>
              <a:srgbClr val="E8A9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" name="Google Shape;262;p25"/>
          <p:cNvSpPr/>
          <p:nvPr/>
        </p:nvSpPr>
        <p:spPr>
          <a:xfrm>
            <a:off x="609591" y="2306464"/>
            <a:ext cx="2616232" cy="247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500"/>
              <a:buFont typeface="Space Grotesk"/>
              <a:buNone/>
            </a:pPr>
            <a:r>
              <a:rPr b="1" i="0" lang="en" sz="1500" u="none" cap="none" strike="noStrike">
                <a:solidFill>
                  <a:srgbClr val="F6F4EF"/>
                </a:solidFill>
                <a:latin typeface="Space Grotesk"/>
                <a:ea typeface="Space Grotesk"/>
                <a:cs typeface="Space Grotesk"/>
                <a:sym typeface="Space Grotesk"/>
              </a:rPr>
              <a:t>Take-home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609591" y="2611236"/>
            <a:ext cx="2616232" cy="578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D3E4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D9D3E4"/>
                </a:solidFill>
                <a:latin typeface="Inter"/>
                <a:ea typeface="Inter"/>
                <a:cs typeface="Inter"/>
                <a:sym typeface="Inter"/>
              </a:rPr>
              <a:t>The exercises at the end of today's notebook. Submit on Brightspace within one week, by 11:59 PM.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4" name="Google Shape;264;p25"/>
          <p:cNvCxnSpPr/>
          <p:nvPr/>
        </p:nvCxnSpPr>
        <p:spPr>
          <a:xfrm>
            <a:off x="3301985" y="2145767"/>
            <a:ext cx="2540031" cy="0"/>
          </a:xfrm>
          <a:prstGeom prst="straightConnector1">
            <a:avLst/>
          </a:prstGeom>
          <a:noFill/>
          <a:ln cap="flat" cmpd="sng" w="25400">
            <a:solidFill>
              <a:srgbClr val="E8A9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25"/>
          <p:cNvSpPr/>
          <p:nvPr/>
        </p:nvSpPr>
        <p:spPr>
          <a:xfrm>
            <a:off x="3301985" y="2306464"/>
            <a:ext cx="2616232" cy="247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500"/>
              <a:buFont typeface="Space Grotesk"/>
              <a:buNone/>
            </a:pPr>
            <a:r>
              <a:rPr b="1" i="0" lang="en" sz="1500" u="none" cap="none" strike="noStrike">
                <a:solidFill>
                  <a:srgbClr val="F6F4EF"/>
                </a:solidFill>
                <a:latin typeface="Space Grotesk"/>
                <a:ea typeface="Space Grotesk"/>
                <a:cs typeface="Space Grotesk"/>
                <a:sym typeface="Space Grotesk"/>
              </a:rPr>
              <a:t>Feedback form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3301985" y="2611236"/>
            <a:ext cx="2616232" cy="392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D3E4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D9D3E4"/>
                </a:solidFill>
                <a:latin typeface="Inter"/>
                <a:ea typeface="Inter"/>
                <a:cs typeface="Inter"/>
                <a:sym typeface="Inter"/>
              </a:rPr>
              <a:t>Fill it out after today's session. It counts toward your credential.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" name="Google Shape;267;p25"/>
          <p:cNvCxnSpPr/>
          <p:nvPr/>
        </p:nvCxnSpPr>
        <p:spPr>
          <a:xfrm>
            <a:off x="5994378" y="2145767"/>
            <a:ext cx="2540031" cy="0"/>
          </a:xfrm>
          <a:prstGeom prst="straightConnector1">
            <a:avLst/>
          </a:prstGeom>
          <a:noFill/>
          <a:ln cap="flat" cmpd="sng" w="25400">
            <a:solidFill>
              <a:srgbClr val="E8A9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p25"/>
          <p:cNvSpPr/>
          <p:nvPr/>
        </p:nvSpPr>
        <p:spPr>
          <a:xfrm>
            <a:off x="5994378" y="2306464"/>
            <a:ext cx="2616232" cy="247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500"/>
              <a:buFont typeface="Space Grotesk"/>
              <a:buNone/>
            </a:pPr>
            <a:r>
              <a:rPr b="1" i="0" lang="en" sz="1500" u="none" cap="none" strike="noStrike">
                <a:solidFill>
                  <a:srgbClr val="F6F4EF"/>
                </a:solidFill>
                <a:latin typeface="Space Grotesk"/>
                <a:ea typeface="Space Grotesk"/>
                <a:cs typeface="Space Grotesk"/>
                <a:sym typeface="Space Grotesk"/>
              </a:rPr>
              <a:t>Week 2: NumPy &amp; Pandas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5994378" y="2611236"/>
            <a:ext cx="2616232" cy="578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D3E4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D9D3E4"/>
                </a:solidFill>
                <a:latin typeface="Inter"/>
                <a:ea typeface="Inter"/>
                <a:cs typeface="Inter"/>
                <a:sym typeface="Inter"/>
              </a:rPr>
              <a:t>Everything we did today with loops and dictionaries, pandas does in a line or two.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609591" y="4320574"/>
            <a:ext cx="8162564" cy="232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200"/>
              <a:buFont typeface="Inter"/>
              <a:buNone/>
            </a:pPr>
            <a:r>
              <a:rPr b="0" i="0" lang="en" sz="1200" u="none" cap="none" strike="noStrike">
                <a:solidFill>
                  <a:srgbClr val="F6F4EF"/>
                </a:solidFill>
                <a:latin typeface="Inter"/>
                <a:ea typeface="Inter"/>
                <a:cs typeface="Inter"/>
                <a:sym typeface="Inter"/>
              </a:rPr>
              <a:t>See you at the social: </a:t>
            </a:r>
            <a:r>
              <a:rPr b="1" i="0" lang="en" sz="1200" u="none" cap="none" strike="noStrike">
                <a:solidFill>
                  <a:srgbClr val="F6F4EF"/>
                </a:solidFill>
                <a:latin typeface="Inter"/>
                <a:ea typeface="Inter"/>
                <a:cs typeface="Inter"/>
                <a:sym typeface="Inter"/>
              </a:rPr>
              <a:t>Mon, Oct 5, 3–5 PM</a:t>
            </a:r>
            <a:r>
              <a:rPr b="0" i="0" lang="en" sz="1200" u="none" cap="none" strike="noStrike">
                <a:solidFill>
                  <a:srgbClr val="F6F4EF"/>
                </a:solidFill>
                <a:latin typeface="Inter"/>
                <a:ea typeface="Inter"/>
                <a:cs typeface="Inter"/>
                <a:sym typeface="Inter"/>
              </a:rPr>
              <a:t> · 2 MetroTech Center, Room 1054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