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Space Grotesk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F72509-193F-410B-9049-097EF69C0B00}">
  <a:tblStyle styleId="{95F72509-193F-410B-9049-097EF69C0B0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nter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paceGrotesk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h4c515f6aea982df0_3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h4c515f6aea982df0_3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everyone. Today has two halves: first, how the next nine weeks work; then we jump straight into Python using a dataset you all helped create.</a:t>
            </a:r>
            <a:endParaRPr/>
          </a:p>
        </p:txBody>
      </p:sp>
      <p:sp>
        <p:nvSpPr>
          <p:cNvPr id="55" name="Google Shape;55;h4c515f6aea982df0_3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bb1b310374d68cb_22_9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h2bb1b310374d68cb_22_9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the Week 1 notebook in Colab and upload responses.csv from the Files panel. We'll run a full, if modest, exploratory data analysis using only the standard language, so nothing happens by magic.</a:t>
            </a:r>
            <a:endParaRPr/>
          </a:p>
        </p:txBody>
      </p:sp>
      <p:sp>
        <p:nvSpPr>
          <p:cNvPr id="67" name="Google Shape;67;h2bb1b310374d68cb_22_9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4c515f6aea982df0_0_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h4c515f6aea982df0_0_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topic both days each week; you must stay in your chosen section. Highlighted rows are the two project presentation weeks. No sessions Thanksgiving week, but the team is available for questions and 1:1 coaching, so use that week for your project.</a:t>
            </a:r>
            <a:endParaRPr/>
          </a:p>
        </p:txBody>
      </p:sp>
      <p:sp>
        <p:nvSpPr>
          <p:cNvPr id="76" name="Google Shape;76;h4c515f6aea982df0_0_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4c515f6aea982df0_3_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h4c515f6aea982df0_3_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topic both days each week; you must stay in your chosen section. Highlighted rows are the two project presentation weeks. No sessions Thanksgiving week, but the team is available for questions and 1:1 coaching, so use that week for your project.</a:t>
            </a:r>
            <a:endParaRPr/>
          </a:p>
        </p:txBody>
      </p:sp>
      <p:sp>
        <p:nvSpPr>
          <p:cNvPr id="102" name="Google Shape;102;h4c515f6aea982df0_3_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4c515f6aea982df0_3_4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h4c515f6aea982df0_3_4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format varies a bit by topic, but this is the usual shape. Please ask questions out loud or in chat; active participation makes the sessions work.</a:t>
            </a:r>
            <a:endParaRPr/>
          </a:p>
        </p:txBody>
      </p:sp>
      <p:sp>
        <p:nvSpPr>
          <p:cNvPr id="111" name="Google Shape;111;h4c515f6aea982df0_3_4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4c515f6aea982df0_3_1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h4c515f6aea982df0_3_1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Coaching path in Handshake: Undergraduate/Graduate Students, then NYU Tandon Career Hub, then Technical Interview Prep Appointment. Discussion board hours are in the syllabus.</a:t>
            </a:r>
            <a:endParaRPr/>
          </a:p>
        </p:txBody>
      </p:sp>
      <p:sp>
        <p:nvSpPr>
          <p:cNvPr id="140" name="Google Shape;140;h4c515f6aea982df0_3_12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2bb1b310374d68cb_22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h2bb1b310374d68cb_22_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format varies a bit by topic, but this is the usual shape. Please ask questions out loud or in chat; active participation makes the sessions work.</a:t>
            </a:r>
            <a:endParaRPr/>
          </a:p>
        </p:txBody>
      </p:sp>
      <p:sp>
        <p:nvSpPr>
          <p:cNvPr id="166" name="Google Shape;166;h2bb1b310374d68cb_22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2bb1b310374d68cb_22_3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h2bb1b310374d68cb_22_34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format varies a bit by topic, but this is the usual shape. Please ask questions out loud or in chat; active participation makes the sessions work.</a:t>
            </a:r>
            <a:endParaRPr/>
          </a:p>
        </p:txBody>
      </p:sp>
      <p:sp>
        <p:nvSpPr>
          <p:cNvPr id="177" name="Google Shape;177;h2bb1b310374d68cb_22_3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4c515f6aea982df0_3_6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h4c515f6aea982df0_3_6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the participation criteria from the syllabus. Attendance is tracked by how long you're logged in, so sign in with your NYU credentials. Group sign-up is due October 18.</a:t>
            </a:r>
            <a:endParaRPr/>
          </a:p>
        </p:txBody>
      </p:sp>
      <p:sp>
        <p:nvSpPr>
          <p:cNvPr id="188" name="Google Shape;188;h4c515f6aea982df0_3_6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4c515f6aea982df0_3_9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h4c515f6aea982df0_3_9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project is required. Full prompts and judging criteria are in the syllabus. The social on October 5 is the easiest place to find teammates. Mid-program feedback is there to help you revise before finals.</a:t>
            </a:r>
            <a:endParaRPr/>
          </a:p>
        </p:txBody>
      </p:sp>
      <p:sp>
        <p:nvSpPr>
          <p:cNvPr id="213" name="Google Shape;213;h4c515f6aea982df0_3_9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4c515f6aea982df0_3_1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h4c515f6aea982df0_3_1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is the one skill all three roles share, which is why we start here.</a:t>
            </a:r>
            <a:endParaRPr/>
          </a:p>
        </p:txBody>
      </p:sp>
      <p:sp>
        <p:nvSpPr>
          <p:cNvPr id="243" name="Google Shape;243;h4c515f6aea982df0_3_1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2bb1b310374d68cb_22_7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h2bb1b310374d68cb_22_7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the Week 1 notebook in Colab and upload responses.csv from the Files panel. We'll run a full, if modest, exploratory data analysis using only the standard language, so nothing happens by magic.</a:t>
            </a:r>
            <a:endParaRPr/>
          </a:p>
        </p:txBody>
      </p:sp>
      <p:sp>
        <p:nvSpPr>
          <p:cNvPr id="276" name="Google Shape;276;h2bb1b310374d68cb_22_7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4c515f6aea982df0_3_1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h4c515f6aea982df0_3_1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quick portrait of the cohort, straight from your application forms. Roughly half of you are beginners and half intermediate, so expect a mix of review and new material. We'll compute several of these numbers ourselves in plain Python later today.</a:t>
            </a:r>
            <a:endParaRPr/>
          </a:p>
        </p:txBody>
      </p:sp>
      <p:sp>
        <p:nvSpPr>
          <p:cNvPr id="285" name="Google Shape;285;h4c515f6aea982df0_3_1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4c515f6aea982df0_3_18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h4c515f6aea982df0_3_18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mirrors the sections of the Week 1 notebook. We end by assembling everything into a one-page summary of the applicant pool.</a:t>
            </a:r>
            <a:endParaRPr/>
          </a:p>
        </p:txBody>
      </p:sp>
      <p:sp>
        <p:nvSpPr>
          <p:cNvPr id="308" name="Google Shape;308;h4c515f6aea982df0_3_18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4c515f6aea982df0_3_19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h4c515f6aea982df0_3_19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Take-home exercises are at the end of the notebook, with an extended challenge for anyone who wants more. Week 2 is Oct 6 for Section 1 and Oct 8 for Section 2.</a:t>
            </a:r>
            <a:endParaRPr/>
          </a:p>
        </p:txBody>
      </p:sp>
      <p:sp>
        <p:nvSpPr>
          <p:cNvPr id="317" name="Google Shape;317;h4c515f6aea982df0_3_19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10" Type="http://schemas.openxmlformats.org/officeDocument/2006/relationships/hyperlink" Target="mailto:datasciencebootcamp@nyu.edu" TargetMode="External"/><Relationship Id="rId9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hyperlink" Target="https://www.google.com/maps/place/2+MetroTech+Center,+Brooklyn,+NY+11201/@40.6940081,-73.9856429,17z/data=!3m1!4b1!4m6!3m5!1s0x89c25a4af945b3b5:0x86f7b3fa2a75c599!8m2!3d40.6941697!4d-73.9857577!16s%2Fg%2F11bw3h6frq?entry=ttu&amp;g_ep=EgoyMDI2MDkyMy4wIKXMDSoASAFQAw%3D%3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nyu.zoom.us" TargetMode="External"/><Relationship Id="rId4" Type="http://schemas.openxmlformats.org/officeDocument/2006/relationships/hyperlink" Target="https://brightspace.nyu.edu/d2l/home" TargetMode="External"/><Relationship Id="rId5" Type="http://schemas.openxmlformats.org/officeDocument/2006/relationships/hyperlink" Target="https://github.com/angelin-jacob/NYU-Tandon-Career-Hub-Fall-2026-Data-Science-Bootcamp" TargetMode="External"/><Relationship Id="rId6" Type="http://schemas.openxmlformats.org/officeDocument/2006/relationships/hyperlink" Target="mailto:datasciencebootcamp@nyu.edu" TargetMode="External"/><Relationship Id="rId7" Type="http://schemas.openxmlformats.org/officeDocument/2006/relationships/hyperlink" Target="https://nyu.joinhandshake.com/stu/appointment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brightspace.nyu.edu/d2l/hom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nyu.zoom.us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nyu.edu/life/information-technology/communication-and-collaboration/email-and-communication/nyu-zoom.html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09594" y="1680953"/>
            <a:ext cx="29208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A93A"/>
              </a:buClr>
              <a:buSzPts val="1100"/>
              <a:buFont typeface="Inter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NYU TANDON CAREER HUB · FALL 2026</a:t>
            </a:r>
            <a:endParaRPr b="0" i="0" sz="1100" u="none" cap="none" strike="noStrike">
              <a:solidFill>
                <a:srgbClr val="5A2D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609591" y="2039364"/>
            <a:ext cx="7358062" cy="659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4800"/>
              <a:buFont typeface="Space Grotesk"/>
              <a:buNone/>
            </a:pPr>
            <a:r>
              <a:rPr b="1" i="0" lang="en" sz="4800" u="none" cap="none" strike="noStrike">
                <a:solidFill>
                  <a:srgbClr val="351C75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Science Bootcamp</a:t>
            </a:r>
            <a:endParaRPr b="0" i="0" sz="4800" u="none" cap="none" strike="noStrike">
              <a:solidFill>
                <a:srgbClr val="351C7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609591" y="2831781"/>
            <a:ext cx="6376988" cy="291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700"/>
              <a:buFont typeface="Inter"/>
              <a:buNone/>
            </a:pPr>
            <a:r>
              <a:rPr b="0" i="0" lang="en" sz="1700" u="none" cap="none" strike="noStrike">
                <a:solidFill>
                  <a:srgbClr val="20124D"/>
                </a:solidFill>
                <a:latin typeface="Inter"/>
                <a:ea typeface="Inter"/>
                <a:cs typeface="Inter"/>
                <a:sym typeface="Inter"/>
              </a:rPr>
              <a:t>Week 1 · Introduction to the Bootcamp &amp; Python Fundamentals</a:t>
            </a:r>
            <a:endParaRPr b="0" i="0" sz="17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609604" y="4347275"/>
            <a:ext cx="2424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2C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Instructor: </a:t>
            </a:r>
            <a:r>
              <a:rPr b="1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Angelin Ann Jacob</a:t>
            </a:r>
            <a:endParaRPr b="0" i="0" sz="1100" u="none" cap="none" strike="noStrike">
              <a:solidFill>
                <a:srgbClr val="1D1B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407779" y="4347275"/>
            <a:ext cx="186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2C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Section 1 · Tue </a:t>
            </a:r>
            <a:r>
              <a:rPr lang="en" sz="1100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Sept </a:t>
            </a: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0" i="0" sz="1100" u="none" cap="none" strike="noStrike">
              <a:solidFill>
                <a:srgbClr val="1D1B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665707" y="4347275"/>
            <a:ext cx="1845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2C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Section 2 · Thu </a:t>
            </a:r>
            <a:r>
              <a:rPr lang="en" sz="1100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Oct </a:t>
            </a: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00" u="none" cap="none" strike="noStrike">
              <a:solidFill>
                <a:srgbClr val="1D1B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5" title="NYUTandon_LongLogo_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74" y="96475"/>
            <a:ext cx="1826033" cy="2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609601" y="2089800"/>
            <a:ext cx="78417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3600"/>
              <a:buFont typeface="Space Grotesk"/>
              <a:buNone/>
            </a:pPr>
            <a:r>
              <a:rPr b="1" lang="en" sz="36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Part 1 · </a:t>
            </a:r>
            <a:r>
              <a:rPr b="1" lang="en" sz="34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Introduction to Bootcamp</a:t>
            </a:r>
            <a:r>
              <a:rPr b="1" lang="en" sz="36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b="0" i="0" sz="36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6" title="NYUTandon_LongLogo_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74" y="96475"/>
            <a:ext cx="1826033" cy="2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534550" y="2730100"/>
            <a:ext cx="711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Get to know your program and timeline for the next 9 weeks!</a:t>
            </a:r>
            <a:endParaRPr b="1" sz="900">
              <a:solidFill>
                <a:srgbClr val="3D3947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6170797" y="3042252"/>
            <a:ext cx="1828800" cy="47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80350" lIns="80350" spcFirstLastPara="1" rIns="80350" wrap="square" tIns="8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0"/>
          </a:p>
        </p:txBody>
      </p:sp>
      <p:sp>
        <p:nvSpPr>
          <p:cNvPr id="79" name="Google Shape;79;p17"/>
          <p:cNvSpPr txBox="1"/>
          <p:nvPr/>
        </p:nvSpPr>
        <p:spPr>
          <a:xfrm>
            <a:off x="6175828" y="3052666"/>
            <a:ext cx="182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0350" lIns="80350" spcFirstLastPara="1" rIns="80350" wrap="square" tIns="80350">
            <a:spAutoFit/>
          </a:bodyPr>
          <a:lstStyle/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Bootcamp</a:t>
            </a:r>
            <a:r>
              <a:rPr b="1" lang="en" sz="87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Instructor, Career Hub</a:t>
            </a:r>
            <a:endParaRPr b="1" sz="879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NYU Tandon School of Engineering</a:t>
            </a:r>
            <a:endParaRPr b="1" sz="747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3668900" y="3043700"/>
            <a:ext cx="1835700" cy="47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80350" lIns="80350" spcFirstLastPara="1" rIns="80350" wrap="square" tIns="8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0"/>
          </a:p>
        </p:txBody>
      </p:sp>
      <p:sp>
        <p:nvSpPr>
          <p:cNvPr id="81" name="Google Shape;81;p17"/>
          <p:cNvSpPr txBox="1"/>
          <p:nvPr/>
        </p:nvSpPr>
        <p:spPr>
          <a:xfrm>
            <a:off x="3673922" y="3054110"/>
            <a:ext cx="182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0350" lIns="80350" spcFirstLastPara="1" rIns="80350" wrap="square" tIns="80350">
            <a:spAutoFit/>
          </a:bodyPr>
          <a:lstStyle/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Bootcamp Admin, </a:t>
            </a:r>
            <a:r>
              <a:rPr b="1" lang="en" sz="87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Career Hub</a:t>
            </a:r>
            <a:endParaRPr b="1" sz="879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NYU Tandon School of Engineering</a:t>
            </a:r>
            <a:endParaRPr b="1" sz="747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1139363" y="3043700"/>
            <a:ext cx="1828800" cy="47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80350" lIns="80350" spcFirstLastPara="1" rIns="80350" wrap="square" tIns="8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0"/>
          </a:p>
        </p:txBody>
      </p:sp>
      <p:sp>
        <p:nvSpPr>
          <p:cNvPr id="83" name="Google Shape;83;p17"/>
          <p:cNvSpPr txBox="1"/>
          <p:nvPr/>
        </p:nvSpPr>
        <p:spPr>
          <a:xfrm>
            <a:off x="1144129" y="3054112"/>
            <a:ext cx="182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0350" lIns="80350" spcFirstLastPara="1" rIns="80350" wrap="square" tIns="80350">
            <a:spAutoFit/>
          </a:bodyPr>
          <a:lstStyle/>
          <a:p>
            <a:pPr indent="0" lvl="0" marL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7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Assistant Director, Career Hub</a:t>
            </a:r>
            <a:endParaRPr b="1" sz="879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NYU Tandon School of Engineering</a:t>
            </a:r>
            <a:endParaRPr b="1" sz="747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609591" y="544648"/>
            <a:ext cx="8162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19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900"/>
              <a:buFont typeface="Space Grotesk"/>
              <a:buNone/>
            </a:pPr>
            <a:r>
              <a:rPr b="1" lang="en" sz="1900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Meet the team! - TCH Data Science Bootcamp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8391627" y="4678691"/>
            <a:ext cx="1809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" sz="900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900">
              <a:solidFill>
                <a:srgbClr val="625D6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5419" l="0" r="0" t="0"/>
          <a:stretch/>
        </p:blipFill>
        <p:spPr>
          <a:xfrm>
            <a:off x="1139363" y="1098850"/>
            <a:ext cx="1830650" cy="173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Screenshot 2026-09-03 at 12.10.52 PM.png"/>
          <p:cNvPicPr preferRelativeResize="0"/>
          <p:nvPr/>
        </p:nvPicPr>
        <p:blipFill rotWithShape="1">
          <a:blip r:embed="rId4">
            <a:alphaModFix/>
          </a:blip>
          <a:srcRect b="25898" l="17858" r="17858" t="0"/>
          <a:stretch/>
        </p:blipFill>
        <p:spPr>
          <a:xfrm>
            <a:off x="3668589" y="1098851"/>
            <a:ext cx="1830652" cy="1731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5">
            <a:alphaModFix/>
          </a:blip>
          <a:srcRect b="13608" l="0" r="36968" t="19721"/>
          <a:stretch/>
        </p:blipFill>
        <p:spPr>
          <a:xfrm>
            <a:off x="6170073" y="1098851"/>
            <a:ext cx="1828797" cy="1731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NYUTandon_LongLogo_Blac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474" y="96475"/>
            <a:ext cx="1826033" cy="2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1139484" y="2856625"/>
            <a:ext cx="1828800" cy="1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C1130"/>
                </a:solidFill>
                <a:latin typeface="Verdana"/>
                <a:ea typeface="Verdana"/>
                <a:cs typeface="Verdana"/>
                <a:sym typeface="Verdana"/>
              </a:rPr>
              <a:t>Emily Yeager</a:t>
            </a:r>
            <a:endParaRPr sz="800">
              <a:solidFill>
                <a:srgbClr val="4C11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673915" y="2851425"/>
            <a:ext cx="1830600" cy="1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C4587"/>
                </a:solidFill>
                <a:latin typeface="Verdana"/>
                <a:ea typeface="Verdana"/>
                <a:cs typeface="Verdana"/>
                <a:sym typeface="Verdana"/>
              </a:rPr>
              <a:t>Khushi Agarwal</a:t>
            </a:r>
            <a:endParaRPr sz="800">
              <a:solidFill>
                <a:srgbClr val="1C458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6170134" y="2850700"/>
            <a:ext cx="1828800" cy="17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Verdana"/>
                <a:ea typeface="Verdana"/>
                <a:cs typeface="Verdana"/>
                <a:sym typeface="Verdana"/>
              </a:rPr>
              <a:t>Angelin Ann Jacob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139363" y="3655675"/>
            <a:ext cx="6865200" cy="61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95" name="Google Shape;95;p17" title="location-dot-soli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0863" y="3745725"/>
            <a:ext cx="171299" cy="1712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1429712" y="3733275"/>
            <a:ext cx="44388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8"/>
              </a:rPr>
              <a:t>2 MetroTech Center, Brooklyn, NY 11201</a:t>
            </a:r>
            <a:endParaRPr sz="900">
              <a:solidFill>
                <a:srgbClr val="5B607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7" name="Google Shape;97;p17" title="at-soli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76942" y="3989534"/>
            <a:ext cx="158826" cy="1588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1442162" y="3963488"/>
            <a:ext cx="44388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u="sng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datasciencebootcamp@nyu.edu</a:t>
            </a:r>
            <a:endParaRPr sz="9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609591" y="609591"/>
            <a:ext cx="8162564" cy="28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19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900"/>
              <a:buFont typeface="Space Grotesk"/>
              <a:buNone/>
            </a:pPr>
            <a:r>
              <a:rPr b="1" i="0" lang="en" sz="19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Nine weeks, two sections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5" name="Google Shape;105;p18"/>
          <p:cNvGraphicFramePr/>
          <p:nvPr/>
        </p:nvGraphicFramePr>
        <p:xfrm>
          <a:off x="618521" y="1077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{95F72509-193F-410B-9049-097EF69C0B00}</a:tableStyleId>
              </a:tblPr>
              <a:tblGrid>
                <a:gridCol w="1978950"/>
                <a:gridCol w="1978950"/>
                <a:gridCol w="1978950"/>
                <a:gridCol w="1978950"/>
              </a:tblGrid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b="1"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Week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b="1"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Topic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b="1"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Section 1 · Tue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b="1"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Section 2 · Thu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</a:tr>
              <a:tr h="36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Introduction to Bootcamp &amp; Python Fundamentals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Sept </a:t>
                      </a:r>
                      <a:r>
                        <a:rPr lang="en" sz="700" u="none" cap="none" strike="noStrike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29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5A2D8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 1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FD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NumPy &amp; Pandas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 6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 8 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6DD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Exploratory Data Analysis &amp; Data Visualization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 13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 15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SQL Fundamentals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 20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 22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Mid-Program Project Presentations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 27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Oct 29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</a:tr>
              <a:tr h="36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Machine Learning Fundamentals, Perceptron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Nov 3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Nov 5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Probability, Naive Bayes &amp; Linear Regression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Nov 10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Nov 12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Linear &amp; Logistic Regression, Bias–Variance Trade-off &amp; Gradient Descent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Nov 11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Nov 19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5D6E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625D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–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5D6E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625D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 sessions · Thanksgiving break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5D6E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625D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–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25D6E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625D6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–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 u="none" cap="none" strike="noStrike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Final Project Presentations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 1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700"/>
                        <a:buFont typeface="Inter"/>
                        <a:buNone/>
                      </a:pPr>
                      <a:r>
                        <a:rPr lang="en" sz="700">
                          <a:solidFill>
                            <a:srgbClr val="1D1B2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 3</a:t>
                      </a:r>
                      <a:endParaRPr sz="7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BB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18"/>
          <p:cNvSpPr/>
          <p:nvPr/>
        </p:nvSpPr>
        <p:spPr>
          <a:xfrm>
            <a:off x="609591" y="4678691"/>
            <a:ext cx="5037590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Stay with the section you registered for: Tue 11:00 AM–1:00 PM ET or Thu 1:00–3:00 PM 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8391627" y="4678691"/>
            <a:ext cx="18083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" sz="900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900">
              <a:solidFill>
                <a:srgbClr val="625D6E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each session runs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611972" y="1710649"/>
            <a:ext cx="1488774" cy="1520307"/>
          </a:xfrm>
          <a:prstGeom prst="roundRect">
            <a:avLst>
              <a:gd fmla="val 6238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783999" y="1882676"/>
            <a:ext cx="1182821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783999" y="2145497"/>
            <a:ext cx="1182821" cy="21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Lecture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783999" y="2418782"/>
            <a:ext cx="1182821" cy="65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947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Concepts and examples through slides and Jupyter notebooks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2219781" y="1710649"/>
            <a:ext cx="1488820" cy="1520307"/>
          </a:xfrm>
          <a:prstGeom prst="roundRect">
            <a:avLst>
              <a:gd fmla="val 6238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2391808" y="1882676"/>
            <a:ext cx="1182867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2391808" y="2145497"/>
            <a:ext cx="1182867" cy="21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Hands-on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2391808" y="2418782"/>
            <a:ext cx="1182867" cy="65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947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Apply it right away: real datasets, Python, analysis and visualization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3827636" y="1710649"/>
            <a:ext cx="1488774" cy="1520307"/>
          </a:xfrm>
          <a:prstGeom prst="roundRect">
            <a:avLst>
              <a:gd fmla="val 6238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3999663" y="1882676"/>
            <a:ext cx="1182821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3999663" y="2145497"/>
            <a:ext cx="1182821" cy="21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Q&amp;A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3999663" y="2418782"/>
            <a:ext cx="1182821" cy="65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947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Ask anything, anytime. The more you ask, the more you learn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5435445" y="1710649"/>
            <a:ext cx="1488774" cy="1520307"/>
          </a:xfrm>
          <a:prstGeom prst="roundRect">
            <a:avLst>
              <a:gd fmla="val 6238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5607472" y="1882676"/>
            <a:ext cx="1182821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5607472" y="2145497"/>
            <a:ext cx="1182821" cy="21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Take-home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5607472" y="2418782"/>
            <a:ext cx="1182821" cy="4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947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Weekly problems on the topic, due one week later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7043254" y="1710649"/>
            <a:ext cx="1488774" cy="1520307"/>
          </a:xfrm>
          <a:prstGeom prst="roundRect">
            <a:avLst>
              <a:gd fmla="val 6238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7215280" y="1882676"/>
            <a:ext cx="1182821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7215280" y="2145497"/>
            <a:ext cx="1182821" cy="21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Breaks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7215280" y="2418782"/>
            <a:ext cx="1182821" cy="49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D3947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Several short breaks through each two-hour session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609602" y="3954825"/>
            <a:ext cx="7922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200"/>
              <a:buFont typeface="Inter"/>
              <a:buNone/>
            </a:pPr>
            <a:r>
              <a:rPr b="0" i="0" lang="en" sz="12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The goal every week: theory plus practice you can apply to </a:t>
            </a:r>
            <a:r>
              <a:rPr b="1" i="0" lang="en" sz="12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real-world data science projects</a:t>
            </a:r>
            <a:r>
              <a:rPr b="0" i="0" lang="en" sz="12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609591" y="4678691"/>
            <a:ext cx="1947108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8388419" y="4678691"/>
            <a:ext cx="18404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lang="en" sz="2700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Links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611972" y="1217749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803067" y="1408844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sng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Zoom</a:t>
            </a:r>
            <a:endParaRPr b="0" i="0" sz="1400" u="none" cap="none" strike="noStrike">
              <a:solidFill>
                <a:srgbClr val="5A2D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803067" y="1671665"/>
            <a:ext cx="2243826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All sessions are virtual. Log in with your NYU credentials so attendance counts.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3291669" y="1217749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3482765" y="1408844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sng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Brightspace</a:t>
            </a:r>
            <a:endParaRPr b="0" i="0" sz="1400" u="none" cap="none" strike="noStrike">
              <a:solidFill>
                <a:srgbClr val="5A2D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3482765" y="1671665"/>
            <a:ext cx="2243826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Assignments, submissions and the discussion board, monitored Monday to Thursday.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5971366" y="1217749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6162461" y="1408844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sng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endParaRPr b="0" i="0" sz="1400" u="none" cap="none" strike="noStrike">
              <a:solidFill>
                <a:srgbClr val="5A2D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6162461" y="1671665"/>
            <a:ext cx="2243826" cy="36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Slides and Colab notebooks for every session.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611972" y="2501671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803067" y="2692766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Email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803067" y="2955587"/>
            <a:ext cx="2243826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datasciencebootcamp@nyu.edu</a:t>
            </a:r>
            <a:r>
              <a:rPr lang="en" sz="1000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for questions, extensions and attendance approvals.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3291669" y="2501671"/>
            <a:ext cx="2560662" cy="1164887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3482765" y="2692766"/>
            <a:ext cx="2243826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1:1 coaching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3482765" y="2955587"/>
            <a:ext cx="2243826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Optional 30-minute technical interview prep. </a:t>
            </a:r>
            <a:r>
              <a:rPr b="0" i="0" lang="en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7"/>
              </a:rPr>
              <a:t>Book it through Handshake.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968985" y="2499290"/>
            <a:ext cx="2565424" cy="1169650"/>
          </a:xfrm>
          <a:prstGeom prst="roundRect">
            <a:avLst>
              <a:gd fmla="val 8143" name="adj"/>
            </a:avLst>
          </a:prstGeom>
          <a:solidFill>
            <a:srgbClr val="1D1B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6159485" y="2689790"/>
            <a:ext cx="2249957" cy="224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A93A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E8A93A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Bootcamp social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6159485" y="2952611"/>
            <a:ext cx="2249957" cy="53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F6F4EF"/>
                </a:solidFill>
                <a:latin typeface="Inter"/>
                <a:ea typeface="Inter"/>
                <a:cs typeface="Inter"/>
                <a:sym typeface="Inter"/>
              </a:rPr>
              <a:t>Mon, Oct 5, 3–5 PM · 2 MetroTech Center, Room 1054. Drinks, snacks, teammates.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8399766" y="4678691"/>
            <a:ext cx="172696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/>
        </p:nvSpPr>
        <p:spPr>
          <a:xfrm>
            <a:off x="3686916" y="553155"/>
            <a:ext cx="5193658" cy="4305844"/>
          </a:xfrm>
          <a:custGeom>
            <a:rect b="b" l="l" r="r" t="t"/>
            <a:pathLst>
              <a:path extrusionOk="0" h="8611687" w="10387317">
                <a:moveTo>
                  <a:pt x="0" y="0"/>
                </a:moveTo>
                <a:lnTo>
                  <a:pt x="10387317" y="0"/>
                </a:lnTo>
                <a:lnTo>
                  <a:pt x="10387317" y="8611687"/>
                </a:lnTo>
                <a:lnTo>
                  <a:pt x="0" y="8611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5639" r="-23739" t="0"/>
            </a:stretch>
          </a:blipFill>
          <a:ln>
            <a:noFill/>
          </a:ln>
        </p:spPr>
      </p:sp>
      <p:sp>
        <p:nvSpPr>
          <p:cNvPr id="169" name="Google Shape;169;p21"/>
          <p:cNvSpPr/>
          <p:nvPr/>
        </p:nvSpPr>
        <p:spPr>
          <a:xfrm>
            <a:off x="335394" y="1075574"/>
            <a:ext cx="2560800" cy="1164900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526490" y="1266669"/>
            <a:ext cx="2243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sng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Brightspace</a:t>
            </a:r>
            <a:endParaRPr b="0" i="0" sz="1400" u="none" cap="none" strike="noStrike">
              <a:solidFill>
                <a:srgbClr val="5A2D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526490" y="1529490"/>
            <a:ext cx="224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Assignments, submissions and the discussion board, monitored Monday to Thursday.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335391" y="472516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Where things live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/>
          <p:nvPr/>
        </p:nvSpPr>
        <p:spPr>
          <a:xfrm>
            <a:off x="335400" y="1075575"/>
            <a:ext cx="2560800" cy="1629000"/>
          </a:xfrm>
          <a:prstGeom prst="roundRect">
            <a:avLst>
              <a:gd fmla="val 7972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526492" y="1266669"/>
            <a:ext cx="2243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400"/>
              <a:buFont typeface="Space Grotesk"/>
              <a:buNone/>
            </a:pPr>
            <a:r>
              <a:rPr b="1" i="0" lang="en" sz="1400" u="sng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Zoom</a:t>
            </a:r>
            <a:endParaRPr b="0" i="0" sz="1400" u="none" cap="none" strike="noStrike">
              <a:solidFill>
                <a:srgbClr val="5A2D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526492" y="1529490"/>
            <a:ext cx="224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All sessions are virtual. </a:t>
            </a:r>
            <a:endParaRPr b="0" i="0" sz="1000" u="none" cap="none" strike="noStrike">
              <a:solidFill>
                <a:srgbClr val="1D1B2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Log in with your NYU credentials so attendance counts.Please attend 7</a:t>
            </a:r>
            <a:r>
              <a:rPr lang="en" sz="1000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 out of 9 sessions to confirm attendance.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335391" y="472516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Where things live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3477104" y="600879"/>
            <a:ext cx="5423348" cy="4263590"/>
          </a:xfrm>
          <a:custGeom>
            <a:rect b="b" l="l" r="r" t="t"/>
            <a:pathLst>
              <a:path extrusionOk="0" h="8527179" w="10846696">
                <a:moveTo>
                  <a:pt x="0" y="0"/>
                </a:moveTo>
                <a:lnTo>
                  <a:pt x="10846695" y="0"/>
                </a:lnTo>
                <a:lnTo>
                  <a:pt x="10846695" y="8527179"/>
                </a:lnTo>
                <a:lnTo>
                  <a:pt x="0" y="8527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50" r="0" t="0"/>
            </a:stretch>
          </a:blipFill>
          <a:ln>
            <a:noFill/>
          </a:ln>
        </p:spPr>
      </p:sp>
      <p:sp>
        <p:nvSpPr>
          <p:cNvPr id="184" name="Google Shape;184;p22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Earning the digital credential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609591" y="1139140"/>
            <a:ext cx="8162564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A verifiable Accredible badge you can share on LinkedIn, once you meet all five: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23"/>
          <p:cNvCxnSpPr/>
          <p:nvPr/>
        </p:nvCxnSpPr>
        <p:spPr>
          <a:xfrm>
            <a:off x="610825" y="1518425"/>
            <a:ext cx="7679100" cy="0"/>
          </a:xfrm>
          <a:prstGeom prst="straightConnector1">
            <a:avLst/>
          </a:prstGeom>
          <a:noFill/>
          <a:ln cap="flat" cmpd="sng" w="12075">
            <a:solidFill>
              <a:srgbClr val="F6F4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23"/>
          <p:cNvSpPr/>
          <p:nvPr/>
        </p:nvSpPr>
        <p:spPr>
          <a:xfrm>
            <a:off x="639755" y="1594754"/>
            <a:ext cx="2423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045"/>
              <a:buFont typeface="Inter"/>
              <a:buNone/>
            </a:pPr>
            <a:r>
              <a:rPr b="1" i="0" lang="en" sz="1045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Attend 7+ live sessions</a:t>
            </a:r>
            <a:endParaRPr b="0" i="0" sz="10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3136953" y="1594754"/>
            <a:ext cx="51816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950"/>
              <a:buFont typeface="Inter"/>
              <a:buNone/>
            </a:pPr>
            <a:r>
              <a:rPr b="0" i="0" lang="en" sz="85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Attendance is logged by time on Zoom. Please </a:t>
            </a:r>
            <a:r>
              <a:rPr b="1" i="0" lang="en" sz="85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ONLY</a:t>
            </a:r>
            <a:r>
              <a:rPr b="0" i="0" lang="en" sz="85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 use your </a:t>
            </a:r>
            <a:r>
              <a:rPr b="1" i="0" lang="en" sz="85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NYU Zoom</a:t>
            </a:r>
            <a:r>
              <a:rPr b="0" i="0" lang="en" sz="85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 SSO login/credentials to access Zoom</a:t>
            </a:r>
            <a:r>
              <a:rPr lang="en" sz="850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0" i="0" lang="en" sz="85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Arriving late or leaving early needs prior approval by email, or it counts as absent.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23"/>
          <p:cNvCxnSpPr/>
          <p:nvPr/>
        </p:nvCxnSpPr>
        <p:spPr>
          <a:xfrm>
            <a:off x="610825" y="1986853"/>
            <a:ext cx="7679100" cy="0"/>
          </a:xfrm>
          <a:prstGeom prst="straightConnector1">
            <a:avLst/>
          </a:prstGeom>
          <a:noFill/>
          <a:ln cap="flat" cmpd="sng" w="9050">
            <a:solidFill>
              <a:srgbClr val="F6F4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23"/>
          <p:cNvSpPr/>
          <p:nvPr/>
        </p:nvSpPr>
        <p:spPr>
          <a:xfrm>
            <a:off x="639755" y="2059785"/>
            <a:ext cx="242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045"/>
              <a:buFont typeface="Inter"/>
              <a:buNone/>
            </a:pPr>
            <a:r>
              <a:rPr b="1" i="0" lang="en" sz="1045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Submit every take-home</a:t>
            </a:r>
            <a:endParaRPr b="0" i="0" sz="10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3136953" y="2059785"/>
            <a:ext cx="518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950"/>
              <a:buFont typeface="Inter"/>
              <a:buNone/>
            </a:pPr>
            <a:r>
              <a:rPr b="0" i="0" lang="en" sz="95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On Brightspace, due one week after it's assigned, by 11:59 PM on your section's day.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23"/>
          <p:cNvCxnSpPr/>
          <p:nvPr/>
        </p:nvCxnSpPr>
        <p:spPr>
          <a:xfrm>
            <a:off x="610825" y="2317627"/>
            <a:ext cx="7679100" cy="0"/>
          </a:xfrm>
          <a:prstGeom prst="straightConnector1">
            <a:avLst/>
          </a:prstGeom>
          <a:noFill/>
          <a:ln cap="flat" cmpd="sng" w="9050">
            <a:solidFill>
              <a:srgbClr val="F6F4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23"/>
          <p:cNvSpPr/>
          <p:nvPr/>
        </p:nvSpPr>
        <p:spPr>
          <a:xfrm>
            <a:off x="639755" y="2390555"/>
            <a:ext cx="242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045"/>
              <a:buFont typeface="Inter"/>
              <a:buNone/>
            </a:pPr>
            <a:r>
              <a:rPr b="1" i="0" lang="en" sz="1045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Send weekly feedback</a:t>
            </a:r>
            <a:endParaRPr b="0" i="0" sz="10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3136953" y="2390555"/>
            <a:ext cx="518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950"/>
              <a:buFont typeface="Inter"/>
              <a:buNone/>
            </a:pPr>
            <a:r>
              <a:rPr b="0" i="0" lang="en" sz="95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Fill out the teaching section feedback form after each session.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23"/>
          <p:cNvCxnSpPr/>
          <p:nvPr/>
        </p:nvCxnSpPr>
        <p:spPr>
          <a:xfrm>
            <a:off x="610825" y="2648400"/>
            <a:ext cx="7679100" cy="0"/>
          </a:xfrm>
          <a:prstGeom prst="straightConnector1">
            <a:avLst/>
          </a:prstGeom>
          <a:noFill/>
          <a:ln cap="flat" cmpd="sng" w="9050">
            <a:solidFill>
              <a:srgbClr val="F6F4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23"/>
          <p:cNvSpPr/>
          <p:nvPr/>
        </p:nvSpPr>
        <p:spPr>
          <a:xfrm>
            <a:off x="639755" y="2721325"/>
            <a:ext cx="242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045"/>
              <a:buFont typeface="Inter"/>
              <a:buNone/>
            </a:pPr>
            <a:r>
              <a:rPr b="1" i="0" lang="en" sz="1045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Form a project group</a:t>
            </a:r>
            <a:endParaRPr b="0" i="0" sz="10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136953" y="2721325"/>
            <a:ext cx="518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950"/>
              <a:buFont typeface="Inter"/>
              <a:buNone/>
            </a:pPr>
            <a:r>
              <a:rPr b="0" i="0" lang="en" sz="95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3–4 members. Submit names and your chosen prompt by </a:t>
            </a:r>
            <a:r>
              <a:rPr b="1" i="0" lang="en" sz="95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Sunday, Oct 18, 11:59 PM</a:t>
            </a:r>
            <a:r>
              <a:rPr b="0" i="0" lang="en" sz="95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23"/>
          <p:cNvCxnSpPr/>
          <p:nvPr/>
        </p:nvCxnSpPr>
        <p:spPr>
          <a:xfrm>
            <a:off x="610825" y="2979174"/>
            <a:ext cx="7679100" cy="0"/>
          </a:xfrm>
          <a:prstGeom prst="straightConnector1">
            <a:avLst/>
          </a:prstGeom>
          <a:noFill/>
          <a:ln cap="flat" cmpd="sng" w="9050">
            <a:solidFill>
              <a:srgbClr val="F6F4E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23"/>
          <p:cNvCxnSpPr/>
          <p:nvPr/>
        </p:nvCxnSpPr>
        <p:spPr>
          <a:xfrm>
            <a:off x="610825" y="3308250"/>
            <a:ext cx="7679100" cy="0"/>
          </a:xfrm>
          <a:prstGeom prst="straightConnector1">
            <a:avLst/>
          </a:prstGeom>
          <a:noFill/>
          <a:ln cap="flat" cmpd="sng" w="9050">
            <a:solidFill>
              <a:srgbClr val="F6F4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23"/>
          <p:cNvSpPr/>
          <p:nvPr/>
        </p:nvSpPr>
        <p:spPr>
          <a:xfrm>
            <a:off x="639755" y="3052095"/>
            <a:ext cx="242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1045"/>
              <a:buFont typeface="Inter"/>
              <a:buNone/>
            </a:pPr>
            <a:r>
              <a:rPr b="1" i="0" lang="en" sz="1045" u="none" cap="none" strike="noStrike">
                <a:solidFill>
                  <a:srgbClr val="5A2D8C"/>
                </a:solidFill>
                <a:latin typeface="Inter"/>
                <a:ea typeface="Inter"/>
                <a:cs typeface="Inter"/>
                <a:sym typeface="Inter"/>
              </a:rPr>
              <a:t>Present twice</a:t>
            </a:r>
            <a:endParaRPr b="0" i="0" sz="10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3136953" y="3052095"/>
            <a:ext cx="518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950"/>
              <a:buFont typeface="Inter"/>
              <a:buNone/>
            </a:pPr>
            <a:r>
              <a:rPr b="0" i="0" lang="en" sz="95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Mid-program on Oct 27/29 and final on Dec 1/3, with every group member present.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8394418" y="4678691"/>
            <a:ext cx="17804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project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609591" y="1215368"/>
            <a:ext cx="4214407" cy="619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Groups of 3–4 pick one real-world prompt and present their work to industry professionals. Prizes go to the winning group.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611972" y="1970075"/>
            <a:ext cx="1993441" cy="625060"/>
          </a:xfrm>
          <a:prstGeom prst="roundRect">
            <a:avLst>
              <a:gd fmla="val 11810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745908" y="2104011"/>
            <a:ext cx="1777336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Visualization with Air Quality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2705425" y="1970075"/>
            <a:ext cx="1993441" cy="625060"/>
          </a:xfrm>
          <a:prstGeom prst="roundRect">
            <a:avLst>
              <a:gd fmla="val 11810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2839361" y="2104011"/>
            <a:ext cx="1777336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Sentiment Analysis of Social Media Content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611972" y="2695147"/>
            <a:ext cx="1993441" cy="625060"/>
          </a:xfrm>
          <a:prstGeom prst="roundRect">
            <a:avLst>
              <a:gd fmla="val 11810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4"/>
          <p:cNvSpPr/>
          <p:nvPr/>
        </p:nvSpPr>
        <p:spPr>
          <a:xfrm>
            <a:off x="745908" y="2829083"/>
            <a:ext cx="1777336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Movie Recommendation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2705425" y="2695147"/>
            <a:ext cx="1993441" cy="625060"/>
          </a:xfrm>
          <a:prstGeom prst="roundRect">
            <a:avLst>
              <a:gd fmla="val 11810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2839361" y="2829083"/>
            <a:ext cx="1777336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Space Grotesk"/>
              <a:buNone/>
            </a:pPr>
            <a:r>
              <a:rPr b="1" i="0" lang="en" sz="11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Finance &amp; Economics Time-Series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5006020" y="1215368"/>
            <a:ext cx="3528389" cy="2945913"/>
          </a:xfrm>
          <a:prstGeom prst="roundRect">
            <a:avLst>
              <a:gd fmla="val 3233" name="adj"/>
            </a:avLst>
          </a:prstGeom>
          <a:solidFill>
            <a:srgbClr val="1D1B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5196520" y="1405868"/>
            <a:ext cx="3241811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A93A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E8A93A"/>
                </a:solidFill>
                <a:latin typeface="Inter"/>
                <a:ea typeface="Inter"/>
                <a:cs typeface="Inter"/>
                <a:sym typeface="Inter"/>
              </a:rPr>
              <a:t>KEY 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4"/>
          <p:cNvCxnSpPr/>
          <p:nvPr/>
        </p:nvCxnSpPr>
        <p:spPr>
          <a:xfrm>
            <a:off x="5196520" y="2189299"/>
            <a:ext cx="3147389" cy="0"/>
          </a:xfrm>
          <a:prstGeom prst="straightConnector1">
            <a:avLst/>
          </a:prstGeom>
          <a:noFill/>
          <a:ln cap="flat" cmpd="sng" w="9525">
            <a:solidFill>
              <a:srgbClr val="3D39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24"/>
          <p:cNvSpPr/>
          <p:nvPr/>
        </p:nvSpPr>
        <p:spPr>
          <a:xfrm>
            <a:off x="5196520" y="1661155"/>
            <a:ext cx="3241811" cy="259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Mon, Oct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5196520" y="1920162"/>
            <a:ext cx="3241811" cy="192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Bootcamp social: meet people, form groups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24"/>
          <p:cNvCxnSpPr/>
          <p:nvPr/>
        </p:nvCxnSpPr>
        <p:spPr>
          <a:xfrm>
            <a:off x="5196520" y="2815075"/>
            <a:ext cx="3147389" cy="0"/>
          </a:xfrm>
          <a:prstGeom prst="straightConnector1">
            <a:avLst/>
          </a:prstGeom>
          <a:noFill/>
          <a:ln cap="flat" cmpd="sng" w="9525">
            <a:solidFill>
              <a:srgbClr val="3D39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24"/>
          <p:cNvSpPr/>
          <p:nvPr/>
        </p:nvSpPr>
        <p:spPr>
          <a:xfrm>
            <a:off x="5196520" y="2286930"/>
            <a:ext cx="3241811" cy="259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Sun, Oct 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5196520" y="2545937"/>
            <a:ext cx="3241811" cy="192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Group names and prompt due, 11:59 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24"/>
          <p:cNvCxnSpPr/>
          <p:nvPr/>
        </p:nvCxnSpPr>
        <p:spPr>
          <a:xfrm>
            <a:off x="5196520" y="3440851"/>
            <a:ext cx="3147389" cy="0"/>
          </a:xfrm>
          <a:prstGeom prst="straightConnector1">
            <a:avLst/>
          </a:prstGeom>
          <a:noFill/>
          <a:ln cap="flat" cmpd="sng" w="9525">
            <a:solidFill>
              <a:srgbClr val="3D394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24"/>
          <p:cNvSpPr/>
          <p:nvPr/>
        </p:nvSpPr>
        <p:spPr>
          <a:xfrm>
            <a:off x="5196520" y="2912706"/>
            <a:ext cx="3241811" cy="259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Oct 27 / 29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5196520" y="3171713"/>
            <a:ext cx="3241811" cy="192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Mid-program presentation and feedback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5196520" y="3538482"/>
            <a:ext cx="3241811" cy="259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Space Grotesk"/>
              <a:buNone/>
            </a:pPr>
            <a:r>
              <a:rPr b="1" i="0" lang="en" sz="1400" u="none" cap="none" strike="noStrike">
                <a:solidFill>
                  <a:srgbClr val="F6F4E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 1 /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5196520" y="3797489"/>
            <a:ext cx="3241811" cy="192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rgbClr val="D9D3E4"/>
                </a:solidFill>
                <a:latin typeface="Inter"/>
                <a:ea typeface="Inter"/>
                <a:cs typeface="Inter"/>
                <a:sym typeface="Inter"/>
              </a:rPr>
              <a:t>Final presentation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8391348" y="4678691"/>
            <a:ext cx="18111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Three roles in data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609591" y="1139140"/>
            <a:ext cx="8162564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Today touches all three: we ingest and clean raw form data, summarize it, and form hypotheses.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611972" y="1480523"/>
            <a:ext cx="2560662" cy="2436344"/>
          </a:xfrm>
          <a:prstGeom prst="roundRect">
            <a:avLst>
              <a:gd fmla="val 3812" name="adj"/>
            </a:avLst>
          </a:prstGeom>
          <a:solidFill>
            <a:srgbClr val="1D1B24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803067" y="1671619"/>
            <a:ext cx="2243826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Analyst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803067" y="1995460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F2C46B"/>
                </a:solidFill>
                <a:latin typeface="Inter"/>
                <a:ea typeface="Inter"/>
                <a:cs typeface="Inter"/>
                <a:sym typeface="Inter"/>
              </a:rPr>
              <a:t>FOCUS</a:t>
            </a:r>
            <a:endParaRPr b="0" i="0" sz="900" u="none" cap="none" strike="noStrike">
              <a:solidFill>
                <a:srgbClr val="F2C4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803067" y="217451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Organizing data and identifying patterns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803067" y="2603981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F2C46B"/>
                </a:solidFill>
                <a:latin typeface="Inter"/>
                <a:ea typeface="Inter"/>
                <a:cs typeface="Inter"/>
                <a:sym typeface="Inter"/>
              </a:rPr>
              <a:t>TYPICAL WORK</a:t>
            </a:r>
            <a:endParaRPr b="0" i="0" sz="900" u="none" cap="none" strike="noStrike">
              <a:solidFill>
                <a:srgbClr val="F2C4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803067" y="278303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Reports, dashboards, summary statistics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803067" y="3212501"/>
            <a:ext cx="2243826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F2C46B"/>
                </a:solidFill>
                <a:latin typeface="Inter"/>
                <a:ea typeface="Inter"/>
                <a:cs typeface="Inter"/>
                <a:sym typeface="Inter"/>
              </a:rPr>
              <a:t>CORE SKILLS</a:t>
            </a:r>
            <a:endParaRPr b="0" i="0" sz="900" u="none" cap="none" strike="noStrike">
              <a:solidFill>
                <a:srgbClr val="F2C4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803067" y="3391561"/>
            <a:ext cx="2243826" cy="186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Python, SQL, visualization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3291669" y="1480523"/>
            <a:ext cx="2560662" cy="2436344"/>
          </a:xfrm>
          <a:prstGeom prst="roundRect">
            <a:avLst>
              <a:gd fmla="val 3812" name="adj"/>
            </a:avLst>
          </a:prstGeom>
          <a:solidFill>
            <a:schemeClr val="dk2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3482765" y="1671619"/>
            <a:ext cx="2243826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Engineer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3482765" y="1995460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93C47D"/>
                </a:solidFill>
                <a:latin typeface="Inter"/>
                <a:ea typeface="Inter"/>
                <a:cs typeface="Inter"/>
                <a:sym typeface="Inter"/>
              </a:rPr>
              <a:t>FOCUS</a:t>
            </a:r>
            <a:endParaRPr b="0" i="0" sz="900" u="none" cap="none" strike="noStrike">
              <a:solidFill>
                <a:srgbClr val="93C4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3482765" y="217451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Building the infrastructure that moves and stores data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3482765" y="2603981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93C47D"/>
                </a:solidFill>
                <a:latin typeface="Inter"/>
                <a:ea typeface="Inter"/>
                <a:cs typeface="Inter"/>
                <a:sym typeface="Inter"/>
              </a:rPr>
              <a:t>TYPICAL WORK</a:t>
            </a:r>
            <a:endParaRPr b="0" i="0" sz="900" u="none" cap="none" strike="noStrike">
              <a:solidFill>
                <a:srgbClr val="93C4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3482765" y="278303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Collection tools, storage, processing pipelines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3482765" y="3212501"/>
            <a:ext cx="2243826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93C47D"/>
                </a:solidFill>
                <a:latin typeface="Inter"/>
                <a:ea typeface="Inter"/>
                <a:cs typeface="Inter"/>
                <a:sym typeface="Inter"/>
              </a:rPr>
              <a:t>CORE SKILLS</a:t>
            </a:r>
            <a:endParaRPr b="0" i="0" sz="900" u="none" cap="none" strike="noStrike">
              <a:solidFill>
                <a:srgbClr val="93C4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3482765" y="3391561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Python, SQL, ETL, distributed systems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971366" y="1480523"/>
            <a:ext cx="2560662" cy="2436344"/>
          </a:xfrm>
          <a:prstGeom prst="roundRect">
            <a:avLst>
              <a:gd fmla="val 3812" name="adj"/>
            </a:avLst>
          </a:prstGeom>
          <a:solidFill>
            <a:srgbClr val="625D6E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6162461" y="1671619"/>
            <a:ext cx="2243826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Scientist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6162461" y="1995460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C27BA0"/>
                </a:solidFill>
                <a:latin typeface="Inter"/>
                <a:ea typeface="Inter"/>
                <a:cs typeface="Inter"/>
                <a:sym typeface="Inter"/>
              </a:rPr>
              <a:t>FOCUS</a:t>
            </a:r>
            <a:endParaRPr b="1" i="0" sz="900" u="none" cap="none" strike="noStrike">
              <a:solidFill>
                <a:srgbClr val="C27B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6162461" y="217451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Modeling complex data to support decisions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6162461" y="2603981"/>
            <a:ext cx="2243826" cy="179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C27BA0"/>
                </a:solidFill>
                <a:latin typeface="Inter"/>
                <a:ea typeface="Inter"/>
                <a:cs typeface="Inter"/>
                <a:sym typeface="Inter"/>
              </a:rPr>
              <a:t>TYPICAL WORK</a:t>
            </a:r>
            <a:endParaRPr b="1" i="0" sz="900" u="none" cap="none" strike="noStrike">
              <a:solidFill>
                <a:srgbClr val="C27B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6162461" y="2783039"/>
            <a:ext cx="2243826" cy="353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Statistical analysis, machine learning, experimentation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6162461" y="3212501"/>
            <a:ext cx="2243826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900"/>
              <a:buFont typeface="Inter"/>
              <a:buNone/>
            </a:pPr>
            <a:r>
              <a:rPr b="1" i="0" lang="en" sz="900" u="none" cap="none" strike="noStrike">
                <a:solidFill>
                  <a:srgbClr val="C27BA0"/>
                </a:solidFill>
                <a:latin typeface="Inter"/>
                <a:ea typeface="Inter"/>
                <a:cs typeface="Inter"/>
                <a:sym typeface="Inter"/>
              </a:rPr>
              <a:t>CORE SKILLS</a:t>
            </a:r>
            <a:endParaRPr b="1" i="0" sz="900" u="none" cap="none" strike="noStrike">
              <a:solidFill>
                <a:srgbClr val="C27B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6162461" y="3391561"/>
            <a:ext cx="2243826" cy="186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000"/>
              <a:buFont typeface="Inter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Python, statistics, ML, visualization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609591" y="4678691"/>
            <a:ext cx="1947108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8391348" y="4678691"/>
            <a:ext cx="181115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/>
          <p:nvPr/>
        </p:nvSpPr>
        <p:spPr>
          <a:xfrm>
            <a:off x="609601" y="2089800"/>
            <a:ext cx="7841700" cy="10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3600"/>
              <a:buFont typeface="Space Grotesk"/>
              <a:buNone/>
            </a:pPr>
            <a:r>
              <a:rPr b="1" lang="en" sz="36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Part 2 · Introduction to Python Fundamentals </a:t>
            </a:r>
            <a:endParaRPr b="0" i="0" sz="36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6" title="NYUTandon_LongLogo_Bl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74" y="96475"/>
            <a:ext cx="1826033" cy="28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527175" y="3320800"/>
            <a:ext cx="711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D3947"/>
                </a:solidFill>
                <a:latin typeface="Space Grotesk"/>
                <a:ea typeface="Space Grotesk"/>
                <a:cs typeface="Space Grotesk"/>
                <a:sym typeface="Space Grotesk"/>
              </a:rPr>
              <a:t>Today's dataset is you! 127 bootcamp applications.</a:t>
            </a:r>
            <a:endParaRPr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/>
          <p:nvPr/>
        </p:nvSpPr>
        <p:spPr>
          <a:xfrm>
            <a:off x="609591" y="1240991"/>
            <a:ext cx="81627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Who's in the room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611972" y="1824968"/>
            <a:ext cx="1862147" cy="1531748"/>
          </a:xfrm>
          <a:prstGeom prst="roundRect">
            <a:avLst>
              <a:gd fmla="val 6063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7"/>
          <p:cNvSpPr/>
          <p:nvPr/>
        </p:nvSpPr>
        <p:spPr>
          <a:xfrm>
            <a:off x="803067" y="2016063"/>
            <a:ext cx="1524355" cy="552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4200"/>
              <a:buFont typeface="Space Grotesk"/>
              <a:buNone/>
            </a:pPr>
            <a:r>
              <a:rPr b="1" i="0" lang="en" sz="42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127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803067" y="2625654"/>
            <a:ext cx="1524355" cy="379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applications to this cohort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2631244" y="1824968"/>
            <a:ext cx="1862193" cy="1531748"/>
          </a:xfrm>
          <a:prstGeom prst="roundRect">
            <a:avLst>
              <a:gd fmla="val 6063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2822339" y="2016063"/>
            <a:ext cx="1524403" cy="552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4200"/>
              <a:buFont typeface="Space Grotesk"/>
              <a:buNone/>
            </a:pPr>
            <a:r>
              <a:rPr b="1" i="0" lang="en" sz="42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54%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2822339" y="2625654"/>
            <a:ext cx="1524403" cy="379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call themselves beginners (68 of 127)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4650563" y="1824968"/>
            <a:ext cx="1862146" cy="1531748"/>
          </a:xfrm>
          <a:prstGeom prst="roundRect">
            <a:avLst>
              <a:gd fmla="val 6063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4841658" y="2016063"/>
            <a:ext cx="1524355" cy="552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4200"/>
              <a:buFont typeface="Space Grotesk"/>
              <a:buNone/>
            </a:pPr>
            <a:r>
              <a:rPr b="1" i="0" lang="en" sz="42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80%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4841658" y="2625654"/>
            <a:ext cx="1524355" cy="379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are master's students (101 of 127)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6669835" y="1824968"/>
            <a:ext cx="1862193" cy="1531748"/>
          </a:xfrm>
          <a:prstGeom prst="roundRect">
            <a:avLst>
              <a:gd fmla="val 6063" name="adj"/>
            </a:avLst>
          </a:prstGeom>
          <a:solidFill>
            <a:srgbClr val="FDFCFA"/>
          </a:solidFill>
          <a:ln cap="flat" cmpd="sng" w="9525">
            <a:solidFill>
              <a:srgbClr val="DDD8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6860930" y="2016063"/>
            <a:ext cx="1524403" cy="552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2D8C"/>
              </a:buClr>
              <a:buSzPts val="4200"/>
              <a:buFont typeface="Space Grotesk"/>
              <a:buNone/>
            </a:pPr>
            <a:r>
              <a:rPr b="1" i="0" lang="en" sz="42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72%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6860930" y="2625654"/>
            <a:ext cx="1524403" cy="559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1D1B24"/>
                </a:solidFill>
                <a:latin typeface="Inter"/>
                <a:ea typeface="Inter"/>
                <a:cs typeface="Inter"/>
                <a:sym typeface="Inter"/>
              </a:rPr>
              <a:t>already list Python as a language they know (92)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609591" y="4194860"/>
            <a:ext cx="8162564" cy="205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Most common major: </a:t>
            </a:r>
            <a:r>
              <a:rPr b="1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Computer Science</a:t>
            </a:r>
            <a:r>
              <a:rPr b="0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 (48) · Most common time budget: </a:t>
            </a:r>
            <a:r>
              <a:rPr b="1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5–7.5 hours a week</a:t>
            </a:r>
            <a:r>
              <a:rPr b="0" i="0" lang="en" sz="11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 (81)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611966" y="4400541"/>
            <a:ext cx="35304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Source: bootcamp application form, 127 anonymized responses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8392511" y="4678691"/>
            <a:ext cx="179952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27" title="NYUTandon_LongLogo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0" y="103550"/>
            <a:ext cx="2061450" cy="3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/>
          <p:nvPr/>
        </p:nvSpPr>
        <p:spPr>
          <a:xfrm>
            <a:off x="609591" y="609591"/>
            <a:ext cx="8162564" cy="363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500"/>
              <a:buFont typeface="Space Grotesk"/>
              <a:buNone/>
            </a:pPr>
            <a:r>
              <a:rPr b="1" i="0" lang="en" sz="2500" u="none" cap="none" strike="noStrike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Today's agenda  </a:t>
            </a:r>
            <a:r>
              <a:rPr b="1" lang="en" sz="1100">
                <a:solidFill>
                  <a:srgbClr val="1D1B24"/>
                </a:solidFill>
                <a:latin typeface="Space Grotesk"/>
                <a:ea typeface="Space Grotesk"/>
                <a:cs typeface="Space Grotesk"/>
                <a:sym typeface="Space Grotesk"/>
              </a:rPr>
              <a:t>Each part introduces one group of language features and uses it on the data</a:t>
            </a:r>
            <a:endParaRPr sz="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15"/>
              </a:lnSpc>
              <a:spcBef>
                <a:spcPts val="0"/>
              </a:spcBef>
              <a:spcAft>
                <a:spcPts val="0"/>
              </a:spcAft>
              <a:buClr>
                <a:srgbClr val="1D1B24"/>
              </a:buClr>
              <a:buSzPts val="2500"/>
              <a:buFont typeface="Space Grotesk"/>
              <a:buNone/>
            </a:pPr>
            <a:r>
              <a:t/>
            </a:r>
            <a:endParaRPr b="1" sz="2500">
              <a:solidFill>
                <a:srgbClr val="1D1B2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311" name="Google Shape;311;p28"/>
          <p:cNvGraphicFramePr/>
          <p:nvPr/>
        </p:nvGraphicFramePr>
        <p:xfrm>
          <a:off x="618521" y="11534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{95F72509-193F-410B-9049-097EF69C0B00}</a:tableStyleId>
              </a:tblPr>
              <a:tblGrid>
                <a:gridCol w="2638600"/>
                <a:gridCol w="2638600"/>
                <a:gridCol w="2638600"/>
              </a:tblGrid>
              <a:tr h="27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Part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concept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Question it answers</a:t>
                      </a:r>
                      <a:endParaRPr sz="8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7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Working in a notebook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do we run code?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Variables and primitive types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kind of data did the form collect?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Operators and expressions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How do we tell a late-night submission from an early-morning one?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Lists, tuples, dictionaries, sets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does a single application look like?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Conditionals and loops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When did people apply? Who skipped questions? What do we study?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String, list and dictionary methods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When did everyone submit? Which languages do we already know?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Functions and error handling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Can we build a small analytics toolkit? What excites applicants most?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2D8C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Scope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B24"/>
                        </a:buClr>
                        <a:buSzPts val="800"/>
                        <a:buFont typeface="Inter"/>
                        <a:buNone/>
                      </a:pPr>
                      <a:r>
                        <a:rPr lang="en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Where do variables live, and when do they disappear?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150" marB="57150" marR="76200" marL="7620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2" name="Google Shape;312;p28"/>
          <p:cNvSpPr/>
          <p:nvPr/>
        </p:nvSpPr>
        <p:spPr>
          <a:xfrm>
            <a:off x="8415766" y="4678691"/>
            <a:ext cx="156698" cy="17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9D3E4"/>
            </a:gs>
            <a:gs pos="100000">
              <a:srgbClr val="F7EAD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/>
          <p:nvPr/>
        </p:nvSpPr>
        <p:spPr>
          <a:xfrm>
            <a:off x="609591" y="609591"/>
            <a:ext cx="8162564" cy="3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2700"/>
              <a:buFont typeface="Space Grotesk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Before next week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29"/>
          <p:cNvCxnSpPr/>
          <p:nvPr/>
        </p:nvCxnSpPr>
        <p:spPr>
          <a:xfrm>
            <a:off x="609591" y="2145767"/>
            <a:ext cx="2540031" cy="0"/>
          </a:xfrm>
          <a:prstGeom prst="straightConnector1">
            <a:avLst/>
          </a:prstGeom>
          <a:noFill/>
          <a:ln cap="flat" cmpd="sng" w="25400">
            <a:solidFill>
              <a:srgbClr val="E8A9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29"/>
          <p:cNvSpPr/>
          <p:nvPr/>
        </p:nvSpPr>
        <p:spPr>
          <a:xfrm>
            <a:off x="609591" y="2306464"/>
            <a:ext cx="2616232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Take-home</a:t>
            </a:r>
            <a:endParaRPr b="0" i="0" sz="1500" u="none" cap="none" strike="noStrike">
              <a:solidFill>
                <a:srgbClr val="5A2D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609600" y="2611213"/>
            <a:ext cx="26163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The exercises at the end of today's notebook. Submit on Brightspace within one week, by 11:59 PM.</a:t>
            </a:r>
            <a:endParaRPr b="0" i="0" sz="11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29"/>
          <p:cNvCxnSpPr/>
          <p:nvPr/>
        </p:nvCxnSpPr>
        <p:spPr>
          <a:xfrm>
            <a:off x="3301985" y="2145767"/>
            <a:ext cx="2540031" cy="0"/>
          </a:xfrm>
          <a:prstGeom prst="straightConnector1">
            <a:avLst/>
          </a:prstGeom>
          <a:noFill/>
          <a:ln cap="flat" cmpd="sng" w="25400">
            <a:solidFill>
              <a:srgbClr val="E8A9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29"/>
          <p:cNvSpPr/>
          <p:nvPr/>
        </p:nvSpPr>
        <p:spPr>
          <a:xfrm>
            <a:off x="3301985" y="2306464"/>
            <a:ext cx="2616232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Feedback form</a:t>
            </a:r>
            <a:endParaRPr b="0" i="0" sz="1500" u="none" cap="none" strike="noStrike">
              <a:solidFill>
                <a:srgbClr val="5A2D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/>
          <p:nvPr/>
        </p:nvSpPr>
        <p:spPr>
          <a:xfrm>
            <a:off x="3301987" y="2611213"/>
            <a:ext cx="26163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Fill it out after today's session. It counts toward your credential.</a:t>
            </a:r>
            <a:endParaRPr b="0" i="0" sz="11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29"/>
          <p:cNvCxnSpPr/>
          <p:nvPr/>
        </p:nvCxnSpPr>
        <p:spPr>
          <a:xfrm>
            <a:off x="5994378" y="2145767"/>
            <a:ext cx="2540031" cy="0"/>
          </a:xfrm>
          <a:prstGeom prst="straightConnector1">
            <a:avLst/>
          </a:prstGeom>
          <a:noFill/>
          <a:ln cap="flat" cmpd="sng" w="25400">
            <a:solidFill>
              <a:srgbClr val="E8A9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29"/>
          <p:cNvSpPr/>
          <p:nvPr/>
        </p:nvSpPr>
        <p:spPr>
          <a:xfrm>
            <a:off x="5994378" y="2306464"/>
            <a:ext cx="2616232" cy="247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500"/>
              <a:buFont typeface="Space Grotesk"/>
              <a:buNone/>
            </a:pPr>
            <a:r>
              <a:rPr b="1" i="0" lang="en" sz="1500" u="none" cap="none" strike="noStrike">
                <a:solidFill>
                  <a:srgbClr val="5A2D8C"/>
                </a:solidFill>
                <a:latin typeface="Space Grotesk"/>
                <a:ea typeface="Space Grotesk"/>
                <a:cs typeface="Space Grotesk"/>
                <a:sym typeface="Space Grotesk"/>
              </a:rPr>
              <a:t>Week 2: NumPy &amp; Pandas</a:t>
            </a:r>
            <a:endParaRPr b="0" i="0" sz="1500" u="none" cap="none" strike="noStrike">
              <a:solidFill>
                <a:srgbClr val="5A2D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5994374" y="2611213"/>
            <a:ext cx="2616300" cy="1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D3E4"/>
              </a:buClr>
              <a:buSzPts val="1100"/>
              <a:buFont typeface="Inter"/>
              <a:buNone/>
            </a:pPr>
            <a:r>
              <a:rPr b="0" i="0" lang="en" sz="11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Everything we did today with loops and dictionaries, pandas does in a line or two.</a:t>
            </a:r>
            <a:endParaRPr b="0" i="0" sz="11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609591" y="4320574"/>
            <a:ext cx="8162564" cy="232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200"/>
              <a:buFont typeface="Inter"/>
              <a:buNone/>
            </a:pPr>
            <a:r>
              <a:rPr b="0" i="0" lang="en" sz="12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See you at the social: </a:t>
            </a:r>
            <a:r>
              <a:rPr b="1" i="0" lang="en" sz="12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Mon, Oct 5, 3–5 PM</a:t>
            </a:r>
            <a:r>
              <a:rPr b="0" i="0" lang="en" sz="1200" u="none" cap="none" strike="noStrike">
                <a:solidFill>
                  <a:srgbClr val="3D3947"/>
                </a:solidFill>
                <a:latin typeface="Inter"/>
                <a:ea typeface="Inter"/>
                <a:cs typeface="Inter"/>
                <a:sym typeface="Inter"/>
              </a:rPr>
              <a:t> · 2 MetroTech Center, Room 1054</a:t>
            </a:r>
            <a:endParaRPr b="0" i="0" sz="1200" u="none" cap="none" strike="noStrike">
              <a:solidFill>
                <a:srgbClr val="3D394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609591" y="4678691"/>
            <a:ext cx="19470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25D6E"/>
              </a:buClr>
              <a:buSzPts val="900"/>
              <a:buFont typeface="Inter"/>
              <a:buNone/>
            </a:pPr>
            <a:r>
              <a:rPr b="0" i="0" lang="en" sz="900" u="none" cap="none" strike="noStrike">
                <a:solidFill>
                  <a:srgbClr val="625D6E"/>
                </a:solidFill>
                <a:latin typeface="Inter"/>
                <a:ea typeface="Inter"/>
                <a:cs typeface="Inter"/>
                <a:sym typeface="Inter"/>
              </a:rPr>
              <a:t>Data Science Bootcamp · Fall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